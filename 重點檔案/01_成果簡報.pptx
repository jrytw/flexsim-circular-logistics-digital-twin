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jpeg" ContentType="image/jpeg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3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65a948e8c24ab0" /><Relationship Type="http://schemas.openxmlformats.org/officeDocument/2006/relationships/extended-properties" Target="/docProps/app.xml" Id="Rf68413d437794c94" /><Relationship Type="http://schemas.openxmlformats.org/officeDocument/2006/relationships/officeDocument" Target="/ppt/presentation.xml" Id="Rf4314f4906474708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81922336bfae47f2"/>
  </p:sldMasterIdLst>
  <p:notesMasterIdLst>
    <p:notesMasterId xmlns:r="http://schemas.openxmlformats.org/officeDocument/2006/relationships" r:id="Rbbeb863bf31d4ffb"/>
  </p:notesMasterIdLst>
  <p:sldIdLst>
    <p:sldId xmlns:r="http://schemas.openxmlformats.org/officeDocument/2006/relationships" id="256" r:id="R39b30d7673554fb0"/>
    <p:sldId xmlns:r="http://schemas.openxmlformats.org/officeDocument/2006/relationships" id="257" r:id="R65d449fd8110474b"/>
    <p:sldId xmlns:r="http://schemas.openxmlformats.org/officeDocument/2006/relationships" id="258" r:id="R2c24e6d2d03b4f72"/>
    <p:sldId xmlns:r="http://schemas.openxmlformats.org/officeDocument/2006/relationships" id="259" r:id="R9a5b4ab625e84dca"/>
    <p:sldId xmlns:r="http://schemas.openxmlformats.org/officeDocument/2006/relationships" id="260" r:id="R2d845fd5588c45c1"/>
    <p:sldId xmlns:r="http://schemas.openxmlformats.org/officeDocument/2006/relationships" id="261" r:id="R294c191c0ffc41f4"/>
    <p:sldId xmlns:r="http://schemas.openxmlformats.org/officeDocument/2006/relationships" id="262" r:id="Ra98335886c6f437a"/>
    <p:sldId xmlns:r="http://schemas.openxmlformats.org/officeDocument/2006/relationships" id="263" r:id="R628c12c193b04e84"/>
    <p:sldId xmlns:r="http://schemas.openxmlformats.org/officeDocument/2006/relationships" id="264" r:id="R56ba6732e25f4f39"/>
    <p:sldId xmlns:r="http://schemas.openxmlformats.org/officeDocument/2006/relationships" id="265" r:id="Rcf45832590e14010"/>
    <p:sldId xmlns:r="http://schemas.openxmlformats.org/officeDocument/2006/relationships" id="266" r:id="Rbc29604d5c194e9d"/>
    <p:sldId xmlns:r="http://schemas.openxmlformats.org/officeDocument/2006/relationships" id="267" r:id="R90ab647fb0e84a09"/>
    <p:sldId xmlns:r="http://schemas.openxmlformats.org/officeDocument/2006/relationships" id="268" r:id="Rc807a673ba0c4915"/>
    <p:sldId xmlns:r="http://schemas.openxmlformats.org/officeDocument/2006/relationships" id="269" r:id="Ra22468954b6d4b74"/>
    <p:sldId xmlns:r="http://schemas.openxmlformats.org/officeDocument/2006/relationships" id="270" r:id="Rd20ef3684ee747c5"/>
  </p:sldIdLst>
  <p:sldSz cx="18288000" cy="10287000"/>
  <p:notesSz cx="6858000" cy="9144000"/>
  <p:embeddedFontLst>
    <p:embeddedFont>
      <p:font typeface="Garet Bold"/>
      <p:regular xmlns:r="http://schemas.openxmlformats.org/officeDocument/2006/relationships" r:id="Reb313f523b4b4faf"/>
    </p:embeddedFont>
    <p:embeddedFont>
      <p:font typeface="Garet"/>
      <p:regular xmlns:r="http://schemas.openxmlformats.org/officeDocument/2006/relationships" r:id="R2015ec024c674691"/>
    </p:embeddedFont>
    <p:embeddedFont>
      <p:font typeface="Poppins"/>
      <p:regular xmlns:r="http://schemas.openxmlformats.org/officeDocument/2006/relationships" r:id="Rc6bbcb77d0b245aa"/>
    </p:embeddedFont>
  </p:embeddedFontLst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e6e3dd392b749b9" /><Relationship Type="http://schemas.openxmlformats.org/officeDocument/2006/relationships/slideMaster" Target="/ppt/slideMasters/slideMaster1.xml" Id="R81922336bfae47f2" /><Relationship Type="http://schemas.openxmlformats.org/officeDocument/2006/relationships/notesMaster" Target="/ppt/notesMasters/notesMaster1.xml" Id="Rbbeb863bf31d4ffb" /><Relationship Type="http://schemas.openxmlformats.org/officeDocument/2006/relationships/presProps" Target="/ppt/presProps.xml" Id="Ra18990851171425b" /><Relationship Type="http://schemas.openxmlformats.org/officeDocument/2006/relationships/viewProps" Target="/ppt/viewProps.xml" Id="R17121eb4311244fb" /><Relationship Type="http://schemas.openxmlformats.org/officeDocument/2006/relationships/tableStyles" Target="/ppt/tableStyles.xml" Id="Rf7268f2dcb894cbc" /><Relationship Type="http://schemas.openxmlformats.org/officeDocument/2006/relationships/font" Target="/ppt/fonts/font.dat" Id="Reb313f523b4b4faf" /><Relationship Type="http://schemas.openxmlformats.org/officeDocument/2006/relationships/font" Target="/ppt/fonts/font2.dat" Id="R2015ec024c674691" /><Relationship Type="http://schemas.openxmlformats.org/officeDocument/2006/relationships/font" Target="/ppt/fonts/font3.dat" Id="Rc6bbcb77d0b245aa" /><Relationship Type="http://schemas.openxmlformats.org/officeDocument/2006/relationships/slide" Target="/ppt/slides/slide1.xml" Id="R39b30d7673554fb0" /><Relationship Type="http://schemas.openxmlformats.org/officeDocument/2006/relationships/slide" Target="/ppt/slides/slide2.xml" Id="R65d449fd8110474b" /><Relationship Type="http://schemas.openxmlformats.org/officeDocument/2006/relationships/slide" Target="/ppt/slides/slide3.xml" Id="R2c24e6d2d03b4f72" /><Relationship Type="http://schemas.openxmlformats.org/officeDocument/2006/relationships/slide" Target="/ppt/slides/slide4.xml" Id="R9a5b4ab625e84dca" /><Relationship Type="http://schemas.openxmlformats.org/officeDocument/2006/relationships/slide" Target="/ppt/slides/slide5.xml" Id="R2d845fd5588c45c1" /><Relationship Type="http://schemas.openxmlformats.org/officeDocument/2006/relationships/slide" Target="/ppt/slides/slide6.xml" Id="R294c191c0ffc41f4" /><Relationship Type="http://schemas.openxmlformats.org/officeDocument/2006/relationships/slide" Target="/ppt/slides/slide7.xml" Id="Ra98335886c6f437a" /><Relationship Type="http://schemas.openxmlformats.org/officeDocument/2006/relationships/slide" Target="/ppt/slides/slide8.xml" Id="R628c12c193b04e84" /><Relationship Type="http://schemas.openxmlformats.org/officeDocument/2006/relationships/slide" Target="/ppt/slides/slide9.xml" Id="R56ba6732e25f4f39" /><Relationship Type="http://schemas.openxmlformats.org/officeDocument/2006/relationships/slide" Target="/ppt/slides/slide10.xml" Id="Rcf45832590e14010" /><Relationship Type="http://schemas.openxmlformats.org/officeDocument/2006/relationships/slide" Target="/ppt/slides/slide11.xml" Id="Rbc29604d5c194e9d" /><Relationship Type="http://schemas.openxmlformats.org/officeDocument/2006/relationships/slide" Target="/ppt/slides/slide12.xml" Id="R90ab647fb0e84a09" /><Relationship Type="http://schemas.openxmlformats.org/officeDocument/2006/relationships/slide" Target="/ppt/slides/slide13.xml" Id="Rc807a673ba0c4915" /><Relationship Type="http://schemas.openxmlformats.org/officeDocument/2006/relationships/slide" Target="/ppt/slides/slide14.xml" Id="Ra22468954b6d4b74" /><Relationship Type="http://schemas.openxmlformats.org/officeDocument/2006/relationships/slide" Target="/ppt/slides/slide15.xml" Id="Rd20ef3684ee747c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9e60bad0e4472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a20fcc48a6e444d" /><Relationship Type="http://schemas.openxmlformats.org/officeDocument/2006/relationships/notesMaster" Target="/ppt/notesMasters/notesMaster1.xml" Id="R9044f4c823b2430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1118518d5454493" /><Relationship Type="http://schemas.openxmlformats.org/officeDocument/2006/relationships/notesMaster" Target="/ppt/notesMasters/notesMaster1.xml" Id="Rad100bd1ee6541e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105503862c14d20" /><Relationship Type="http://schemas.openxmlformats.org/officeDocument/2006/relationships/notesMaster" Target="/ppt/notesMasters/notesMaster1.xml" Id="R7fd41c56bf5d4e5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8ffe6fc549041af" /><Relationship Type="http://schemas.openxmlformats.org/officeDocument/2006/relationships/notesMaster" Target="/ppt/notesMasters/notesMaster1.xml" Id="R29eef4fcd4b9428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730a37c21924992" /><Relationship Type="http://schemas.openxmlformats.org/officeDocument/2006/relationships/notesMaster" Target="/ppt/notesMasters/notesMaster1.xml" Id="R13c443d483284ef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7cb108989414822" /><Relationship Type="http://schemas.openxmlformats.org/officeDocument/2006/relationships/notesMaster" Target="/ppt/notesMasters/notesMaster1.xml" Id="R124bb2e6c55e47e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979a3c1463b44ab" /><Relationship Type="http://schemas.openxmlformats.org/officeDocument/2006/relationships/notesMaster" Target="/ppt/notesMasters/notesMaster1.xml" Id="Rc71c8b9e154b4e2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381d983da184cd8" /><Relationship Type="http://schemas.openxmlformats.org/officeDocument/2006/relationships/notesMaster" Target="/ppt/notesMasters/notesMaster1.xml" Id="Rd51c98e555444d6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7d65c6fb274490c" /><Relationship Type="http://schemas.openxmlformats.org/officeDocument/2006/relationships/notesMaster" Target="/ppt/notesMasters/notesMaster1.xml" Id="Ra276db742d62416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fee8152bda949b7" /><Relationship Type="http://schemas.openxmlformats.org/officeDocument/2006/relationships/notesMaster" Target="/ppt/notesMasters/notesMaster1.xml" Id="R5bec21ac37d54d6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a163684f32a46f1" /><Relationship Type="http://schemas.openxmlformats.org/officeDocument/2006/relationships/notesMaster" Target="/ppt/notesMasters/notesMaster1.xml" Id="Rc7c1e2099b9043c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7fda67c61dc45d8" /><Relationship Type="http://schemas.openxmlformats.org/officeDocument/2006/relationships/notesMaster" Target="/ppt/notesMasters/notesMaster1.xml" Id="R02ac5d65a75b439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5f241765a464fc8" /><Relationship Type="http://schemas.openxmlformats.org/officeDocument/2006/relationships/notesMaster" Target="/ppt/notesMasters/notesMaster1.xml" Id="Rf167e975a8e64d3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68ed7f3994b4321" /><Relationship Type="http://schemas.openxmlformats.org/officeDocument/2006/relationships/notesMaster" Target="/ppt/notesMasters/notesMaster1.xml" Id="R5676823d3f72479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3101e9ffd044571" /><Relationship Type="http://schemas.openxmlformats.org/officeDocument/2006/relationships/notesMaster" Target="/ppt/notesMasters/notesMaster1.xml" Id="Ra687be1b42274e1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責任分工建議：商業與假設、建模與調度、驗證與統計、財務與展示。未提供姓名，因此未虛構組員。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所有方案使用同一模型的原生實驗比較。聯合改善（P4）含緩衝、人員支援與觸發式外包，效果不能全部歸因於人員。短波尖峰情境（S1）每天三波、每波20分鐘；不是整週需求都增加3.5倍。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例如0.711 [0.565,0.856] %：平均阻塞占比0.711%，平均估計的95%信賴區間是0.565%到0.856%，不是所有單次運行必在區間內。主推方案另要求信賴上界低於1%；8公尺方案只有平均值符合。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流程圖為可編輯架構。原生Process Flow CustomCode已實際接收並完成ESG更新及品質檢查支援事件Token。完整DFD見01_SA；外部未入庫需求與倉內500箱資產分帳，實體箱池由入庫閘控限制。B級雙站各120秒，兩站各需作業員。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畫面為v8真實幾何模型。3,600張原生影格、逐格時間紀錄及五分鐘WebM備援另附。模型包含即時埠轉移，各長度轉接點已同步；清洗及檢驗設備外形採明示的2公尺×2公尺假設。這是課程輸入下的原生模型，尚無實倉CAD與現地運輸校準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證據：DispatchLog、AStarNavigator members與Operator移動。單行以原生TravelPatterns限制方向；200段往返到站距離為工作站邊緣0.5公尺。待命人員採官方讓位假設，互斥檢查針對活動行走者。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短波尖峰情境（S1）/維持現況（P0）無外包，按每次能耗/退貨量計算再取平均，0.184875145度電/件。1−E×0.495/0.35=73.853%。同口徑若剛好42%，E約0.410101度電/件；差異來自給定係數、能耗與基準。聯合改善（P4） 12公尺的完整減碳信賴區間[73.966,74.023]%，下界亦大於42%；包含平均84.7箱外包及相應排放，不能只套電力公式。0.35與0.495為課程係數，未涵蓋完整箱製造與逆物流LCA。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V3依批次前固定計畫，使用30次平均在製量時間剖面的迴歸，並完整保留個別重複的絕對漂移。平日基準情境（S0） pooled漂移−0.20755%，短波尖峰情境（S1） 改善前為9.84335%，聯合改善（P4） 12公尺為1.86592%。V5包含12項主要作業與財務績效指標；原始30次的精度不足仍是正式發現。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獨立飽和測試：無故障119.994箱／小時；故障均值115.156箱／小時，信賴區間涵蓋115.2。主模型V7另以每次實現停機時間對標，不能把每次可用率固定成96%。V8個別重複最大偏差2.46百分點，未隱藏。五倍測試7日期末外部待入庫需求34185，實體箱資產最大71，未超過500；縮小5箱池的停機恢復測試則實際觸發了硬上限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短波尖峰情境（S1）、各30次。聯合改善（P4） 8公尺平均外包110.8箱，12m84.7箱，現有實驗不是支援/外包的獨立消融。聯合改善（P4） 8公尺阻塞0.951% [0.783,1.118]；12m0.711% [0.565,0.856]。品質檢查單人40秒能力90/h，低於清洗期望115.2/h，單加第二台清洗增設第二台清洗機（P1）仍阻塞3.944%。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每次動態佈局都同步入口、出口及斜帶實際距離。早期未同步出口的測試被守恆檢查攔下並作廢；本頁僅使用重新凍結後的protocol9正式資料。Source外部需求與實體箱池分帳，500箱入庫閘控經縮小池停機測試驗證。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兩種選法明確區分，沒有暗中修改課程門檻。兩者超24小時均為0；12公尺在270件／小時尖峰敏感度亦檢查。結案下界把期末退貨商品在製量全部視為觀察期未完成，不能解讀成100%精確履約。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成本含箱攤提、剩餘帳面價值沖銷、清洗耗材、電力、外包與檢查前等待損失。365日年化以6日觀察推估，另列250日敏感度；不是實際年度帳務。12公尺五年8%NPV為-323,376元。若必須改善SLA，聯合改善（P4）比增設第二台清洗機（P1）少投資且營運成本較低，但與維持維持現況（P0）相比，直接財務效益不足以支持回收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頁左側為可編輯數值熱圖，原生狀態時間讀回，非連續空間熱力圖。兩種指標採不同色階，不可跨尺度以顏色比較；加工和阻塞也不相加視為全部狀態。原3D紅色來自加工≥90%或阻塞≥1%的累計門檻，非當下狀態。Dashboard仍為40文字卡加兩圖，本次沒有改寫原生視窗介面。影片330.752秒為3600張原生3D影格，非全桌面錄影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完整交付依課程輸入完成原生模擬、實驗及驗證判讀。原始30次V5仍未達精度門檻，600次補充已達；65%包材節約及100%通過不得宣稱達成。實倉CAD、訂單、故障與行走紀錄是部署前校準條件。課程ESG按需求到達計算，在大量未完成需求的極端情境會高估效益，因此另附以已履約箱數計算的稽核口徑，不能以節流／不履約美化減碳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5e75c5ee9c462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ef3432ca29404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5036b8a3d34d9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44c66be68d420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ac4731e3c346a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7b26cfeb33493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595f1e82c4469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382a94206046d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d15e357a8747e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91a4d439f147f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ba7367a9fc4c8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5611A03-6432-4CF4-A33D-3C8C01767B5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2320E25-4023-4028-934B-4090F3B433C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20FCB2A-051C-4AAF-A364-579AAC4A5F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5E7525D-9480-4064-90EF-34016703EE3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1550E44-7BBA-4740-B054-0668BF9005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81FDFEA-1D76-4898-BAB4-12AC97B366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4AC1F04-3542-473D-88D8-6E439CDADBE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8422028-17D8-4B9C-BB4A-CECA86C04FF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62C013A-ADD2-42B6-B32F-5EF2A6B531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2B04C45-F606-48C3-A1EA-56D626C62EE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5B09E22-298E-49E6-B662-2A98577393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DD508BF-1086-464A-9133-408A4849E22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DF35C86-CBED-462D-BDCE-B900B54746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534D2D2-F0B8-4444-A445-5D935331D9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97AF52B-1CDE-4EFB-9505-798E5E0E2FD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4F35E30-4A82-4002-8AE9-C310537CEC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E877585-40E9-4D94-B2FE-1127F2B812D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45EF75E-9F3B-4178-80B0-6E972C3A6B4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C9898E4-C359-4CBB-A478-E67106D4C1A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F0E325F-2FFC-492E-92ED-4E70130CFF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377E1FE-094B-458C-AD19-103F049E57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74EB2D8-F5AC-4C0D-A3DB-EB4A4D6682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A7634D2-C4B2-4742-A5D2-B9856DFFF4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AE24FA5-EE45-4082-89C0-BE628BDC05E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188824F-3C9A-46EC-B442-DA32174BF83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D12DEC92-54F2-4379-9E1E-AAB3EE7E260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5784E6C-47DA-4925-AF79-1AB9C2EC04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4FD361F-CBD9-492C-9874-DACC618732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D8D8422-71EA-4318-B2B5-E41A6D5D8F7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CC1A17-E5F3-4F53-BEA1-18A43D73C3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47C4C53B-2B1D-45F2-86C5-7A00624FBCD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866B801-A57C-4E46-BA2A-C44900AF1A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5A0670E0-0F2D-4F59-A9F0-82CFBBEAF1A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1B72F6A2-DC5E-4870-8D5A-A5ACF666A0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1389574-CD78-4995-8DA5-1A16CDCED9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7EB52AF-E945-40CA-BC97-1C1AED0BFB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FCEADD-D66E-423D-9B91-4174C6E9F3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8493421-6C60-454B-B75B-3675109556A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621BF76-3C79-4EB9-8549-7758CF59B17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729EEB0-FB44-4209-ADBC-A7E868AD45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62D16D3-5020-43FA-ABAA-74DC1011A52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74CC201-E333-4AC8-B32F-71C89A17C7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68D38A-7864-46FF-848C-476B658062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1A0EA41-341C-4CC6-BCF9-92324802193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77424CC-BF97-42BB-A30B-C26A11D36C2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D61D148-47A8-4CA1-9C30-1924B3BFA78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DC443DF-E923-45EB-9755-84F35DF9122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6C9115D-B885-4405-8385-FFDAA6B0EC9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F13565-6321-4A6C-A12B-DABBBBD658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40B18B2-998D-4938-88F3-78980833ADE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311B3BE-DBE5-4775-B968-C1708A06831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416F8C2-9EA5-4F3E-B7A2-1FCC58062CD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DDD1C29-A33F-4682-9E40-11FE8A070A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AA443A5A-84E5-4692-815D-514F943EE2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696EA01-DAA3-492B-BD20-01C42ACA92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39AEBBC-34CD-44C7-9FD3-E6E5B74509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A124AE0-9AB9-4CFC-86FA-F426A031C3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1F4B61A-5B2A-4DC0-A0B3-592B1B599F5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9838edb641c4ad6" /><Relationship Type="http://schemas.openxmlformats.org/officeDocument/2006/relationships/slideLayout" Target="/ppt/slideLayouts/slideLayout1.xml" Id="Rf160aadebd8b48c9" /><Relationship Type="http://schemas.openxmlformats.org/officeDocument/2006/relationships/slideLayout" Target="/ppt/slideLayouts/slideLayout2.xml" Id="R5306861126404cc4" /><Relationship Type="http://schemas.openxmlformats.org/officeDocument/2006/relationships/slideLayout" Target="/ppt/slideLayouts/slideLayout3.xml" Id="R4ddcdede915846dd" /><Relationship Type="http://schemas.openxmlformats.org/officeDocument/2006/relationships/slideLayout" Target="/ppt/slideLayouts/slideLayout4.xml" Id="Re06c5e2f4e504e5a" /><Relationship Type="http://schemas.openxmlformats.org/officeDocument/2006/relationships/slideLayout" Target="/ppt/slideLayouts/slideLayout5.xml" Id="R86184ba5b04f4d76" /><Relationship Type="http://schemas.openxmlformats.org/officeDocument/2006/relationships/slideLayout" Target="/ppt/slideLayouts/slideLayout6.xml" Id="R0f778510db694e91" /><Relationship Type="http://schemas.openxmlformats.org/officeDocument/2006/relationships/slideLayout" Target="/ppt/slideLayouts/slideLayout7.xml" Id="R6e3136ccfd424d95" /><Relationship Type="http://schemas.openxmlformats.org/officeDocument/2006/relationships/slideLayout" Target="/ppt/slideLayouts/slideLayout8.xml" Id="R76c5bc4d3cc64a91" /><Relationship Type="http://schemas.openxmlformats.org/officeDocument/2006/relationships/slideLayout" Target="/ppt/slideLayouts/slideLayout9.xml" Id="R7954eaaa1f124c7e" /><Relationship Type="http://schemas.openxmlformats.org/officeDocument/2006/relationships/slideLayout" Target="/ppt/slideLayouts/slideLayout10.xml" Id="R7075f032f0c148eb" /><Relationship Type="http://schemas.openxmlformats.org/officeDocument/2006/relationships/slideLayout" Target="/ppt/slideLayouts/slideLayout11.xml" Id="R5c62bf705a0c49f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CC52AA2-CC93-4590-AFFF-97D99B6E16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BD14768-B128-4B7C-A25C-64A80544369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D28B17-D846-489C-8282-1D2FF8AFA28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809E257-664E-42B0-81FA-56248D5905B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952303B-2948-4EB5-9A99-8E46DAE6904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160aadebd8b48c9"/>
    <p:sldLayoutId xmlns:r="http://schemas.openxmlformats.org/officeDocument/2006/relationships" id="2147483650" r:id="R5306861126404cc4"/>
    <p:sldLayoutId xmlns:r="http://schemas.openxmlformats.org/officeDocument/2006/relationships" id="2147483651" r:id="R4ddcdede915846dd"/>
    <p:sldLayoutId xmlns:r="http://schemas.openxmlformats.org/officeDocument/2006/relationships" id="2147483652" r:id="Re06c5e2f4e504e5a"/>
    <p:sldLayoutId xmlns:r="http://schemas.openxmlformats.org/officeDocument/2006/relationships" id="2147483653" r:id="R86184ba5b04f4d76"/>
    <p:sldLayoutId xmlns:r="http://schemas.openxmlformats.org/officeDocument/2006/relationships" id="2147483654" r:id="R0f778510db694e91"/>
    <p:sldLayoutId xmlns:r="http://schemas.openxmlformats.org/officeDocument/2006/relationships" id="2147483655" r:id="R6e3136ccfd424d95"/>
    <p:sldLayoutId xmlns:r="http://schemas.openxmlformats.org/officeDocument/2006/relationships" id="2147483656" r:id="R76c5bc4d3cc64a91"/>
    <p:sldLayoutId xmlns:r="http://schemas.openxmlformats.org/officeDocument/2006/relationships" id="2147483657" r:id="R7954eaaa1f124c7e"/>
    <p:sldLayoutId xmlns:r="http://schemas.openxmlformats.org/officeDocument/2006/relationships" id="2147483658" r:id="R7075f032f0c148eb"/>
    <p:sldLayoutId xmlns:r="http://schemas.openxmlformats.org/officeDocument/2006/relationships" id="2147483659" r:id="R5c62bf705a0c49f4"/>
  </p:sldLayoutIdLst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a93c626c27b443d" /><Relationship Type="http://schemas.openxmlformats.org/officeDocument/2006/relationships/image" Target="/ppt/media/image.jpeg" Id="R115375dfa9c24c5b" /><Relationship Type="http://schemas.openxmlformats.org/officeDocument/2006/relationships/image" Target="/ppt/media/image.png" Id="Re21162ad9ccb413a" /><Relationship Type="http://schemas.openxmlformats.org/officeDocument/2006/relationships/image" Target="/ppt/media/image.svg" Id="R45457e3aed4247ff" /><Relationship Type="http://schemas.openxmlformats.org/officeDocument/2006/relationships/image" Target="/ppt/media/image2.png" Id="R11cce451b26244a4" /><Relationship Type="http://schemas.openxmlformats.org/officeDocument/2006/relationships/image" Target="/ppt/media/image3.png" Id="R377477db3ba54649" /><Relationship Type="http://schemas.openxmlformats.org/officeDocument/2006/relationships/notesSlide" Target="/ppt/notesSlides/notesSlide1.xml" Id="R82f742f5ed8d47d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7fd74f1f9484b09" /><Relationship Type="http://schemas.openxmlformats.org/officeDocument/2006/relationships/image" Target="/ppt/media/image.jpeg" Id="R03fd43b154bd49f0" /><Relationship Type="http://schemas.openxmlformats.org/officeDocument/2006/relationships/image" Target="/ppt/media/image.png" Id="Ra5f83fbc15ce4a89" /><Relationship Type="http://schemas.openxmlformats.org/officeDocument/2006/relationships/image" Target="/ppt/media/image.svg" Id="Re04de250419b4a27" /><Relationship Type="http://schemas.openxmlformats.org/officeDocument/2006/relationships/image" Target="/ppt/media/image4.png" Id="R57661d670b774e6a" /><Relationship Type="http://schemas.openxmlformats.org/officeDocument/2006/relationships/notesSlide" Target="/ppt/notesSlides/notesSlide2.xml" Id="Rff07f4fb376444c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4a1e46e455f41c6" /><Relationship Type="http://schemas.openxmlformats.org/officeDocument/2006/relationships/image" Target="/ppt/media/image.jpeg" Id="Ra61bf1f7bcce4054" /><Relationship Type="http://schemas.openxmlformats.org/officeDocument/2006/relationships/image" Target="/ppt/media/image.png" Id="Rd18d9229f6414c4b" /><Relationship Type="http://schemas.openxmlformats.org/officeDocument/2006/relationships/image" Target="/ppt/media/image.svg" Id="Rb695a796b954485f" /><Relationship Type="http://schemas.openxmlformats.org/officeDocument/2006/relationships/image" Target="/ppt/media/image4.png" Id="Rb5defca6221a4e15" /><Relationship Type="http://schemas.openxmlformats.org/officeDocument/2006/relationships/notesSlide" Target="/ppt/notesSlides/notesSlide3.xml" Id="R8c4572a0b755419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16672229b5f41ef" /><Relationship Type="http://schemas.openxmlformats.org/officeDocument/2006/relationships/image" Target="/ppt/media/image.jpeg" Id="R08e5b485363c4696" /><Relationship Type="http://schemas.openxmlformats.org/officeDocument/2006/relationships/image" Target="/ppt/media/image4.png" Id="R2b68495f806142d7" /><Relationship Type="http://schemas.openxmlformats.org/officeDocument/2006/relationships/image" Target="/ppt/media/image.png" Id="R8e3f5ed1065345f2" /><Relationship Type="http://schemas.openxmlformats.org/officeDocument/2006/relationships/image" Target="/ppt/media/image.svg" Id="R6a7c1a27b83d4dd3" /><Relationship Type="http://schemas.openxmlformats.org/officeDocument/2006/relationships/image" Target="/ppt/media/image5.png" Id="R698ceadd78ed45c3" /><Relationship Type="http://schemas.openxmlformats.org/officeDocument/2006/relationships/notesSlide" Target="/ppt/notesSlides/notesSlide4.xml" Id="R3f9dd02089a442e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1aaaabc4cd144ba" /><Relationship Type="http://schemas.openxmlformats.org/officeDocument/2006/relationships/image" Target="/ppt/media/image.jpeg" Id="R8102c6ea40584920" /><Relationship Type="http://schemas.openxmlformats.org/officeDocument/2006/relationships/image" Target="/ppt/media/image4.png" Id="Rfb61269ab61d4075" /><Relationship Type="http://schemas.openxmlformats.org/officeDocument/2006/relationships/image" Target="/ppt/media/image.png" Id="R713b25976bfb44f2" /><Relationship Type="http://schemas.openxmlformats.org/officeDocument/2006/relationships/image" Target="/ppt/media/image.svg" Id="R3fda6af6a7404ab0" /><Relationship Type="http://schemas.openxmlformats.org/officeDocument/2006/relationships/image" Target="/ppt/media/image6.png" Id="R7df5e654fb2e496d" /><Relationship Type="http://schemas.openxmlformats.org/officeDocument/2006/relationships/notesSlide" Target="/ppt/notesSlides/notesSlide5.xml" Id="R86caaa55dd3145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614213e89674c5a" /><Relationship Type="http://schemas.openxmlformats.org/officeDocument/2006/relationships/image" Target="/ppt/media/image.jpeg" Id="R34bbabaa496a4c31" /><Relationship Type="http://schemas.openxmlformats.org/officeDocument/2006/relationships/image" Target="/ppt/media/image4.png" Id="R4d422bed1d7846dd" /><Relationship Type="http://schemas.openxmlformats.org/officeDocument/2006/relationships/image" Target="/ppt/media/image.png" Id="R6eb7065a21894392" /><Relationship Type="http://schemas.openxmlformats.org/officeDocument/2006/relationships/image" Target="/ppt/media/image.svg" Id="R15e26f9bf8b64dd8" /><Relationship Type="http://schemas.openxmlformats.org/officeDocument/2006/relationships/notesSlide" Target="/ppt/notesSlides/notesSlide6.xml" Id="Re4a30a1f96f14a9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9903fbeca3d4952" /><Relationship Type="http://schemas.openxmlformats.org/officeDocument/2006/relationships/image" Target="/ppt/media/image.jpeg" Id="R4b51157794d64a30" /><Relationship Type="http://schemas.openxmlformats.org/officeDocument/2006/relationships/image" Target="/ppt/media/image4.png" Id="R8301b25f3cc14a0c" /><Relationship Type="http://schemas.openxmlformats.org/officeDocument/2006/relationships/image" Target="/ppt/media/image.png" Id="R0ec0a4b66ae64f17" /><Relationship Type="http://schemas.openxmlformats.org/officeDocument/2006/relationships/image" Target="/ppt/media/image.svg" Id="Rf4389e4d7a114a54" /><Relationship Type="http://schemas.openxmlformats.org/officeDocument/2006/relationships/notesSlide" Target="/ppt/notesSlides/notesSlide7.xml" Id="R8d85d68e8f6b467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dd6dcd3c83d48dc" /><Relationship Type="http://schemas.openxmlformats.org/officeDocument/2006/relationships/image" Target="/ppt/media/image.jpeg" Id="R5506bb103bb04799" /><Relationship Type="http://schemas.openxmlformats.org/officeDocument/2006/relationships/image" Target="/ppt/media/image4.png" Id="R6760dcf447d449cd" /><Relationship Type="http://schemas.openxmlformats.org/officeDocument/2006/relationships/image" Target="/ppt/media/image.png" Id="Rd80f9fc243c14116" /><Relationship Type="http://schemas.openxmlformats.org/officeDocument/2006/relationships/image" Target="/ppt/media/image.svg" Id="Rfdc05d7a88944ace" /><Relationship Type="http://schemas.openxmlformats.org/officeDocument/2006/relationships/notesSlide" Target="/ppt/notesSlides/notesSlide8.xml" Id="Rbaae5d6c7a87432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2a7a43a59cb4a6e" /><Relationship Type="http://schemas.openxmlformats.org/officeDocument/2006/relationships/image" Target="/ppt/media/image.jpeg" Id="Red7a344e41314736" /><Relationship Type="http://schemas.openxmlformats.org/officeDocument/2006/relationships/image" Target="/ppt/media/image4.png" Id="Rb56a6fafb1ac45b8" /><Relationship Type="http://schemas.openxmlformats.org/officeDocument/2006/relationships/image" Target="/ppt/media/image.png" Id="Rc71ce6855213436f" /><Relationship Type="http://schemas.openxmlformats.org/officeDocument/2006/relationships/image" Target="/ppt/media/image.svg" Id="R207c0be9f82e4d56" /><Relationship Type="http://schemas.openxmlformats.org/officeDocument/2006/relationships/notesSlide" Target="/ppt/notesSlides/notesSlide9.xml" Id="Re91dcbd4375e443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0316333955e4d7d" /><Relationship Type="http://schemas.openxmlformats.org/officeDocument/2006/relationships/image" Target="/ppt/media/image.jpeg" Id="R359b0fb1d56f4ae8" /><Relationship Type="http://schemas.openxmlformats.org/officeDocument/2006/relationships/image" Target="/ppt/media/image4.png" Id="Rad4278638f994fac" /><Relationship Type="http://schemas.openxmlformats.org/officeDocument/2006/relationships/image" Target="/ppt/media/image.png" Id="R558b3305dc4f445f" /><Relationship Type="http://schemas.openxmlformats.org/officeDocument/2006/relationships/image" Target="/ppt/media/image.svg" Id="R1cba6b6b071d4ae0" /><Relationship Type="http://schemas.openxmlformats.org/officeDocument/2006/relationships/chart" Target="/ppt/slides/charts/chart1.xml" Id="R3b4652f0c67847fd" /><Relationship Type="http://schemas.openxmlformats.org/officeDocument/2006/relationships/chart" Target="/ppt/slides/charts/chart2.xml" Id="R157ea65d73cb44ea" /><Relationship Type="http://schemas.openxmlformats.org/officeDocument/2006/relationships/notesSlide" Target="/ppt/notesSlides/notesSlide10.xml" Id="Re39bbf5f4afa462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f3b5f808e644c01" /><Relationship Type="http://schemas.openxmlformats.org/officeDocument/2006/relationships/image" Target="/ppt/media/image.jpeg" Id="R51e4930a0ae54fc7" /><Relationship Type="http://schemas.openxmlformats.org/officeDocument/2006/relationships/image" Target="/ppt/media/image4.png" Id="R752cb0d77f33468b" /><Relationship Type="http://schemas.openxmlformats.org/officeDocument/2006/relationships/image" Target="/ppt/media/image.png" Id="R8bdf5283835944bc" /><Relationship Type="http://schemas.openxmlformats.org/officeDocument/2006/relationships/image" Target="/ppt/media/image.svg" Id="R10e4827af7f24897" /><Relationship Type="http://schemas.openxmlformats.org/officeDocument/2006/relationships/chart" Target="/ppt/slides/charts/chart3.xml" Id="R47b70b3d5f474e26" /><Relationship Type="http://schemas.openxmlformats.org/officeDocument/2006/relationships/notesSlide" Target="/ppt/notesSlides/notesSlide11.xml" Id="Rcc98adface1e4d8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c3433910a954612" /><Relationship Type="http://schemas.openxmlformats.org/officeDocument/2006/relationships/image" Target="/ppt/media/image.jpeg" Id="R1720538b893d4c4d" /><Relationship Type="http://schemas.openxmlformats.org/officeDocument/2006/relationships/image" Target="/ppt/media/image4.png" Id="Rdb4389401a784ae9" /><Relationship Type="http://schemas.openxmlformats.org/officeDocument/2006/relationships/notesSlide" Target="/ppt/notesSlides/notesSlide12.xml" Id="R8d7894955d474c2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f75507bbe2848e0" /><Relationship Type="http://schemas.openxmlformats.org/officeDocument/2006/relationships/image" Target="/ppt/media/image.jpeg" Id="R2cd8c87b54d94920" /><Relationship Type="http://schemas.openxmlformats.org/officeDocument/2006/relationships/image" Target="/ppt/media/image4.png" Id="R0aed0ec5a49b4f1f" /><Relationship Type="http://schemas.openxmlformats.org/officeDocument/2006/relationships/notesSlide" Target="/ppt/notesSlides/notesSlide13.xml" Id="Rae338e6504df48b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add32926ff24b95" /><Relationship Type="http://schemas.openxmlformats.org/officeDocument/2006/relationships/image" Target="/ppt/media/image.jpeg" Id="R2f9474f771fc4cc2" /><Relationship Type="http://schemas.openxmlformats.org/officeDocument/2006/relationships/image" Target="/ppt/media/image4.png" Id="Re8827a7bdd5c4962" /><Relationship Type="http://schemas.openxmlformats.org/officeDocument/2006/relationships/image" Target="/ppt/media/image7.png" Id="Rd82029037ac44ae3" /><Relationship Type="http://schemas.openxmlformats.org/officeDocument/2006/relationships/notesSlide" Target="/ppt/notesSlides/notesSlide14.xml" Id="R00825fcb48be41f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017af510db54095" /><Relationship Type="http://schemas.openxmlformats.org/officeDocument/2006/relationships/image" Target="/ppt/media/image.jpeg" Id="Rdcb8938edb0149fc" /><Relationship Type="http://schemas.openxmlformats.org/officeDocument/2006/relationships/image" Target="/ppt/media/image4.png" Id="R5237223522f24bcb" /><Relationship Type="http://schemas.openxmlformats.org/officeDocument/2006/relationships/image" Target="/ppt/media/image8.png" Id="Rb1ecefd1573344cd" /><Relationship Type="http://schemas.openxmlformats.org/officeDocument/2006/relationships/notesSlide" Target="/ppt/notesSlides/notesSlide15.xml" Id="R4c9d0d8b82cd42f7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阻塞占比（%）</c:v>
          </c:tx>
          <c:spPr>
            <a:solidFill xmlns:a="http://schemas.openxmlformats.org/drawingml/2006/main">
              <a:srgbClr val="A280EC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現況</c:v>
                </c:pt>
                <c:pt idx="1">
                  <c:v>緩衝8公尺</c:v>
                </c:pt>
                <c:pt idx="2">
                  <c:v>聯合8公尺</c:v>
                </c:pt>
                <c:pt idx="3">
                  <c:v>聯合12公尺</c:v>
                </c:pt>
              </c:strCache>
            </c:strRef>
          </c:cat>
          <c:val>
            <c:numRef>
              <c:f>'Chart Data'!$B$2:$B$5</c:f>
              <c:numCache>
                <c:formatCode>0.0</c:formatCode>
                <c:ptCount val="4"/>
                <c:pt idx="0">
                  <c:v>12.220632</c:v>
                </c:pt>
                <c:pt idx="1">
                  <c:v>7.60904</c:v>
                </c:pt>
                <c:pt idx="2">
                  <c:v>0.950505</c:v>
                </c:pt>
                <c:pt idx="3">
                  <c:v>0.710506</c:v>
                </c:pt>
              </c:numCache>
            </c:numRef>
          </c:val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75">
                  <a:solidFill>
                    <a:srgbClr val="F6E0F5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A280E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4F3B5D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875">
                    <a:solidFill>
                      <a:srgbClr val="F6E0F5"/>
                    </a:solidFill>
                    <a:latin typeface="Microsoft JhengHei"/>
                    <a:ea typeface="Microsoft JhengHei"/>
                    <a:cs typeface="Microsoft JhengHei"/>
                  </a:rPr>
                  <a:t>阻塞占比（%）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>
                  <a:solidFill>
                    <a:srgbClr val="F6E0F5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檢查前等待（分鐘）</c:v>
          </c:tx>
          <c:spPr>
            <a:solidFill xmlns:a="http://schemas.openxmlformats.org/drawingml/2006/main">
              <a:srgbClr val="DF96DA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現況</c:v>
                </c:pt>
                <c:pt idx="1">
                  <c:v>緩衝8公尺</c:v>
                </c:pt>
                <c:pt idx="2">
                  <c:v>聯合8公尺</c:v>
                </c:pt>
                <c:pt idx="3">
                  <c:v>聯合12公尺</c:v>
                </c:pt>
              </c:strCache>
            </c:strRef>
          </c:cat>
          <c:val>
            <c:numRef>
              <c:f>'Chart Data'!$B$2:$B$5</c:f>
              <c:numCache>
                <c:formatCode>0.0</c:formatCode>
                <c:ptCount val="4"/>
                <c:pt idx="0">
                  <c:v>19.71403</c:v>
                </c:pt>
                <c:pt idx="1">
                  <c:v>18.184648</c:v>
                </c:pt>
                <c:pt idx="2">
                  <c:v>5.515898</c:v>
                </c:pt>
                <c:pt idx="3">
                  <c:v>5.013653</c:v>
                </c:pt>
              </c:numCache>
            </c:numRef>
          </c:val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75">
                  <a:solidFill>
                    <a:srgbClr val="F6E0F5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A280E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4F3B5D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875">
                    <a:solidFill>
                      <a:srgbClr val="F6E0F5"/>
                    </a:solidFill>
                    <a:latin typeface="Microsoft JhengHei"/>
                    <a:ea typeface="Microsoft JhengHei"/>
                    <a:cs typeface="Microsoft JhengHei"/>
                  </a:rPr>
                  <a:t>檢查前等待（分鐘）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>
                  <a:solidFill>
                    <a:srgbClr val="F6E0F5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僅加緩衝（P2）</c:v>
          </c:tx>
          <c:spPr>
            <a:ln xmlns:a="http://schemas.openxmlformats.org/drawingml/2006/main" w="38100">
              <a:solidFill>
                <a:srgbClr val="A280EC"/>
              </a:solidFill>
            </a:ln>
          </c:spPr>
          <c:marker>
            <c:symbol val="circle"/>
            <c:size val="10"/>
          </c:marker>
          <c:cat>
            <c:strRef>
              <c:f>'Chart Data'!$A$2:$A$7</c:f>
              <c:strCache>
                <c:ptCount val="6"/>
                <c:pt idx="0">
                  <c:v>0公尺</c:v>
                </c:pt>
                <c:pt idx="1">
                  <c:v>4公尺</c:v>
                </c:pt>
                <c:pt idx="2">
                  <c:v>8公尺</c:v>
                </c:pt>
                <c:pt idx="3">
                  <c:v>12公尺</c:v>
                </c:pt>
                <c:pt idx="4">
                  <c:v>16公尺</c:v>
                </c:pt>
                <c:pt idx="5">
                  <c:v>24公尺</c:v>
                </c:pt>
              </c:strCache>
            </c:strRef>
          </c:cat>
          <c:val>
            <c:numRef>
              <c:f>'Chart Data'!$B$2:$B$7</c:f>
              <c:numCache>
                <c:formatCode>0.0</c:formatCode>
                <c:ptCount val="6"/>
                <c:pt idx="0">
                  <c:v>13.226748</c:v>
                </c:pt>
                <c:pt idx="1">
                  <c:v>10.262074</c:v>
                </c:pt>
                <c:pt idx="2">
                  <c:v>7.60904</c:v>
                </c:pt>
                <c:pt idx="3">
                  <c:v>5.3243</c:v>
                </c:pt>
                <c:pt idx="4">
                  <c:v>3.8886</c:v>
                </c:pt>
                <c:pt idx="5">
                  <c:v>1.968272</c:v>
                </c:pt>
              </c:numCache>
            </c:numRef>
          </c:val>
          <c:smooth val="0"/>
        </c:ser>
        <c:ser>
          <c:idx val="1"/>
          <c:order val="1"/>
          <c:tx>
            <c:v>聯合改善（P4）</c:v>
          </c:tx>
          <c:spPr>
            <a:ln xmlns:a="http://schemas.openxmlformats.org/drawingml/2006/main" w="38100">
              <a:solidFill>
                <a:srgbClr val="DF96DA"/>
              </a:solidFill>
            </a:ln>
          </c:spPr>
          <c:marker>
            <c:symbol val="circle"/>
            <c:size val="10"/>
          </c:marker>
          <c:cat>
            <c:strRef>
              <c:f>'Chart Data'!$C$2:$C$7</c:f>
              <c:strCache>
                <c:ptCount val="6"/>
                <c:pt idx="0">
                  <c:v>0公尺</c:v>
                </c:pt>
                <c:pt idx="1">
                  <c:v>4公尺</c:v>
                </c:pt>
                <c:pt idx="2">
                  <c:v>8公尺</c:v>
                </c:pt>
                <c:pt idx="3">
                  <c:v>12公尺</c:v>
                </c:pt>
                <c:pt idx="4">
                  <c:v>16公尺</c:v>
                </c:pt>
                <c:pt idx="5">
                  <c:v>24公尺</c:v>
                </c:pt>
              </c:strCache>
            </c:strRef>
          </c:cat>
          <c:val>
            <c:numRef>
              <c:f>'Chart Data'!$D$2:$D$7</c:f>
              <c:numCache>
                <c:formatCode>0.0</c:formatCode>
                <c:ptCount val="6"/>
                <c:pt idx="0">
                  <c:v>13.226748</c:v>
                </c:pt>
                <c:pt idx="1">
                  <c:v>1.228346</c:v>
                </c:pt>
                <c:pt idx="2">
                  <c:v>0.950505</c:v>
                </c:pt>
                <c:pt idx="3">
                  <c:v>0.710506</c:v>
                </c:pt>
                <c:pt idx="4">
                  <c:v>0.556819</c:v>
                </c:pt>
                <c:pt idx="5">
                  <c:v>0.312099</c:v>
                </c:pt>
              </c:numCache>
            </c:numRef>
          </c:val>
          <c:smooth val="0"/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75">
                  <a:solidFill>
                    <a:srgbClr val="F6E0F5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A280E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4F3B5D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875">
                    <a:solidFill>
                      <a:srgbClr val="F6E0F5"/>
                    </a:solidFill>
                    <a:latin typeface="Microsoft JhengHei"/>
                    <a:ea typeface="Microsoft JhengHei"/>
                    <a:cs typeface="Microsoft JhengHei"/>
                  </a:rPr>
                  <a:t>阻塞占比（%）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>
                  <a:solidFill>
                    <a:srgbClr val="F6E0F5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025">
              <a:solidFill>
                <a:srgbClr val="F6E0F5"/>
              </a:solidFill>
              <a:latin typeface="Microsoft JhengHei"/>
              <a:ea typeface="Microsoft JhengHei"/>
              <a:cs typeface="Microsoft JhengHei"/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1038CC73-0A7C-4D39-A11B-C4B9B3DF9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115375dfa9c24c5b"/>
            <a:stretch>
              <a:fillRect l="-4156" t="0" r="-2479" b="-18484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2168D3BD-4BF3-48CF-B32A-07E50B754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4404437" h="5655778">
                <a:moveTo>
                  <a:pt x="0" y="0"/>
                </a:moveTo>
                <a:lnTo>
                  <a:pt x="4404437" y="0"/>
                </a:lnTo>
                <a:lnTo>
                  <a:pt x="4404437" y="5655778"/>
                </a:lnTo>
                <a:lnTo>
                  <a:pt x="0" y="5655778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A344B12F-E7E3-4F4F-B39A-D5994A5ED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653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6E645BBB-B5EC-4C1B-97DD-15170F495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653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4DC7E806-81E0-452D-A3FC-33E1C6DC8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5998318" y="9036632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21162ad9ccb413a">
              <a:extLst>
                <a:ext uri="{96DAC541-7B7A-43D3-8B79-37D633B846F1}">
                  <asvg:svgBlip xmlns:asvg="http://schemas.microsoft.com/office/drawing/2016/SVG/main" r:embed="R45457e3aed4247ff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AFFC8262-5E01-4B46-99EF-E37EBF333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1518" y="9036632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21162ad9ccb413a">
              <a:extLst>
                <a:ext uri="{96DAC541-7B7A-43D3-8B79-37D633B846F1}">
                  <asvg:svgBlip xmlns:asvg="http://schemas.microsoft.com/office/drawing/2016/SVG/main" r:embed="R45457e3aed4247ff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6614D20D-8AC5-47B6-86A3-23527964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42613" y="3188938"/>
            <a:ext cx="12002775" cy="252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19900"/>
              </a:lnSpc>
              <a:spcBef>
                <a:spcPct val="0"/>
              </a:spcBef>
              <a:buNone/>
            </a:pPr>
            <a:r>
              <a:rPr sz="14214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B3D2A060-B787-4CA7-A523-CFFD97E7E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93898" y="5373864"/>
            <a:ext cx="6648304" cy="4733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727"/>
              </a:lnSpc>
              <a:spcBef>
                <a:spcPct val="0"/>
              </a:spcBef>
              <a:buNone/>
            </a:pPr>
            <a:r>
              <a:rPr sz="2662" spc="2130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27482CA7-4299-4538-97B4-E70D6719F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77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0E74FFB3-FD8F-4981-AEC4-1390D0D9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6459" y="9210675"/>
            <a:ext cx="1131703" cy="4079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212"/>
              </a:lnSpc>
              <a:spcBef>
                <a:spcPct val="0"/>
              </a:spcBef>
              <a:buNone/>
            </a:pPr>
            <a:r>
              <a:rPr sz="2294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49C603D9-8C8F-4D07-BB0E-F6D7B12DF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7384997" flipH="0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4404437" h="5655778">
                <a:moveTo>
                  <a:pt x="0" y="0"/>
                </a:moveTo>
                <a:lnTo>
                  <a:pt x="4404437" y="0"/>
                </a:lnTo>
                <a:lnTo>
                  <a:pt x="4404437" y="5655777"/>
                </a:lnTo>
                <a:lnTo>
                  <a:pt x="0" y="5655777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EF25FDE3-C9AB-4CEF-86E6-5AB29F850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01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1AEF01-7794-423D-A2AF-7FA94A156BD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cce451b26244a4"/>
          <a:srcRect xmlns:a="http://schemas.openxmlformats.org/drawingml/2006/main" l="0" t="15880" r="23187" b="0"/>
          <a:stretch xmlns:a="http://schemas.openxmlformats.org/drawingml/2006/main"/>
        </p:blipFill>
        <p:spPr>
          <a:xfrm xmlns:a="http://schemas.openxmlformats.org/drawingml/2006/main">
            <a:off x="14904815" y="0"/>
            <a:ext cx="3383185" cy="4757642"/>
          </a:xfrm>
          <a:prstGeom xmlns:a="http://schemas.openxmlformats.org/drawingml/2006/main" prst="rect">
            <a:avLst/>
          </a:prstGeom>
        </p:spPr>
      </p:pic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A1FF6C-57A7-4C9D-955B-049F41AAFD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7477db3ba54649"/>
          <a:srcRect xmlns:a="http://schemas.openxmlformats.org/drawingml/2006/main" l="13490" t="35208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3810286" cy="3664458"/>
          </a:xfrm>
          <a:prstGeom xmlns:a="http://schemas.openxmlformats.org/drawingml/2006/main" prst="rect">
            <a:avLst/>
          </a:prstGeom>
        </p:spPr>
      </p:pic>
      <p:sp>
        <p:nvSpPr>
          <p:cNvPr id="17" name="內容_1_循環箱逆向物流">
            <a:extLst xmlns:a="http://schemas.openxmlformats.org/drawingml/2006/main">
              <a:ext uri="{FF2B5EF4-FFF2-40B4-BE49-F238E27FC236}">
                <a16:creationId xmlns:a16="http://schemas.microsoft.com/office/drawing/2014/main" id="{68F044DE-58D7-4C6E-912F-2FC89F57A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95625"/>
            <a:ext cx="13144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循環箱逆向物流</a:t>
            </a:r>
          </a:p>
        </p:txBody>
      </p:sp>
      <p:sp>
        <p:nvSpPr>
          <p:cNvPr id="18" name="內容_1_倉庫模擬與改善方案實測">
            <a:extLst xmlns:a="http://schemas.openxmlformats.org/drawingml/2006/main">
              <a:ext uri="{FF2B5EF4-FFF2-40B4-BE49-F238E27FC236}">
                <a16:creationId xmlns:a16="http://schemas.microsoft.com/office/drawing/2014/main" id="{D6EF1B7D-E1F7-4CCE-A74A-3949979A7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10125"/>
            <a:ext cx="12382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rPr>
              <a:t>倉庫模擬與改善方案實測</a:t>
            </a:r>
          </a:p>
        </p:txBody>
      </p:sp>
      <p:sp>
        <p:nvSpPr>
          <p:cNvPr id="19" name="內容_1_雙層輸送網・五人作業・500">
            <a:extLst xmlns:a="http://schemas.openxmlformats.org/drawingml/2006/main">
              <a:ext uri="{FF2B5EF4-FFF2-40B4-BE49-F238E27FC236}">
                <a16:creationId xmlns:a16="http://schemas.microsoft.com/office/drawing/2014/main" id="{BADAF019-13DC-4E2C-A64F-898AA3785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6029325"/>
            <a:ext cx="11906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雙層輸送網・五人作業・500 箱資產池</a:t>
            </a:r>
          </a:p>
        </p:txBody>
      </p:sp>
      <p:sp>
        <p:nvSpPr>
          <p:cNvPr id="20" name="內容_1_2026.10.29　循環物">
            <a:extLst xmlns:a="http://schemas.openxmlformats.org/drawingml/2006/main">
              <a:ext uri="{FF2B5EF4-FFF2-40B4-BE49-F238E27FC236}">
                <a16:creationId xmlns:a16="http://schemas.microsoft.com/office/drawing/2014/main" id="{845962A8-B760-41F5-B02E-C4738EF9B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0"/>
            <a:ext cx="1238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2026.10.29　循環物流數位分身實測</a:t>
            </a:r>
          </a:p>
        </p:txBody>
      </p:sp>
    </p:spTree>
    <p:extLst>
      <p:ext uri="{BB962C8B-B14F-4D97-AF65-F5344CB8AC3E}">
        <p14:creationId xmlns:p14="http://schemas.microsoft.com/office/powerpoint/2010/main" val="36793948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E6640D45-AC17-4761-8326-C7D49ADBA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3fd43b154bd49f0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9153196C-9214-4773-A28E-1F513EACD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C48DEA3C-1992-456A-833A-069E5F08A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D4ACAC53-44DD-4BC8-A1D8-426AA926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8229600" h="8229600">
                <a:moveTo>
                  <a:pt x="0" y="0"/>
                </a:moveTo>
                <a:lnTo>
                  <a:pt x="8229600" y="0"/>
                </a:lnTo>
                <a:lnTo>
                  <a:pt x="82296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11073B9C-145D-4F58-AA04-F5BAC83C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5f83fbc15ce4a89">
              <a:extLst>
                <a:ext uri="{96DAC541-7B7A-43D3-8B79-37D633B846F1}">
                  <asvg:svgBlip xmlns:asvg="http://schemas.microsoft.com/office/drawing/2016/SVG/main" r:embed="Re04de250419b4a2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AD99454C-B275-40C7-9B9A-E9371897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5f83fbc15ce4a89">
              <a:extLst>
                <a:ext uri="{96DAC541-7B7A-43D3-8B79-37D633B846F1}">
                  <asvg:svgBlip xmlns:asvg="http://schemas.microsoft.com/office/drawing/2016/SVG/main" r:embed="Re04de250419b4a2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FFB3B20B-C44F-43B6-AAE6-515E6A1CD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81827" y="3081466"/>
            <a:ext cx="1193201" cy="945883"/>
          </a:xfrm>
          <a:custGeom xmlns:a="http://schemas.openxmlformats.org/drawingml/2006/main">
            <a:rect l="l" t="t" r="r" b="b"/>
            <a:pathLst>
              <a:path w="1193201" h="945883">
                <a:moveTo>
                  <a:pt x="0" y="0"/>
                </a:moveTo>
                <a:lnTo>
                  <a:pt x="1193202" y="0"/>
                </a:lnTo>
                <a:lnTo>
                  <a:pt x="1193202" y="945884"/>
                </a:lnTo>
                <a:lnTo>
                  <a:pt x="0" y="945884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061D7791-4B83-44EC-B314-8C160BE7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7661d670b774e6a"/>
            <a:stretch>
              <a:fillRect l="0" t="0" r="0" b="0"/>
            </a:stretch>
          </a:blipFill>
        </p:spPr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C148E808-4559-4806-8C99-3DD29A140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469C22E0-0C7F-4072-A20B-F26D2F22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46147" y="2929066"/>
            <a:ext cx="6295768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66B00542-DAED-4502-8A8D-05FFDA427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46147" y="4411178"/>
            <a:ext cx="9037377" cy="4119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244"/>
              </a:lnSpc>
              <a:spcBef>
                <a:spcPct val="0"/>
              </a:spcBef>
              <a:buNone/>
            </a:pPr>
            <a:r>
              <a:rPr sz="231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8F55669B-4B5F-47D2-B84B-677EF895D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406612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02</a:t>
            </a:r>
          </a:p>
        </p:txBody>
      </p:sp>
      <p:sp>
        <p:nvSpPr>
          <p:cNvPr id="15" name="內容_2_情境與方案設定">
            <a:extLst xmlns:a="http://schemas.openxmlformats.org/drawingml/2006/main">
              <a:ext uri="{FF2B5EF4-FFF2-40B4-BE49-F238E27FC236}">
                <a16:creationId xmlns:a16="http://schemas.microsoft.com/office/drawing/2014/main" id="{91E8E052-5873-499D-94FA-A843DDB3B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情境與方案設定</a:t>
            </a:r>
          </a:p>
        </p:txBody>
      </p:sp>
      <p:sp>
        <p:nvSpPr>
          <p:cNvPr id="16" name="內容_2_三種需求情境與五種改善方案">
            <a:extLst xmlns:a="http://schemas.openxmlformats.org/drawingml/2006/main">
              <a:ext uri="{FF2B5EF4-FFF2-40B4-BE49-F238E27FC236}">
                <a16:creationId xmlns:a16="http://schemas.microsoft.com/office/drawing/2014/main" id="{A0F0CF37-5FB8-40C6-A6AA-3E4555A96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三種需求情境與五種改善方案</a:t>
            </a:r>
          </a:p>
        </p:txBody>
      </p:sp>
      <p:graphicFrame>
        <p:nvGraphicFrame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7F7AF0-3ED3-48BB-97E7-BC7499621BF5}"/>
              </a:ext>
            </a:extLst>
          </p:cNvPr>
          <p:cNvGraphicFramePr/>
          <p:nvPr/>
        </p:nvGraphicFramePr>
        <p:xfrm>
          <a:off xmlns:a="http://schemas.openxmlformats.org/drawingml/2006/main" x="1581150" y="4143375"/>
          <a:ext xmlns:a="http://schemas.openxmlformats.org/drawingml/2006/main" cx="1428750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4762500"/>
                <a:gridCol w="4762500"/>
              </a:tblGrid>
              <a:tr h="4286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名稱（代號）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類別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本案設定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</a:tr>
              <a:tr h="4286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平日基準情境（S0）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需求情境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平均每小時60件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4286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短波尖峰情境（S1）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需求情境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波外80件／小時；三波各20分鐘、210件／小時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4286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較高短波尖峰情境（S1_4.5）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需求情境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尖峰270件／小時，是基準的4.5倍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4286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維持現況（P0）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改善方案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改善前的比較基準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4286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增設第二台清洗機（P1）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改善方案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擴充設備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4286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僅加緩衝（P2）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改善方案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改緩衝長度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4286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外包清洗（P3）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改善方案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送出後等待4小時回流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4286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聯合改善（P4）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改善方案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緩衝＋人員支援＋觸發式外包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</a:tbl>
          </a:graphicData>
        </a:graphic>
      </p:graphicFrame>
      <p:sp>
        <p:nvSpPr>
          <p:cNvPr id="18" name="內容_2_需求情境決定到達量，改善方案">
            <a:extLst xmlns:a="http://schemas.openxmlformats.org/drawingml/2006/main">
              <a:ext uri="{FF2B5EF4-FFF2-40B4-BE49-F238E27FC236}">
                <a16:creationId xmlns:a16="http://schemas.microsoft.com/office/drawing/2014/main" id="{875F6862-BA9C-4295-8168-D6D0808D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需求情境決定到達量，改善方案決定設備與調度。緩衝長度用公尺，等待時間用分鐘。</a:t>
            </a:r>
          </a:p>
        </p:txBody>
      </p:sp>
    </p:spTree>
    <p:extLst>
      <p:ext uri="{BB962C8B-B14F-4D97-AF65-F5344CB8AC3E}">
        <p14:creationId xmlns:p14="http://schemas.microsoft.com/office/powerpoint/2010/main" val="14919027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78985B8B-A6B5-49EF-80E0-E4799D620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61bf1f7bcce4054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72A452A2-53BD-447B-94FD-C7EEF9589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45836DC1-4E58-45B7-922B-D078B0AA2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08CCB521-23F3-46C1-8891-98B2FDA2E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8229600" h="8229600">
                <a:moveTo>
                  <a:pt x="8229600" y="0"/>
                </a:moveTo>
                <a:lnTo>
                  <a:pt x="0" y="0"/>
                </a:lnTo>
                <a:lnTo>
                  <a:pt x="0" y="8229600"/>
                </a:lnTo>
                <a:lnTo>
                  <a:pt x="8229600" y="8229600"/>
                </a:lnTo>
                <a:lnTo>
                  <a:pt x="822960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BED38AB1-C7E3-4FE1-B079-1438AD12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18d9229f6414c4b">
              <a:extLst>
                <a:ext uri="{96DAC541-7B7A-43D3-8B79-37D633B846F1}">
                  <asvg:svgBlip xmlns:asvg="http://schemas.microsoft.com/office/drawing/2016/SVG/main" r:embed="Rb695a796b954485f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8092908E-094A-4C79-A744-BC13EC57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18d9229f6414c4b">
              <a:extLst>
                <a:ext uri="{96DAC541-7B7A-43D3-8B79-37D633B846F1}">
                  <asvg:svgBlip xmlns:asvg="http://schemas.microsoft.com/office/drawing/2016/SVG/main" r:embed="Rb695a796b954485f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59D95409-1DFF-41EE-9F89-1A3F9D2D9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D699EBCD-5882-4FF2-B85F-42F3C3848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96116" y="3171098"/>
            <a:ext cx="6295768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CAAD0B5A-79F4-4CB1-B2FF-C824638B1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65322" y="4730410"/>
            <a:ext cx="10408977" cy="4119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244"/>
              </a:lnSpc>
              <a:spcBef>
                <a:spcPct val="0"/>
              </a:spcBef>
              <a:buNone/>
            </a:pPr>
            <a:r>
              <a:rPr sz="231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8C14F4B7-EBE1-4DF8-94F6-91F6FB9D7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1926" y="2209914"/>
            <a:ext cx="6295768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02A3E847-04B2-4901-AE57-A794923FB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5defca6221a4e15"/>
            <a:stretch>
              <a:fillRect l="0" t="0" r="0" b="0"/>
            </a:stretch>
          </a:blip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E206FCF6-BE8D-402E-A98C-06F5894B4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03</a:t>
            </a:r>
          </a:p>
        </p:txBody>
      </p:sp>
      <p:sp>
        <p:nvSpPr>
          <p:cNvPr id="15" name="內容_3_先讀指標與數字">
            <a:extLst xmlns:a="http://schemas.openxmlformats.org/drawingml/2006/main">
              <a:ext uri="{FF2B5EF4-FFF2-40B4-BE49-F238E27FC236}">
                <a16:creationId xmlns:a16="http://schemas.microsoft.com/office/drawing/2014/main" id="{0EF2848A-58C5-4FA5-ABE7-43BE354D4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先讀指標與數字</a:t>
            </a:r>
          </a:p>
        </p:txBody>
      </p:sp>
      <p:sp>
        <p:nvSpPr>
          <p:cNvPr id="16" name="內容_3_表中的方括號是平均估計的範圍">
            <a:extLst xmlns:a="http://schemas.openxmlformats.org/drawingml/2006/main">
              <a:ext uri="{FF2B5EF4-FFF2-40B4-BE49-F238E27FC236}">
                <a16:creationId xmlns:a16="http://schemas.microsoft.com/office/drawing/2014/main" id="{1F5A69DD-0C18-4586-A143-539471994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表中的方括號是平均估計的範圍</a:t>
            </a:r>
          </a:p>
        </p:txBody>
      </p:sp>
      <p:sp>
        <p:nvSpPr>
          <p:cNvPr id="17" name="內容_3_數字格式：平均值 [95%信">
            <a:extLst xmlns:a="http://schemas.openxmlformats.org/drawingml/2006/main">
              <a:ext uri="{FF2B5EF4-FFF2-40B4-BE49-F238E27FC236}">
                <a16:creationId xmlns:a16="http://schemas.microsoft.com/office/drawing/2014/main" id="{C62B019C-4AC4-43D9-B9F3-14AD494D9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000500"/>
            <a:ext cx="1428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數字格式：平均值 [95%信賴下界, 上界]；不是95%的單次運行結果所在範圍。</a:t>
            </a:r>
          </a:p>
        </p:txBody>
      </p:sp>
      <p:graphicFrame>
        <p:nvGraphicFrame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6BDFAE-DAAE-4040-82A1-3858DB571B52}"/>
              </a:ext>
            </a:extLst>
          </p:cNvPr>
          <p:cNvGraphicFramePr/>
          <p:nvPr/>
        </p:nvGraphicFramePr>
        <p:xfrm>
          <a:off xmlns:a="http://schemas.openxmlformats.org/drawingml/2006/main" x="1581150" y="4524375"/>
          <a:ext xmlns:a="http://schemas.openxmlformats.org/drawingml/2006/main" cx="14287500" cy="3286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4762500"/>
                <a:gridCol w="4762500"/>
              </a:tblGrid>
              <a:tr h="6572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績效指標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判定門檻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本案的計算界線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</a:tr>
              <a:tr h="6572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退貨結案率保守下界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至少99.5%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1－期末未完成退貨商品／觀察期退貨量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572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拆包設備阻塞占比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低於1%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被下游擋住的時間占比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572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檢查前等待超過24小時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0件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外部到達至開始品質檢查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572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淨減碳／包材節約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42%達標／65%未達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12公尺聯合方案：73.995%／39.173%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</a:tbl>
          </a:graphicData>
        </a:graphic>
      </p:graphicFrame>
      <p:sp>
        <p:nvSpPr>
          <p:cNvPr id="19" name="內容_3_每方案重複30次，報平均與9">
            <a:extLst xmlns:a="http://schemas.openxmlformats.org/drawingml/2006/main">
              <a:ext uri="{FF2B5EF4-FFF2-40B4-BE49-F238E27FC236}">
                <a16:creationId xmlns:a16="http://schemas.microsoft.com/office/drawing/2014/main" id="{2D2FC233-3C25-4310-AC21-84AF4505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每方案重複30次，報平均與95%信賴區間。百分點是兩個百分比相減；金額單位為新臺幣元。</a:t>
            </a:r>
          </a:p>
        </p:txBody>
      </p:sp>
    </p:spTree>
    <p:extLst>
      <p:ext uri="{BB962C8B-B14F-4D97-AF65-F5344CB8AC3E}">
        <p14:creationId xmlns:p14="http://schemas.microsoft.com/office/powerpoint/2010/main" val="45786036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7B265A35-ADB3-4B2B-A0BA-B570E6E1D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8e5b485363c4696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546B5B49-FE7E-48E8-8897-28B748629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2AD6863A-5153-4140-BAA7-71327D045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F1CB3193-9D6F-450F-9AD9-0381493F7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b68495f806142d7"/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A957D529-2587-4BF9-A2C4-348677B6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e3f5ed1065345f2">
              <a:extLst>
                <a:ext uri="{96DAC541-7B7A-43D3-8B79-37D633B846F1}">
                  <asvg:svgBlip xmlns:asvg="http://schemas.microsoft.com/office/drawing/2016/SVG/main" r:embed="R6a7c1a27b83d4d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FC35061B-C50E-4572-8E05-2D0579A4A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e3f5ed1065345f2">
              <a:extLst>
                <a:ext uri="{96DAC541-7B7A-43D3-8B79-37D633B846F1}">
                  <asvg:svgBlip xmlns:asvg="http://schemas.microsoft.com/office/drawing/2016/SVG/main" r:embed="R6a7c1a27b83d4d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8446ED29-0AE7-4989-A4AD-3D1C21167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3291840" h="4114800">
                <a:moveTo>
                  <a:pt x="0" y="0"/>
                </a:moveTo>
                <a:lnTo>
                  <a:pt x="3291840" y="0"/>
                </a:lnTo>
                <a:lnTo>
                  <a:pt x="32918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63AD508A-1CE3-4CDC-B858-59F2C1F59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3106500"/>
            <a:ext cx="1152525" cy="1152525"/>
          </a:xfrm>
          <a:custGeom xmlns:a="http://schemas.openxmlformats.org/drawingml/2006/main">
            <a:rect l="l" t="t" r="r" b="b"/>
            <a:pathLst>
              <a:path w="1152525" h="1152525">
                <a:moveTo>
                  <a:pt x="0" y="0"/>
                </a:moveTo>
                <a:lnTo>
                  <a:pt x="1152525" y="0"/>
                </a:lnTo>
                <a:lnTo>
                  <a:pt x="1152525" y="1152525"/>
                </a:lnTo>
                <a:lnTo>
                  <a:pt x="0" y="1152525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1CC23A62-84A1-47C9-BF0E-DE9F57C2C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CA6B788A-8A4E-49EE-9F61-FF0E02A3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04</a:t>
            </a:r>
          </a:p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FC8177F8-1A2E-448E-9AD9-66FACB69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10577" y="3323498"/>
            <a:ext cx="7038718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B7533ED7-DA82-43AE-9CD2-1D8D15390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10577" y="2438514"/>
            <a:ext cx="6295768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004AB030-1B63-4356-B70B-84BB822A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010577" y="5143500"/>
            <a:ext cx="3415031" cy="766076"/>
          </a:xfrm>
          <a:custGeom xmlns:a="http://schemas.openxmlformats.org/drawingml/2006/main">
            <a:rect l="l" t="t" r="r" b="b"/>
            <a:pathLst>
              <a:path w="1811659" h="406400">
                <a:moveTo>
                  <a:pt x="1608459" y="0"/>
                </a:moveTo>
                <a:cubicBezTo>
                  <a:pt x="1720683" y="0"/>
                  <a:pt x="1811659" y="90976"/>
                  <a:pt x="1811659" y="203200"/>
                </a:cubicBezTo>
                <a:cubicBezTo>
                  <a:pt x="1811659" y="315424"/>
                  <a:pt x="1720683" y="406400"/>
                  <a:pt x="16084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5D8A6507-C1F1-437D-880D-4A83501C6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010577" y="5233274"/>
            <a:ext cx="3415031" cy="6763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A939D5CF-D5F9-4129-AA0C-F6931B466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01758" y="5347142"/>
            <a:ext cx="3123850" cy="43294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409"/>
              </a:lnSpc>
              <a:spcBef>
                <a:spcPct val="0"/>
              </a:spcBef>
              <a:buNone/>
            </a:pPr>
            <a:r>
              <a:rPr sz="24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D9C11750-0692-4CAC-84E7-43A630801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0438" y="5086350"/>
            <a:ext cx="7800718" cy="43294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409"/>
              </a:lnSpc>
              <a:spcBef>
                <a:spcPct val="0"/>
              </a:spcBef>
              <a:buNone/>
            </a:pPr>
            <a:r>
              <a:rPr sz="24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3EFB824A-7D09-4EFD-9CBD-26B93FDB4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010577" y="6951600"/>
            <a:ext cx="4148386" cy="766076"/>
          </a:xfrm>
          <a:custGeom xmlns:a="http://schemas.openxmlformats.org/drawingml/2006/main">
            <a:rect l="l" t="t" r="r" b="b"/>
            <a:pathLst>
              <a:path w="2200700" h="406400">
                <a:moveTo>
                  <a:pt x="1997500" y="0"/>
                </a:moveTo>
                <a:cubicBezTo>
                  <a:pt x="2109724" y="0"/>
                  <a:pt x="2200700" y="90976"/>
                  <a:pt x="2200700" y="203200"/>
                </a:cubicBezTo>
                <a:cubicBezTo>
                  <a:pt x="2200700" y="315424"/>
                  <a:pt x="2109724" y="406400"/>
                  <a:pt x="1997500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E9CE38D6-A604-47D3-910A-2A3682979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010577" y="7041374"/>
            <a:ext cx="4148385" cy="6763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1FADBAC5-379C-4394-8B90-11D0299E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01758" y="7155242"/>
            <a:ext cx="3714400" cy="43294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409"/>
              </a:lnSpc>
              <a:spcBef>
                <a:spcPct val="0"/>
              </a:spcBef>
              <a:buNone/>
            </a:pPr>
            <a:r>
              <a:rPr sz="24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CC22EFA5-4F84-4C98-8A50-DC55EDC9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0438" y="6894450"/>
            <a:ext cx="7800718" cy="43294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409"/>
              </a:lnSpc>
              <a:spcBef>
                <a:spcPct val="0"/>
              </a:spcBef>
              <a:buNone/>
            </a:pPr>
            <a:r>
              <a:rPr sz="24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F33A00-BDD1-4214-AB00-614D6352C1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8ceadd78ed45c3"/>
          <a:srcRect xmlns:a="http://schemas.openxmlformats.org/drawingml/2006/main" l="45370" t="1050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798320" cy="3682746"/>
          </a:xfrm>
          <a:prstGeom xmlns:a="http://schemas.openxmlformats.org/drawingml/2006/main" prst="rect">
            <a:avLst/>
          </a:prstGeom>
        </p:spPr>
      </p:pic>
      <p:sp>
        <p:nvSpPr>
          <p:cNvPr id="26" name="內容_4_雙閉環架構">
            <a:extLst xmlns:a="http://schemas.openxmlformats.org/drawingml/2006/main">
              <a:ext uri="{FF2B5EF4-FFF2-40B4-BE49-F238E27FC236}">
                <a16:creationId xmlns:a16="http://schemas.microsoft.com/office/drawing/2014/main" id="{FD30DDFF-9D69-4A2B-9006-C7AF92821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雙閉環架構</a:t>
            </a:r>
          </a:p>
        </p:txBody>
      </p:sp>
      <p:sp>
        <p:nvSpPr>
          <p:cNvPr id="27" name="內容_4_商品與循環箱分離後再配對">
            <a:extLst xmlns:a="http://schemas.openxmlformats.org/drawingml/2006/main">
              <a:ext uri="{FF2B5EF4-FFF2-40B4-BE49-F238E27FC236}">
                <a16:creationId xmlns:a16="http://schemas.microsoft.com/office/drawing/2014/main" id="{37048AD3-9A24-4F63-99F3-098327ABC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商品與循環箱分離後再配對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7D96AB-83FE-4CFD-B18F-456F1685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334000"/>
            <a:ext cx="2286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1142F"/>
          </a:solidFill>
          <a:ln xmlns:a="http://schemas.openxmlformats.org/drawingml/2006/main" w="19050">
            <a:solidFill>
              <a:srgbClr val="A280EC"/>
            </a:solidFill>
          </a:ln>
        </p:spPr>
        <p:txBody>
          <a:bodyPr xmlns:a="http://schemas.openxmlformats.org/drawingml/2006/main" wrap="square" anchor="ctr"/>
          <a:lstStyle xmlns:a="http://schemas.openxmlformats.org/drawingml/2006/main">
            <a:def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退貨入庫</a:t>
            </a:r>
          </a:p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拆包分離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39DDC4-A3E3-420C-BFCB-0647C802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33875"/>
            <a:ext cx="2286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1142F"/>
          </a:solidFill>
          <a:ln xmlns:a="http://schemas.openxmlformats.org/drawingml/2006/main" w="19050">
            <a:solidFill>
              <a:srgbClr val="A280EC"/>
            </a:solidFill>
          </a:ln>
        </p:spPr>
        <p:txBody>
          <a:bodyPr xmlns:a="http://schemas.openxmlformats.org/drawingml/2006/main" wrap="square" anchor="ctr"/>
          <a:lstStyle xmlns:a="http://schemas.openxmlformats.org/drawingml/2006/main">
            <a:def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商品：品質檢查</a:t>
            </a:r>
          </a:p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40秒／支援20秒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40BBAE-5FB5-4AB0-8F62-08664383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33875"/>
            <a:ext cx="2286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1142F"/>
          </a:solidFill>
          <a:ln xmlns:a="http://schemas.openxmlformats.org/drawingml/2006/main" w="19050">
            <a:solidFill>
              <a:srgbClr val="A280EC"/>
            </a:solidFill>
          </a:ln>
        </p:spPr>
        <p:txBody>
          <a:bodyPr xmlns:a="http://schemas.openxmlformats.org/drawingml/2006/main" wrap="square" anchor="ctr"/>
          <a:lstStyle xmlns:a="http://schemas.openxmlformats.org/drawingml/2006/main">
            <a:def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A級15秒／B級120秒</a:t>
            </a:r>
          </a:p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C級60秒報廢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F0CEF4-651B-487E-8960-BE38A4CF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572250"/>
            <a:ext cx="2286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1142F"/>
          </a:solidFill>
          <a:ln xmlns:a="http://schemas.openxmlformats.org/drawingml/2006/main" w="19050">
            <a:solidFill>
              <a:srgbClr val="A280EC"/>
            </a:solidFill>
          </a:ln>
        </p:spPr>
        <p:txBody>
          <a:bodyPr xmlns:a="http://schemas.openxmlformats.org/drawingml/2006/main" wrap="square" anchor="ctr"/>
          <a:lstStyle xmlns:a="http://schemas.openxmlformats.org/drawingml/2006/main">
            <a:def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空箱：升至4公尺</a:t>
            </a:r>
          </a:p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清洗30秒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6E3E6E-C5FA-4CCB-8807-E48B4E2D9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6572250"/>
            <a:ext cx="2286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1142F"/>
          </a:solidFill>
          <a:ln xmlns:a="http://schemas.openxmlformats.org/drawingml/2006/main" w="19050">
            <a:solidFill>
              <a:srgbClr val="A280EC"/>
            </a:solidFill>
          </a:ln>
        </p:spPr>
        <p:txBody>
          <a:bodyPr xmlns:a="http://schemas.openxmlformats.org/drawingml/2006/main" wrap="square" anchor="ctr"/>
          <a:lstStyle xmlns:a="http://schemas.openxmlformats.org/drawingml/2006/main">
            <a:def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風乾段6公尺</a:t>
            </a:r>
          </a:p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檢驗5秒，2%報廢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97C8F7F-338E-4FAB-8365-BB447795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334000"/>
            <a:ext cx="2286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1142F"/>
          </a:solidFill>
          <a:ln xmlns:a="http://schemas.openxmlformats.org/drawingml/2006/main" w="19050">
            <a:solidFill>
              <a:srgbClr val="A280EC"/>
            </a:solidFill>
          </a:ln>
        </p:spPr>
        <p:txBody>
          <a:bodyPr xmlns:a="http://schemas.openxmlformats.org/drawingml/2006/main" wrap="square" anchor="ctr"/>
          <a:lstStyle xmlns:a="http://schemas.openxmlformats.org/drawingml/2006/main">
            <a:def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商品與箱配對</a:t>
            </a:r>
          </a:p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一箱一件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A95589-FE5F-4DBF-941B-44EE1D32C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68375" y="5334000"/>
            <a:ext cx="2143125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1142F"/>
          </a:solidFill>
          <a:ln xmlns:a="http://schemas.openxmlformats.org/drawingml/2006/main" w="19050">
            <a:solidFill>
              <a:srgbClr val="A280EC"/>
            </a:solidFill>
          </a:ln>
        </p:spPr>
        <p:txBody>
          <a:bodyPr xmlns:a="http://schemas.openxmlformats.org/drawingml/2006/main" wrap="square" anchor="ctr"/>
          <a:lstStyle xmlns:a="http://schemas.openxmlformats.org/drawingml/2006/main">
            <a:def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出庫</a:t>
            </a:r>
          </a:p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釋回箱資產</a:t>
            </a:r>
          </a:p>
        </p:txBody>
      </p:sp>
      <p:sp>
        <p:nvSpPr>
          <p:cNvPr id="35" name="內容_4_↗">
            <a:extLst xmlns:a="http://schemas.openxmlformats.org/drawingml/2006/main">
              <a:ext uri="{FF2B5EF4-FFF2-40B4-BE49-F238E27FC236}">
                <a16:creationId xmlns:a16="http://schemas.microsoft.com/office/drawing/2014/main" id="{C795830A-3E58-43C8-AE29-AFA03E4DA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762500"/>
            <a:ext cx="666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rPr>
              <a:t>↗</a:t>
            </a:r>
          </a:p>
        </p:txBody>
      </p:sp>
      <p:sp>
        <p:nvSpPr>
          <p:cNvPr id="36" name="內容_4_→">
            <a:extLst xmlns:a="http://schemas.openxmlformats.org/drawingml/2006/main">
              <a:ext uri="{FF2B5EF4-FFF2-40B4-BE49-F238E27FC236}">
                <a16:creationId xmlns:a16="http://schemas.microsoft.com/office/drawing/2014/main" id="{9EC27487-2AD2-47E5-A84E-D3081AA5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524375"/>
            <a:ext cx="666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37" name="內容_4_↘">
            <a:extLst xmlns:a="http://schemas.openxmlformats.org/drawingml/2006/main">
              <a:ext uri="{FF2B5EF4-FFF2-40B4-BE49-F238E27FC236}">
                <a16:creationId xmlns:a16="http://schemas.microsoft.com/office/drawing/2014/main" id="{5B32DEF0-A97A-4630-9614-03D34B499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762500"/>
            <a:ext cx="666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rPr>
              <a:t>↘</a:t>
            </a:r>
          </a:p>
        </p:txBody>
      </p:sp>
      <p:sp>
        <p:nvSpPr>
          <p:cNvPr id="38" name="內容_4_↘">
            <a:extLst xmlns:a="http://schemas.openxmlformats.org/drawingml/2006/main">
              <a:ext uri="{FF2B5EF4-FFF2-40B4-BE49-F238E27FC236}">
                <a16:creationId xmlns:a16="http://schemas.microsoft.com/office/drawing/2014/main" id="{E133F623-E5A3-4E25-A605-444CCFB8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6191250"/>
            <a:ext cx="666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↘</a:t>
            </a:r>
          </a:p>
        </p:txBody>
      </p:sp>
      <p:sp>
        <p:nvSpPr>
          <p:cNvPr id="39" name="內容_4_→">
            <a:extLst xmlns:a="http://schemas.openxmlformats.org/drawingml/2006/main">
              <a:ext uri="{FF2B5EF4-FFF2-40B4-BE49-F238E27FC236}">
                <a16:creationId xmlns:a16="http://schemas.microsoft.com/office/drawing/2014/main" id="{727FF3C7-4A4E-4B84-941A-B567EA0D4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6762750"/>
            <a:ext cx="666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40" name="內容_4_↗">
            <a:extLst xmlns:a="http://schemas.openxmlformats.org/drawingml/2006/main">
              <a:ext uri="{FF2B5EF4-FFF2-40B4-BE49-F238E27FC236}">
                <a16:creationId xmlns:a16="http://schemas.microsoft.com/office/drawing/2014/main" id="{5FCC1047-599F-402A-B986-9DBC1232A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6334125"/>
            <a:ext cx="666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↗</a:t>
            </a:r>
          </a:p>
        </p:txBody>
      </p:sp>
      <p:sp>
        <p:nvSpPr>
          <p:cNvPr id="41" name="內容_4_→">
            <a:extLst xmlns:a="http://schemas.openxmlformats.org/drawingml/2006/main">
              <a:ext uri="{FF2B5EF4-FFF2-40B4-BE49-F238E27FC236}">
                <a16:creationId xmlns:a16="http://schemas.microsoft.com/office/drawing/2014/main" id="{81202FAE-B5AD-4410-A736-D05785F29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1625" y="5476875"/>
            <a:ext cx="666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42" name="內容_4_有限500箱資產池，每箱15">
            <a:extLst xmlns:a="http://schemas.openxmlformats.org/drawingml/2006/main">
              <a:ext uri="{FF2B5EF4-FFF2-40B4-BE49-F238E27FC236}">
                <a16:creationId xmlns:a16="http://schemas.microsoft.com/office/drawing/2014/main" id="{121D58D1-590E-4D7F-B4A8-20B412463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7715250"/>
            <a:ext cx="1428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有限500箱資產池，每箱150次；外包支線延遲4小時並保留系統在製量</a:t>
            </a:r>
          </a:p>
        </p:txBody>
      </p:sp>
      <p:sp>
        <p:nvSpPr>
          <p:cNvPr id="43" name="內容_4_A級做簡單整理，B級需整新，">
            <a:extLst xmlns:a="http://schemas.openxmlformats.org/drawingml/2006/main">
              <a:ext uri="{FF2B5EF4-FFF2-40B4-BE49-F238E27FC236}">
                <a16:creationId xmlns:a16="http://schemas.microsoft.com/office/drawing/2014/main" id="{C15FC290-4F08-4FEE-A42B-FDFEDD7B5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A級做簡單整理，B級需整新，C級報廢；合格商品與空箱配成一件一箱。0公尺是實際旁路。</a:t>
            </a:r>
          </a:p>
        </p:txBody>
      </p:sp>
    </p:spTree>
    <p:extLst>
      <p:ext uri="{BB962C8B-B14F-4D97-AF65-F5344CB8AC3E}">
        <p14:creationId xmlns:p14="http://schemas.microsoft.com/office/powerpoint/2010/main" val="203366293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80B069E8-5190-477E-803C-58B0EB52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102c6ea40584920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BBC6E666-2BBC-415A-A72C-226A9E578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D3376BAB-6EC8-46E9-B186-6564C8209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3EC7A356-98E8-4101-A337-1ED72E316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b61269ab61d4075"/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B56F1602-11CF-48A9-8780-922B81162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713b25976bfb44f2">
              <a:extLst>
                <a:ext uri="{96DAC541-7B7A-43D3-8B79-37D633B846F1}">
                  <asvg:svgBlip xmlns:asvg="http://schemas.microsoft.com/office/drawing/2016/SVG/main" r:embed="R3fda6af6a7404ab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6D84E7C3-F07B-40CD-9F71-827C2C856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713b25976bfb44f2">
              <a:extLst>
                <a:ext uri="{96DAC541-7B7A-43D3-8B79-37D633B846F1}">
                  <asvg:svgBlip xmlns:asvg="http://schemas.microsoft.com/office/drawing/2016/SVG/main" r:embed="R3fda6af6a7404ab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FF418079-2F9A-439E-B135-FEB17FBF2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82280" y="4093584"/>
            <a:ext cx="3771900" cy="3771900"/>
          </a:xfrm>
          <a:custGeom xmlns:a="http://schemas.openxmlformats.org/drawingml/2006/main">
            <a:rect l="l" t="t" r="r" b="b"/>
            <a:pathLst>
              <a:path w="3771900" h="3771900">
                <a:moveTo>
                  <a:pt x="0" y="0"/>
                </a:moveTo>
                <a:lnTo>
                  <a:pt x="3771900" y="0"/>
                </a:lnTo>
                <a:lnTo>
                  <a:pt x="3771900" y="3771900"/>
                </a:lnTo>
                <a:lnTo>
                  <a:pt x="0" y="37719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CF183161-AD02-4A1C-91CD-314806B21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75E4290E-71B5-41A8-A8A3-83BE7888E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05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F98A6BFC-2DE8-4C16-9383-C1B10CC57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25016" y="2209914"/>
            <a:ext cx="4143118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80204B22-B7B0-4765-95AB-90294EF0B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17176" y="2209914"/>
            <a:ext cx="2307840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4" name="Freeform 14">
            <a:extLst xmlns:a="http://schemas.openxmlformats.org/drawingml/2006/main">
              <a:ext uri="{FF2B5EF4-FFF2-40B4-BE49-F238E27FC236}">
                <a16:creationId xmlns:a16="http://schemas.microsoft.com/office/drawing/2014/main" id="{A662ED12-2260-4195-A222-C98216C7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258050" y="4093584"/>
            <a:ext cx="3771900" cy="3771900"/>
          </a:xfrm>
          <a:custGeom xmlns:a="http://schemas.openxmlformats.org/drawingml/2006/main">
            <a:rect l="l" t="t" r="r" b="b"/>
            <a:pathLst>
              <a:path w="3771900" h="3771900">
                <a:moveTo>
                  <a:pt x="0" y="0"/>
                </a:moveTo>
                <a:lnTo>
                  <a:pt x="3771900" y="0"/>
                </a:lnTo>
                <a:lnTo>
                  <a:pt x="3771900" y="3771900"/>
                </a:lnTo>
                <a:lnTo>
                  <a:pt x="0" y="37719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68F751B0-C4F9-406E-8933-5BC00909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81875" y="4093584"/>
            <a:ext cx="3771900" cy="3771900"/>
          </a:xfrm>
          <a:custGeom xmlns:a="http://schemas.openxmlformats.org/drawingml/2006/main">
            <a:rect l="l" t="t" r="r" b="b"/>
            <a:pathLst>
              <a:path w="3771900" h="3771900">
                <a:moveTo>
                  <a:pt x="0" y="0"/>
                </a:moveTo>
                <a:lnTo>
                  <a:pt x="3771900" y="0"/>
                </a:lnTo>
                <a:lnTo>
                  <a:pt x="3771900" y="3771900"/>
                </a:lnTo>
                <a:lnTo>
                  <a:pt x="0" y="37719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04BF0326-39DF-4879-BCA4-0B70E767C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28856" y="4741578"/>
            <a:ext cx="2345448" cy="4541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576"/>
              </a:lnSpc>
              <a:buNone/>
            </a:pPr>
            <a:r>
              <a:rPr sz="2751">
                <a:solidFill>
                  <a:srgbClr val="C9BBE8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67B17FC6-2058-4E5F-B290-C1624E454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29506" y="4741578"/>
            <a:ext cx="2345448" cy="4541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576"/>
              </a:lnSpc>
              <a:buNone/>
            </a:pPr>
            <a:r>
              <a:rPr sz="2751">
                <a:solidFill>
                  <a:srgbClr val="C9BBE8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20818FD8-56C5-4707-95B1-22504B60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54398" y="4741578"/>
            <a:ext cx="2345448" cy="4541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576"/>
              </a:lnSpc>
              <a:buNone/>
            </a:pPr>
            <a:r>
              <a:rPr sz="2751">
                <a:solidFill>
                  <a:srgbClr val="C9BBE8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0D2CDDD4-F717-493E-80A0-CFBA9CDE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62004" y="5941434"/>
            <a:ext cx="3079151" cy="37477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951"/>
              </a:lnSpc>
              <a:spcBef>
                <a:spcPct val="0"/>
              </a:spcBef>
              <a:buNone/>
            </a:pPr>
            <a:r>
              <a:rPr sz="210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164E9B70-FC79-49B5-84B8-07001396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62654" y="5941434"/>
            <a:ext cx="3079151" cy="37477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951"/>
              </a:lnSpc>
              <a:spcBef>
                <a:spcPct val="0"/>
              </a:spcBef>
              <a:buNone/>
            </a:pPr>
            <a:r>
              <a:rPr sz="210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13ACD4AC-09D5-4E33-BA28-55B56F5DC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649200" y="5941434"/>
            <a:ext cx="3079151" cy="37477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951"/>
              </a:lnSpc>
              <a:spcBef>
                <a:spcPct val="0"/>
              </a:spcBef>
              <a:buNone/>
            </a:pPr>
            <a:r>
              <a:rPr sz="210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2" name="內容_5_三維倉庫佈局">
            <a:extLst xmlns:a="http://schemas.openxmlformats.org/drawingml/2006/main">
              <a:ext uri="{FF2B5EF4-FFF2-40B4-BE49-F238E27FC236}">
                <a16:creationId xmlns:a16="http://schemas.microsoft.com/office/drawing/2014/main" id="{2E9BB2E3-5A89-4E62-8A30-5F0AAB226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三維倉庫佈局</a:t>
            </a:r>
          </a:p>
        </p:txBody>
      </p:sp>
      <p:sp>
        <p:nvSpPr>
          <p:cNvPr id="23" name="內容_5_雙層輸送網的原生運行畫面">
            <a:extLst xmlns:a="http://schemas.openxmlformats.org/drawingml/2006/main">
              <a:ext uri="{FF2B5EF4-FFF2-40B4-BE49-F238E27FC236}">
                <a16:creationId xmlns:a16="http://schemas.microsoft.com/office/drawing/2014/main" id="{76C0AE6B-6558-4C56-BD8F-1FAEE6695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雙層輸送網的原生運行畫面</a:t>
            </a:r>
          </a:p>
        </p:txBody>
      </p:sp>
      <p:pic>
        <p:nvPic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D7A6A1-55C3-47C0-B373-C76A6D7B8F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f5e654fb2e496d"/>
          <a:srcRect xmlns:a="http://schemas.openxmlformats.org/drawingml/2006/main" l="0" t="20000" r="0" b="15000"/>
          <a:stretch xmlns:a="http://schemas.openxmlformats.org/drawingml/2006/main"/>
        </p:blipFill>
        <p:spPr>
          <a:xfrm xmlns:a="http://schemas.openxmlformats.org/drawingml/2006/main">
            <a:off x="1581150" y="4048125"/>
            <a:ext cx="14287500" cy="3810000"/>
          </a:xfrm>
          <a:prstGeom xmlns:a="http://schemas.openxmlformats.org/drawingml/2006/main" prst="rect">
            <a:avLst/>
          </a:prstGeom>
        </p:spPr>
      </p:pic>
      <p:sp>
        <p:nvSpPr>
          <p:cNvPr id="25" name="內容_5_短波尖峰、聯合改善、12公尺">
            <a:extLst xmlns:a="http://schemas.openxmlformats.org/drawingml/2006/main">
              <a:ext uri="{FF2B5EF4-FFF2-40B4-BE49-F238E27FC236}">
                <a16:creationId xmlns:a16="http://schemas.microsoft.com/office/drawing/2014/main" id="{A52515EE-60CF-4EA5-9CDE-D0B95EAD3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短波尖峰、聯合改善、12公尺緩衝；隨機種子101。三維畫面另附，正式統計取自1350次批次實驗。</a:t>
            </a:r>
          </a:p>
        </p:txBody>
      </p:sp>
    </p:spTree>
    <p:extLst>
      <p:ext uri="{BB962C8B-B14F-4D97-AF65-F5344CB8AC3E}">
        <p14:creationId xmlns:p14="http://schemas.microsoft.com/office/powerpoint/2010/main" val="13105709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9708C226-69B0-4064-B223-7509D061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34bbabaa496a4c31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4B07EBAF-62D6-40A6-993E-ADA4842FF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79E4A9F0-F57E-4E02-B27F-8AACFE79C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5F900804-6B48-4FCA-BE23-8577BB7EB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d422bed1d7846dd"/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3DB85F58-6467-4C5E-B92E-4658DB398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6eb7065a21894392">
              <a:extLst>
                <a:ext uri="{96DAC541-7B7A-43D3-8B79-37D633B846F1}">
                  <asvg:svgBlip xmlns:asvg="http://schemas.microsoft.com/office/drawing/2016/SVG/main" r:embed="R15e26f9bf8b64d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30BEACCE-458C-4DB2-BC29-6764F6245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6eb7065a21894392">
              <a:extLst>
                <a:ext uri="{96DAC541-7B7A-43D3-8B79-37D633B846F1}">
                  <asvg:svgBlip xmlns:asvg="http://schemas.microsoft.com/office/drawing/2016/SVG/main" r:embed="R15e26f9bf8b64d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301F0B8E-5785-4ED5-98F8-73B38B3B2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2086" y="2590914"/>
            <a:ext cx="7038718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EF8F7AE4-7E49-4001-938F-C26660C58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43774" y="2451591"/>
            <a:ext cx="5057775" cy="5057775"/>
          </a:xfrm>
          <a:custGeom xmlns:a="http://schemas.openxmlformats.org/drawingml/2006/main">
            <a:rect l="l" t="t" r="r" b="b"/>
            <a:pathLst>
              <a:path w="5057775" h="5057775">
                <a:moveTo>
                  <a:pt x="0" y="0"/>
                </a:moveTo>
                <a:lnTo>
                  <a:pt x="5057775" y="0"/>
                </a:lnTo>
                <a:lnTo>
                  <a:pt x="5057775" y="5057775"/>
                </a:lnTo>
                <a:lnTo>
                  <a:pt x="0" y="5057775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3C212073-4821-49AD-A39E-60066A01C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323800" y="3181287"/>
            <a:ext cx="4012721" cy="3598382"/>
          </a:xfrm>
          <a:custGeom xmlns:a="http://schemas.openxmlformats.org/drawingml/2006/main">
            <a:rect l="l" t="t" r="r" b="b"/>
            <a:pathLst>
              <a:path w="812800" h="728874">
                <a:moveTo>
                  <a:pt x="0" y="0"/>
                </a:moveTo>
                <a:lnTo>
                  <a:pt x="812800" y="0"/>
                </a:lnTo>
                <a:lnTo>
                  <a:pt x="812800" y="728874"/>
                </a:lnTo>
                <a:lnTo>
                  <a:pt x="0" y="728874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04C1FE21-3774-45C9-A65D-B2140B60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6B70BF81-6493-4D24-97F0-7461C41BD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06</a:t>
            </a: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D9301335-A2B0-48EA-877C-A91C97D0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2590914"/>
            <a:ext cx="3370259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D529C73B-08AE-47B0-8DB3-A73BEAFBA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4081222"/>
            <a:ext cx="8494452" cy="4119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244"/>
              </a:lnSpc>
              <a:spcBef>
                <a:spcPct val="0"/>
              </a:spcBef>
              <a:buNone/>
            </a:pPr>
            <a:r>
              <a:rPr sz="231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7" name="內容_6_多能工與防呆">
            <a:extLst xmlns:a="http://schemas.openxmlformats.org/drawingml/2006/main">
              <a:ext uri="{FF2B5EF4-FFF2-40B4-BE49-F238E27FC236}">
                <a16:creationId xmlns:a16="http://schemas.microsoft.com/office/drawing/2014/main" id="{F7A9B5A2-7C2C-47B6-96F4-1D1368A33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多能工與防呆</a:t>
            </a:r>
          </a:p>
        </p:txBody>
      </p:sp>
      <p:sp>
        <p:nvSpPr>
          <p:cNvPr id="18" name="內容_6_五位多能工與A星尋路法">
            <a:extLst xmlns:a="http://schemas.openxmlformats.org/drawingml/2006/main">
              <a:ext uri="{FF2B5EF4-FFF2-40B4-BE49-F238E27FC236}">
                <a16:creationId xmlns:a16="http://schemas.microsoft.com/office/drawing/2014/main" id="{78BF930E-71A4-4393-8A42-C20A6A7E1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五位多能工與A星尋路法</a:t>
            </a:r>
          </a:p>
        </p:txBody>
      </p:sp>
      <p:sp>
        <p:nvSpPr>
          <p:cNvPr id="19" name="內容_6_品質檢查 隊列 &gt;15 件">
            <a:extLst xmlns:a="http://schemas.openxmlformats.org/drawingml/2006/main">
              <a:ext uri="{FF2B5EF4-FFF2-40B4-BE49-F238E27FC236}">
                <a16:creationId xmlns:a16="http://schemas.microsoft.com/office/drawing/2014/main" id="{E4E89565-4008-42E4-A2F1-A7FF0FB8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381500"/>
            <a:ext cx="7810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rPr>
              <a:t>品質檢查 隊列 &gt;15 件</a:t>
            </a:r>
          </a:p>
        </p:txBody>
      </p:sp>
      <p:sp>
        <p:nvSpPr>
          <p:cNvPr id="20" name="內容_6_鎖定支援員，等現有整新任務完">
            <a:extLst xmlns:a="http://schemas.openxmlformats.org/drawingml/2006/main">
              <a:ext uri="{FF2B5EF4-FFF2-40B4-BE49-F238E27FC236}">
                <a16:creationId xmlns:a16="http://schemas.microsoft.com/office/drawing/2014/main" id="{34AEE992-BF4D-49A0-BE05-16AD94AB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381625"/>
            <a:ext cx="8191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鎖定支援員，等現有整新任務完成後再移動。</a:t>
            </a:r>
          </a:p>
          <a:p xmlns:a="http://schemas.openxmlformats.org/drawingml/2006/main">
            <a: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抵達 品質檢查 才將工時從40秒降為20秒。</a:t>
            </a:r>
          </a:p>
          <a:p xmlns:a="http://schemas.openxmlformats.org/drawingml/2006/main">
            <a: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品質檢查 隊列 ≤5 件，先完成當前任務再歸建。</a:t>
            </a:r>
          </a:p>
          <a:p xmlns:a="http://schemas.openxmlformats.org/drawingml/2006/main">
            <a: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支援旗標防止重複調派，整新二站暫停接新件。</a:t>
            </a:r>
          </a:p>
        </p:txBody>
      </p:sp>
      <p:sp>
        <p:nvSpPr>
          <p:cNvPr id="21" name="內容_6_5 人">
            <a:extLst xmlns:a="http://schemas.openxmlformats.org/drawingml/2006/main">
              <a:ext uri="{FF2B5EF4-FFF2-40B4-BE49-F238E27FC236}">
                <a16:creationId xmlns:a16="http://schemas.microsoft.com/office/drawing/2014/main" id="{C1F7392A-754C-4CF7-BA0B-D701CA0B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429125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5 人</a:t>
            </a:r>
          </a:p>
        </p:txBody>
      </p:sp>
      <p:sp>
        <p:nvSpPr>
          <p:cNvPr id="22" name="內容_6_固定人數&#10;1.4公尺／秒 步">
            <a:extLst xmlns:a="http://schemas.openxmlformats.org/drawingml/2006/main">
              <a:ext uri="{FF2B5EF4-FFF2-40B4-BE49-F238E27FC236}">
                <a16:creationId xmlns:a16="http://schemas.microsoft.com/office/drawing/2014/main" id="{FC44F03B-9D0F-4EB9-B348-B07F56531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5905500"/>
            <a:ext cx="4857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固定人數</a:t>
            </a:r>
          </a:p>
          <a:p xmlns:a="http://schemas.openxmlformats.org/drawingml/2006/main">
            <a: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1.4公尺／秒 步速假設</a:t>
            </a:r>
          </a:p>
          <a:p xmlns:a="http://schemas.openxmlformats.org/drawingml/2006/main">
            <a: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A星尋路法規劃實際移動</a:t>
            </a:r>
          </a:p>
        </p:txBody>
      </p:sp>
      <p:sp>
        <p:nvSpPr>
          <p:cNvPr id="23" name="內容_6_A星（A*）是尋路方法；5人">
            <a:extLst xmlns:a="http://schemas.openxmlformats.org/drawingml/2006/main">
              <a:ext uri="{FF2B5EF4-FFF2-40B4-BE49-F238E27FC236}">
                <a16:creationId xmlns:a16="http://schemas.microsoft.com/office/drawing/2014/main" id="{A524399E-4204-4553-98C6-346CA004A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A星（A*）是尋路方法；5人各走40段。活動路格與單行檢查無違規，有限測試不等於普遍證明。</a:t>
            </a:r>
          </a:p>
        </p:txBody>
      </p:sp>
    </p:spTree>
    <p:extLst>
      <p:ext uri="{BB962C8B-B14F-4D97-AF65-F5344CB8AC3E}">
        <p14:creationId xmlns:p14="http://schemas.microsoft.com/office/powerpoint/2010/main" val="91372200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22305848-88C9-448C-B1B0-9F703A79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b51157794d64a30"/>
            <a:stretch>
              <a:fillRect l="-35258" t="-5555" r="-24931" b="-72434"/>
            </a:stretch>
          </a:blipFill>
        </p:spPr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68F53DCC-D607-4448-A296-17C94770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128" y="2209914"/>
            <a:ext cx="5543293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CF0E1EFA-49A9-46CC-B955-B5C1A4122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74064" y="2209914"/>
            <a:ext cx="5408227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C06E8091-842C-418B-B1CE-B9E18C806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6E355584-F6AE-4A59-A0CB-66D40DDBA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6C99C17F-499D-4698-972F-F187D3AD1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9448575F-00B3-455B-A362-C415B91B4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301b25f3cc14a0c"/>
            <a:stretch>
              <a:fillRect l="0" t="0" r="0" b="0"/>
            </a:stretch>
          </a:blipFill>
        </p:spPr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98E97CC8-727F-4BB8-9702-DE1F3592B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ec0a4b66ae64f17">
              <a:extLst>
                <a:ext uri="{96DAC541-7B7A-43D3-8B79-37D633B846F1}">
                  <asvg:svgBlip xmlns:asvg="http://schemas.microsoft.com/office/drawing/2016/SVG/main" r:embed="Rf4389e4d7a114a5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B728D628-9E22-4BDE-A8A8-6A428C0C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ec0a4b66ae64f17">
              <a:extLst>
                <a:ext uri="{96DAC541-7B7A-43D3-8B79-37D633B846F1}">
                  <asvg:svgBlip xmlns:asvg="http://schemas.microsoft.com/office/drawing/2016/SVG/main" r:embed="Rf4389e4d7a114a5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E593B93A-3DAB-4EC1-A15C-534995465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07</a:t>
            </a:r>
          </a:p>
        </p:txBody>
      </p:sp>
      <p:sp>
        <p:nvSpPr>
          <p:cNvPr id="14" name="Freeform 14">
            <a:extLst xmlns:a="http://schemas.openxmlformats.org/drawingml/2006/main">
              <a:ext uri="{FF2B5EF4-FFF2-40B4-BE49-F238E27FC236}">
                <a16:creationId xmlns:a16="http://schemas.microsoft.com/office/drawing/2014/main" id="{6393FC13-F7DE-4876-A748-D70C73220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496352" y="4308053"/>
            <a:ext cx="3385513" cy="854973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815CA26A-C7F9-4723-8041-778127DB6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496352" y="4408245"/>
            <a:ext cx="3385513" cy="754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647779C5-53C4-4D46-B5DD-F520909CC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8230" y="4510124"/>
            <a:ext cx="2659773" cy="4541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576"/>
              </a:lnSpc>
              <a:buNone/>
            </a:pPr>
            <a:r>
              <a:rPr sz="2751" b="1">
                <a:solidFill>
                  <a:srgbClr val="C9BBE8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E574FF55-042D-4861-836E-0C66BD167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36225" y="5418881"/>
            <a:ext cx="6248666" cy="36398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just">
              <a:lnSpc>
                <a:spcPts val="2866"/>
              </a:lnSpc>
              <a:spcBef>
                <a:spcPct val="0"/>
              </a:spcBef>
              <a:buNone/>
            </a:pPr>
            <a:r>
              <a:rPr sz="204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9" name="Freeform 19">
            <a:extLst xmlns:a="http://schemas.openxmlformats.org/drawingml/2006/main">
              <a:ext uri="{FF2B5EF4-FFF2-40B4-BE49-F238E27FC236}">
                <a16:creationId xmlns:a16="http://schemas.microsoft.com/office/drawing/2014/main" id="{04578CF9-54D1-445B-9DFA-B00E478F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24604" y="4308053"/>
            <a:ext cx="3599822" cy="854973"/>
          </a:xfrm>
          <a:custGeom xmlns:a="http://schemas.openxmlformats.org/drawingml/2006/main">
            <a:rect l="l" t="t" r="r" b="b"/>
            <a:pathLst>
              <a:path w="1711129" h="406400">
                <a:moveTo>
                  <a:pt x="1507930" y="0"/>
                </a:moveTo>
                <a:cubicBezTo>
                  <a:pt x="1620154" y="0"/>
                  <a:pt x="1711129" y="90976"/>
                  <a:pt x="1711129" y="203200"/>
                </a:cubicBezTo>
                <a:cubicBezTo>
                  <a:pt x="1711129" y="315424"/>
                  <a:pt x="1620154" y="406400"/>
                  <a:pt x="1507930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CAAECA05-D13E-46F8-A839-B38F2EE94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24604" y="4408245"/>
            <a:ext cx="3599825" cy="754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6839E21F-17F9-4513-A138-5B0E277A4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59840" y="4510124"/>
            <a:ext cx="3159836" cy="4541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576"/>
              </a:lnSpc>
              <a:buNone/>
            </a:pPr>
            <a:r>
              <a:rPr sz="2751" b="1">
                <a:solidFill>
                  <a:srgbClr val="C9BBE8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582C3109-3497-45CB-AFC1-770D4BAE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86875" y="5418881"/>
            <a:ext cx="6248666" cy="36398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just">
              <a:lnSpc>
                <a:spcPts val="2866"/>
              </a:lnSpc>
              <a:spcBef>
                <a:spcPct val="0"/>
              </a:spcBef>
              <a:buNone/>
            </a:pPr>
            <a:r>
              <a:rPr sz="204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3" name="AutoShape 23">
            <a:extLst xmlns:a="http://schemas.openxmlformats.org/drawingml/2006/main">
              <a:ext uri="{FF2B5EF4-FFF2-40B4-BE49-F238E27FC236}">
                <a16:creationId xmlns:a16="http://schemas.microsoft.com/office/drawing/2014/main" id="{E4C3DE07-CBEA-41E3-9C63-FF6D2BF49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881865" y="4754590"/>
            <a:ext cx="354273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headEnd type="oval" w="lg" len="lg"/>
            <a:tailEnd type="oval" w="lg" len="lg"/>
          </a:ln>
        </p:spPr>
      </p:sp>
      <p:sp>
        <p:nvSpPr>
          <p:cNvPr id="24" name="內容_7_環境指標：門檻與增量">
            <a:extLst xmlns:a="http://schemas.openxmlformats.org/drawingml/2006/main">
              <a:ext uri="{FF2B5EF4-FFF2-40B4-BE49-F238E27FC236}">
                <a16:creationId xmlns:a16="http://schemas.microsoft.com/office/drawing/2014/main" id="{B03125EF-2C5E-45CE-BFFC-B2CD4291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環境指標：門檻與增量</a:t>
            </a:r>
          </a:p>
        </p:txBody>
      </p:sp>
      <p:sp>
        <p:nvSpPr>
          <p:cNvPr id="25" name="內容_7_74%達標，不等於聯合方案再">
            <a:extLst xmlns:a="http://schemas.openxmlformats.org/drawingml/2006/main">
              <a:ext uri="{FF2B5EF4-FFF2-40B4-BE49-F238E27FC236}">
                <a16:creationId xmlns:a16="http://schemas.microsoft.com/office/drawing/2014/main" id="{5F522578-C20E-4C30-9B9E-BDDF0639F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74%達標，不等於聯合方案再省74%</a:t>
            </a:r>
          </a:p>
        </p:txBody>
      </p:sp>
      <p:sp>
        <p:nvSpPr>
          <p:cNvPr id="26" name="內容_7_改善前 73.853%">
            <a:extLst xmlns:a="http://schemas.openxmlformats.org/drawingml/2006/main">
              <a:ext uri="{FF2B5EF4-FFF2-40B4-BE49-F238E27FC236}">
                <a16:creationId xmlns:a16="http://schemas.microsoft.com/office/drawing/2014/main" id="{FDA76BB8-96FE-4FEE-94D1-D36AA4DCA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333875"/>
            <a:ext cx="7429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3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3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3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3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3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3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3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3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3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3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3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3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rPr>
              <a:t>改善前 73.853%</a:t>
            </a:r>
          </a:p>
        </p:txBody>
      </p:sp>
      <p:sp>
        <p:nvSpPr>
          <p:cNvPr id="27" name="內容_7_每件0.184875 度電&#10;">
            <a:extLst xmlns:a="http://schemas.openxmlformats.org/drawingml/2006/main">
              <a:ext uri="{FF2B5EF4-FFF2-40B4-BE49-F238E27FC236}">
                <a16:creationId xmlns:a16="http://schemas.microsoft.com/office/drawing/2014/main" id="{13447319-099C-45CE-B708-57B64F74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476875"/>
            <a:ext cx="7715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每件0.184875 度電</a:t>
            </a:r>
          </a:p>
          <a:p xmlns:a="http://schemas.openxmlformats.org/drawingml/2006/main">
            <a: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1 − 0.184875 × 0.495 ÷ 0.35</a:t>
            </a:r>
          </a:p>
          <a:p xmlns:a="http://schemas.openxmlformats.org/drawingml/2006/main">
            <a: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＝ 73.853%：改善前已超過42%</a:t>
            </a:r>
          </a:p>
        </p:txBody>
      </p:sp>
      <p:sp>
        <p:nvSpPr>
          <p:cNvPr id="28" name="內容_7_12公尺聯合：73.995%">
            <a:extLst xmlns:a="http://schemas.openxmlformats.org/drawingml/2006/main">
              <a:ext uri="{FF2B5EF4-FFF2-40B4-BE49-F238E27FC236}">
                <a16:creationId xmlns:a16="http://schemas.microsoft.com/office/drawing/2014/main" id="{7D27F06A-559D-429F-94C6-80FFD252F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333875"/>
            <a:ext cx="695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9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9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9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9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9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9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9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9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9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9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9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12公尺聯合：73.995%</a:t>
            </a:r>
          </a:p>
        </p:txBody>
      </p:sp>
      <p:sp>
        <p:nvSpPr>
          <p:cNvPr id="29" name="內容_7_相較改善前僅 +0.141百">
            <a:extLst xmlns:a="http://schemas.openxmlformats.org/drawingml/2006/main">
              <a:ext uri="{FF2B5EF4-FFF2-40B4-BE49-F238E27FC236}">
                <a16:creationId xmlns:a16="http://schemas.microsoft.com/office/drawing/2014/main" id="{277D9D79-11A3-4260-BEF5-A0D913163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476875"/>
            <a:ext cx="7048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相較改善前僅 +0.141百分點</a:t>
            </a:r>
          </a:p>
          <a:p xmlns:a="http://schemas.openxmlformats.org/drawingml/2006/main">
            <a:pPr>
              <a:def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聯合方案還須扣外包排放</a:t>
            </a:r>
          </a:p>
          <a:p xmlns:a="http://schemas.openxmlformats.org/drawingml/2006/main">
            <a:pPr>
              <a:def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課程口徑；不是完整生命週期盤查</a:t>
            </a:r>
          </a:p>
        </p:txBody>
      </p:sp>
      <p:sp>
        <p:nvSpPr>
          <p:cNvPr id="30" name="內容_7_42%是目標門檻；原始來源未">
            <a:extLst xmlns:a="http://schemas.openxmlformats.org/drawingml/2006/main">
              <a:ext uri="{FF2B5EF4-FFF2-40B4-BE49-F238E27FC236}">
                <a16:creationId xmlns:a16="http://schemas.microsoft.com/office/drawing/2014/main" id="{9B82C2CB-0468-402D-913F-3D3C97502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42%是目標門檻；原始來源未提供相同輸入下42%的推導條件。不能為貼近目標反調參數。</a:t>
            </a:r>
          </a:p>
        </p:txBody>
      </p:sp>
    </p:spTree>
    <p:extLst>
      <p:ext uri="{BB962C8B-B14F-4D97-AF65-F5344CB8AC3E}">
        <p14:creationId xmlns:p14="http://schemas.microsoft.com/office/powerpoint/2010/main" val="148529096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47DB7B52-3BF8-4AD5-8B6A-6688A65D8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506bb103bb04799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EA94946B-61F2-4728-B45E-96A7DE68B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832350E7-7A06-4CB3-9D4E-1BE829B7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6F5D708B-2A58-43EA-B64F-A65582B28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6760dcf447d449cd"/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EA6BDD97-CBA3-4EA2-98B3-F0839CD75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80f9fc243c14116">
              <a:extLst>
                <a:ext uri="{96DAC541-7B7A-43D3-8B79-37D633B846F1}">
                  <asvg:svgBlip xmlns:asvg="http://schemas.microsoft.com/office/drawing/2016/SVG/main" r:embed="Rfdc05d7a88944ace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2EEA60DD-F96F-4516-8D5A-7DC1DA392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80f9fc243c14116">
              <a:extLst>
                <a:ext uri="{96DAC541-7B7A-43D3-8B79-37D633B846F1}">
                  <asvg:svgBlip xmlns:asvg="http://schemas.microsoft.com/office/drawing/2016/SVG/main" r:embed="Rfdc05d7a88944ace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1BDA29C4-16FC-40C9-B611-B325946B8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9831279" h="8229600">
                <a:moveTo>
                  <a:pt x="0" y="0"/>
                </a:moveTo>
                <a:lnTo>
                  <a:pt x="9831280" y="0"/>
                </a:lnTo>
                <a:lnTo>
                  <a:pt x="983128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54926248-D066-476B-AA53-A9F19071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1EB88EB9-6C59-4633-A686-F1A706535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08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594687A3-B8D3-40F3-9348-8309BAFED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9622" y="3485662"/>
            <a:ext cx="5543293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5A16601C-68EF-4D1E-B712-16AB32F00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9622" y="2399812"/>
            <a:ext cx="5408227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751CE905-A203-4D36-BBAF-754752CA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9622" y="4998487"/>
            <a:ext cx="7580052" cy="39420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104"/>
              </a:lnSpc>
              <a:spcBef>
                <a:spcPct val="0"/>
              </a:spcBef>
              <a:buNone/>
            </a:pPr>
            <a:r>
              <a:rPr sz="221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F42C2A44-2BBA-4C8D-A847-875A7392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4240473" h="4240473">
                <a:moveTo>
                  <a:pt x="4240473" y="0"/>
                </a:moveTo>
                <a:lnTo>
                  <a:pt x="0" y="0"/>
                </a:lnTo>
                <a:lnTo>
                  <a:pt x="0" y="4240472"/>
                </a:lnTo>
                <a:lnTo>
                  <a:pt x="4240473" y="4240472"/>
                </a:lnTo>
                <a:lnTo>
                  <a:pt x="4240473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6" name="內容_8_檢查V1–V6：守恆與統計">
            <a:extLst xmlns:a="http://schemas.openxmlformats.org/drawingml/2006/main">
              <a:ext uri="{FF2B5EF4-FFF2-40B4-BE49-F238E27FC236}">
                <a16:creationId xmlns:a16="http://schemas.microsoft.com/office/drawing/2014/main" id="{652EA46A-1045-4617-96F1-CE9A9883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檢查V1–V6：守恆與統計</a:t>
            </a:r>
          </a:p>
        </p:txBody>
      </p:sp>
      <p:sp>
        <p:nvSpPr>
          <p:cNvPr id="17" name="內容_8_驗證必須能攔下錯誤">
            <a:extLst xmlns:a="http://schemas.openxmlformats.org/drawingml/2006/main">
              <a:ext uri="{FF2B5EF4-FFF2-40B4-BE49-F238E27FC236}">
                <a16:creationId xmlns:a16="http://schemas.microsoft.com/office/drawing/2014/main" id="{3E135BF8-CE50-4F4F-A592-4BEE05907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驗證必須能攔下錯誤</a:t>
            </a:r>
          </a:p>
        </p:txBody>
      </p:sp>
      <p:graphicFrame>
        <p:nvGraphicFrame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79A2DF-EC05-4C6B-9E1B-5647358B66A1}"/>
              </a:ext>
            </a:extLst>
          </p:cNvPr>
          <p:cNvGraphicFramePr/>
          <p:nvPr/>
        </p:nvGraphicFramePr>
        <p:xfrm>
          <a:off xmlns:a="http://schemas.openxmlformats.org/drawingml/2006/main" x="1581150" y="4333875"/>
          <a:ext xmlns:a="http://schemas.openxmlformats.org/drawingml/2006/main" cx="142875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4762500"/>
                <a:gridCol w="4762500"/>
              </a:tblGrid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檢查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實測證據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判讀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守恆檢查（V1）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1350次；每次17項殘差為0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商品、需求、箱資產分帳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穩定檢查（V2／V3）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平日變異係數≤5%；在製漂移-0.21%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基準整體達標；尖峰現況不穩定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同種子檢查（V4）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3組×2次，原生完整讀值相等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視窗介面原始結果亦逐項一致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估計精度檢查（V5）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30次最差18.07%；600次3.47%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原始30次未達；追加樣本達標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分級比例檢查（V6）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平日分類檢定 p=0.1514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未拒絕60／30／10設定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</a:tbl>
          </a:graphicData>
        </a:graphic>
      </p:graphicFrame>
      <p:sp>
        <p:nvSpPr>
          <p:cNvPr id="19" name="內容_8_V是檢查編號，不是模型版本。">
            <a:extLst xmlns:a="http://schemas.openxmlformats.org/drawingml/2006/main">
              <a:ext uri="{FF2B5EF4-FFF2-40B4-BE49-F238E27FC236}">
                <a16:creationId xmlns:a16="http://schemas.microsoft.com/office/drawing/2014/main" id="{A2571063-2FBB-4EBD-935C-29A1DB835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971925"/>
            <a:ext cx="1428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V是檢查編號，不是模型版本。變異係數（CV）表示相對波動；p值用來檢查分級比例是否相容。</a:t>
            </a:r>
          </a:p>
        </p:txBody>
      </p:sp>
      <p:sp>
        <p:nvSpPr>
          <p:cNvPr id="20" name="內容_8_600個基準樣本＝主實驗30">
            <a:extLst xmlns:a="http://schemas.openxmlformats.org/drawingml/2006/main">
              <a:ext uri="{FF2B5EF4-FFF2-40B4-BE49-F238E27FC236}">
                <a16:creationId xmlns:a16="http://schemas.microsoft.com/office/drawing/2014/main" id="{EF37D15C-D6FD-44F8-8076-B7A29A02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600個基準樣本＝主實驗30次＋追加570次；沒有挑選種子，也未將30次的失敗改成通過。</a:t>
            </a:r>
          </a:p>
        </p:txBody>
      </p:sp>
    </p:spTree>
    <p:extLst>
      <p:ext uri="{BB962C8B-B14F-4D97-AF65-F5344CB8AC3E}">
        <p14:creationId xmlns:p14="http://schemas.microsoft.com/office/powerpoint/2010/main" val="115478459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E2731B3A-0047-4CE8-9698-CC4E4EEE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d7a344e41314736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BF204474-599A-48C3-BA3A-46C3EEA3E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E50D0010-0774-4577-8C70-B332E131D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D76CA9EC-1DBF-4907-B068-95AB71649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56a6fafb1ac45b8"/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D331004C-845B-4F36-9336-D201C46A3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c71ce6855213436f">
              <a:extLst>
                <a:ext uri="{96DAC541-7B7A-43D3-8B79-37D633B846F1}">
                  <asvg:svgBlip xmlns:asvg="http://schemas.microsoft.com/office/drawing/2016/SVG/main" r:embed="R207c0be9f82e4d5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19455DD3-676A-4510-924C-1F029652E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c71ce6855213436f">
              <a:extLst>
                <a:ext uri="{96DAC541-7B7A-43D3-8B79-37D633B846F1}">
                  <asvg:svgBlip xmlns:asvg="http://schemas.microsoft.com/office/drawing/2016/SVG/main" r:embed="R207c0be9f82e4d5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ECDE063D-F80C-47BB-A75C-600708094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5314037"/>
            <a:ext cx="4796896" cy="608841"/>
          </a:xfrm>
          <a:custGeom xmlns:a="http://schemas.openxmlformats.org/drawingml/2006/main">
            <a:rect l="l" t="t" r="r" b="b"/>
            <a:pathLst>
              <a:path w="3201916" h="406400">
                <a:moveTo>
                  <a:pt x="2998716" y="0"/>
                </a:moveTo>
                <a:cubicBezTo>
                  <a:pt x="3110941" y="0"/>
                  <a:pt x="3201916" y="90976"/>
                  <a:pt x="3201916" y="203200"/>
                </a:cubicBezTo>
                <a:cubicBezTo>
                  <a:pt x="3201916" y="315424"/>
                  <a:pt x="3110941" y="406400"/>
                  <a:pt x="2998716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87334B8A-5718-4AD9-8C27-664161493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5385385"/>
            <a:ext cx="4796896" cy="53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1A513757-3B2B-40CA-A1CB-F0DD8334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45901" y="5427472"/>
            <a:ext cx="320992" cy="320992"/>
          </a:xfrm>
          <a:custGeom xmlns:a="http://schemas.openxmlformats.org/drawingml/2006/main">
            <a:rect l="l" t="t" r="r" b="b"/>
            <a:pathLst>
              <a:path w="320992" h="320992">
                <a:moveTo>
                  <a:pt x="0" y="0"/>
                </a:moveTo>
                <a:lnTo>
                  <a:pt x="320992" y="0"/>
                </a:lnTo>
                <a:lnTo>
                  <a:pt x="320992" y="320992"/>
                </a:lnTo>
                <a:lnTo>
                  <a:pt x="0" y="320992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F74DA85D-3C7C-4149-B273-DF4FEF2B9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3495789"/>
            <a:ext cx="8762872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7749389F-73AE-495D-B2DD-5637ACEB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2467089"/>
            <a:ext cx="5408227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1D65F3CE-3A72-4AEA-96E4-642FB2AE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6494AE3F-DB18-4915-8E60-86D941F7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09</a:t>
            </a:r>
          </a:p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8C4DAE6C-DD8A-44BF-B649-987B2153B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14534" y="5377181"/>
            <a:ext cx="2704114" cy="43294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409"/>
              </a:lnSpc>
              <a:spcBef>
                <a:spcPct val="0"/>
              </a:spcBef>
              <a:buNone/>
            </a:pPr>
            <a:r>
              <a:rPr sz="24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BA53E170-8D4C-4180-B72E-4816E5553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14534" y="6208628"/>
            <a:ext cx="6294052" cy="37960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989"/>
              </a:lnSpc>
              <a:spcBef>
                <a:spcPct val="0"/>
              </a:spcBef>
              <a:buNone/>
            </a:pPr>
            <a:r>
              <a:rPr sz="21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0" name="Freeform 20">
            <a:extLst xmlns:a="http://schemas.openxmlformats.org/drawingml/2006/main">
              <a:ext uri="{FF2B5EF4-FFF2-40B4-BE49-F238E27FC236}">
                <a16:creationId xmlns:a16="http://schemas.microsoft.com/office/drawing/2014/main" id="{3C175612-76B4-4DA1-A70C-7EA93F274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478579" y="5314037"/>
            <a:ext cx="4796896" cy="608841"/>
          </a:xfrm>
          <a:custGeom xmlns:a="http://schemas.openxmlformats.org/drawingml/2006/main">
            <a:rect l="l" t="t" r="r" b="b"/>
            <a:pathLst>
              <a:path w="3201916" h="406400">
                <a:moveTo>
                  <a:pt x="2998716" y="0"/>
                </a:moveTo>
                <a:cubicBezTo>
                  <a:pt x="3110941" y="0"/>
                  <a:pt x="3201916" y="90976"/>
                  <a:pt x="3201916" y="203200"/>
                </a:cubicBezTo>
                <a:cubicBezTo>
                  <a:pt x="3201916" y="315424"/>
                  <a:pt x="3110941" y="406400"/>
                  <a:pt x="2998716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7398A68A-6B44-4A9A-ACD0-CD6EE771A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478579" y="5385385"/>
            <a:ext cx="4796896" cy="53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22" name="Freeform 22">
            <a:extLst xmlns:a="http://schemas.openxmlformats.org/drawingml/2006/main">
              <a:ext uri="{FF2B5EF4-FFF2-40B4-BE49-F238E27FC236}">
                <a16:creationId xmlns:a16="http://schemas.microsoft.com/office/drawing/2014/main" id="{8D2BF20E-56A6-4144-8711-7B2410C9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3691615" y="5460539"/>
            <a:ext cx="320993" cy="320992"/>
          </a:xfrm>
          <a:custGeom xmlns:a="http://schemas.openxmlformats.org/drawingml/2006/main">
            <a:rect l="l" t="t" r="r" b="b"/>
            <a:pathLst>
              <a:path w="320993" h="320992">
                <a:moveTo>
                  <a:pt x="0" y="0"/>
                </a:moveTo>
                <a:lnTo>
                  <a:pt x="320993" y="0"/>
                </a:lnTo>
                <a:lnTo>
                  <a:pt x="320993" y="320992"/>
                </a:lnTo>
                <a:lnTo>
                  <a:pt x="0" y="320992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EED12B3B-FB4C-4063-8AFC-9CAB0D441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35767" y="5377181"/>
            <a:ext cx="2704114" cy="43294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409"/>
              </a:lnSpc>
              <a:spcBef>
                <a:spcPct val="0"/>
              </a:spcBef>
              <a:buNone/>
            </a:pPr>
            <a:r>
              <a:rPr sz="24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76F8E23B-003C-4B28-9068-5D78B8D7F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07179" y="6208628"/>
            <a:ext cx="6479790" cy="37960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989"/>
              </a:lnSpc>
              <a:spcBef>
                <a:spcPct val="0"/>
              </a:spcBef>
              <a:buNone/>
            </a:pPr>
            <a:r>
              <a:rPr sz="21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5" name="Freeform 25">
            <a:extLst xmlns:a="http://schemas.openxmlformats.org/drawingml/2006/main">
              <a:ext uri="{FF2B5EF4-FFF2-40B4-BE49-F238E27FC236}">
                <a16:creationId xmlns:a16="http://schemas.microsoft.com/office/drawing/2014/main" id="{E226617A-E614-41E2-BE13-43B1C7B05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4240473" h="4240473">
                <a:moveTo>
                  <a:pt x="4240473" y="0"/>
                </a:moveTo>
                <a:lnTo>
                  <a:pt x="0" y="0"/>
                </a:lnTo>
                <a:lnTo>
                  <a:pt x="0" y="4240473"/>
                </a:lnTo>
                <a:lnTo>
                  <a:pt x="4240473" y="4240473"/>
                </a:lnTo>
                <a:lnTo>
                  <a:pt x="4240473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6" name="Freeform 26">
            <a:extLst xmlns:a="http://schemas.openxmlformats.org/drawingml/2006/main">
              <a:ext uri="{FF2B5EF4-FFF2-40B4-BE49-F238E27FC236}">
                <a16:creationId xmlns:a16="http://schemas.microsoft.com/office/drawing/2014/main" id="{1273C16E-D9B4-4989-B0C4-E868E9D8E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4240473" h="4240473">
                <a:moveTo>
                  <a:pt x="4240473" y="0"/>
                </a:moveTo>
                <a:lnTo>
                  <a:pt x="0" y="0"/>
                </a:lnTo>
                <a:lnTo>
                  <a:pt x="0" y="4240473"/>
                </a:lnTo>
                <a:lnTo>
                  <a:pt x="4240473" y="4240473"/>
                </a:lnTo>
                <a:lnTo>
                  <a:pt x="4240473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7" name="內容_9_檢查V7–V11：物理與排隊">
            <a:extLst xmlns:a="http://schemas.openxmlformats.org/drawingml/2006/main">
              <a:ext uri="{FF2B5EF4-FFF2-40B4-BE49-F238E27FC236}">
                <a16:creationId xmlns:a16="http://schemas.microsoft.com/office/drawing/2014/main" id="{51DE7E38-52BD-43A6-A37D-CC82041E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檢查V7–V11：物理與排隊</a:t>
            </a:r>
          </a:p>
        </p:txBody>
      </p:sp>
      <p:sp>
        <p:nvSpPr>
          <p:cNvPr id="28" name="內容_9_將模型對回物理與排隊">
            <a:extLst xmlns:a="http://schemas.openxmlformats.org/drawingml/2006/main">
              <a:ext uri="{FF2B5EF4-FFF2-40B4-BE49-F238E27FC236}">
                <a16:creationId xmlns:a16="http://schemas.microsoft.com/office/drawing/2014/main" id="{18422F5E-4934-4025-97DE-E5894ABE3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將模型對回物理與排隊</a:t>
            </a:r>
          </a:p>
        </p:txBody>
      </p:sp>
      <p:graphicFrame>
        <p:nvGraphicFrame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03F7AA-BFB2-4903-85CD-78C92720A3B3}"/>
              </a:ext>
            </a:extLst>
          </p:cNvPr>
          <p:cNvGraphicFramePr/>
          <p:nvPr/>
        </p:nvGraphicFramePr>
        <p:xfrm>
          <a:off xmlns:a="http://schemas.openxmlformats.org/drawingml/2006/main" x="1581150" y="4333875"/>
          <a:ext xmlns:a="http://schemas.openxmlformats.org/drawingml/2006/main" cx="142875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4762500"/>
                <a:gridCol w="4762500"/>
              </a:tblGrid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檢查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標準／實測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判讀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清洗產能檢查（V7）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30秒／箱；未超過實現可用產能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加工占比與負載差≤1.37百分點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停機占比檢查（V8）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平日基準情境（S0）均值3.80%；理論4%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整體差0.20百分點，個別診斷另列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利特爾定律檢查（V9）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90組獨立時間戳；最大誤差2.32%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有限觀察窗修正亦一致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五倍壓力檢查（V10）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300件／小時 ×7日；保留外部積壓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品質檢查先超載，清洗近飽和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無長時停滯檢查（V11）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1350次最長零出庫1小時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未出現連續4小時零出庫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</a:tbl>
          </a:graphicData>
        </a:graphic>
      </p:graphicFrame>
      <p:sp>
        <p:nvSpPr>
          <p:cNvPr id="30" name="內容_9_負載比例＝到達率÷處理能力；">
            <a:extLst xmlns:a="http://schemas.openxmlformats.org/drawingml/2006/main">
              <a:ext uri="{FF2B5EF4-FFF2-40B4-BE49-F238E27FC236}">
                <a16:creationId xmlns:a16="http://schemas.microsoft.com/office/drawing/2014/main" id="{E2F09C10-1542-4DF4-A85B-FA783791A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971925"/>
            <a:ext cx="1428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負載比例＝到達率÷處理能力；利特爾定律用流量與等待時間核對平均在製量。</a:t>
            </a:r>
          </a:p>
        </p:txBody>
      </p:sp>
      <p:sp>
        <p:nvSpPr>
          <p:cNvPr id="31" name="內容_9_1920次不重複原生運行；1">
            <a:extLst xmlns:a="http://schemas.openxmlformats.org/drawingml/2006/main">
              <a:ext uri="{FF2B5EF4-FFF2-40B4-BE49-F238E27FC236}">
                <a16:creationId xmlns:a16="http://schemas.microsoft.com/office/drawing/2014/main" id="{485505A5-367B-413B-8F70-BCFBE90A4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1920次不重複原生運行；15,360筆功能性績效指標響應與原始計數重算差異為0。</a:t>
            </a:r>
          </a:p>
        </p:txBody>
      </p:sp>
    </p:spTree>
    <p:extLst>
      <p:ext uri="{BB962C8B-B14F-4D97-AF65-F5344CB8AC3E}">
        <p14:creationId xmlns:p14="http://schemas.microsoft.com/office/powerpoint/2010/main" val="141892955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866781D3-707A-48D8-B08E-0CFC5C086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359b0fb1d56f4ae8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8CEEA448-28E3-4F4B-BC4D-7C7329D2B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72E976D6-A34F-404D-A091-7E04AC49A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64E820B2-C23A-4D14-8775-7C1A32110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d4278638f994fac"/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B277E06E-0F3D-43D7-949D-2E06A6CCE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58b3305dc4f445f">
              <a:extLst>
                <a:ext uri="{96DAC541-7B7A-43D3-8B79-37D633B846F1}">
                  <asvg:svgBlip xmlns:asvg="http://schemas.microsoft.com/office/drawing/2016/SVG/main" r:embed="R1cba6b6b071d4ae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C3BA6FD7-8358-41AF-9CB7-368B3771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58b3305dc4f445f">
              <a:extLst>
                <a:ext uri="{96DAC541-7B7A-43D3-8B79-37D633B846F1}">
                  <asvg:svgBlip xmlns:asvg="http://schemas.microsoft.com/office/drawing/2016/SVG/main" r:embed="R1cba6b6b071d4ae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1ED269A7-9DFE-41F4-9836-6EC682F97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2232516"/>
            <a:ext cx="5199669" cy="6244144"/>
          </a:xfrm>
          <a:custGeom xmlns:a="http://schemas.openxmlformats.org/drawingml/2006/main">
            <a:rect l="l" t="t" r="r" b="b"/>
            <a:pathLst>
              <a:path w="5199669" h="6244144">
                <a:moveTo>
                  <a:pt x="0" y="0"/>
                </a:moveTo>
                <a:lnTo>
                  <a:pt x="5199669" y="0"/>
                </a:lnTo>
                <a:lnTo>
                  <a:pt x="5199669" y="6244144"/>
                </a:lnTo>
                <a:lnTo>
                  <a:pt x="0" y="6244144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1A72E459-1E5D-46CB-8AA4-8928B825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03026" y="3267189"/>
            <a:ext cx="7580571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BAF262D9-C084-4734-831B-39C50FCA4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03026" y="2209914"/>
            <a:ext cx="5408227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AA36B807-E42B-4B01-A0F7-55E25FFA9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14482A6B-6066-4534-837A-002A9484F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2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10</a:t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ED35B51D-55A2-413A-B439-899A35935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21422" y="4811246"/>
            <a:ext cx="7822954" cy="39954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146"/>
              </a:lnSpc>
              <a:spcBef>
                <a:spcPct val="0"/>
              </a:spcBef>
              <a:buNone/>
            </a:pPr>
            <a:r>
              <a:rPr sz="224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AD27B265-C94C-41BF-93CB-B851B277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2675" y="2949940"/>
            <a:ext cx="4012721" cy="4636258"/>
          </a:xfrm>
          <a:custGeom xmlns:a="http://schemas.openxmlformats.org/drawingml/2006/main">
            <a:rect l="l" t="t" r="r" b="b"/>
            <a:pathLst>
              <a:path w="812800" h="939101">
                <a:moveTo>
                  <a:pt x="0" y="0"/>
                </a:moveTo>
                <a:lnTo>
                  <a:pt x="812800" y="0"/>
                </a:lnTo>
                <a:lnTo>
                  <a:pt x="812800" y="939101"/>
                </a:lnTo>
                <a:lnTo>
                  <a:pt x="0" y="939101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7" name="內容_10_關鍵發現">
            <a:extLst xmlns:a="http://schemas.openxmlformats.org/drawingml/2006/main">
              <a:ext uri="{FF2B5EF4-FFF2-40B4-BE49-F238E27FC236}">
                <a16:creationId xmlns:a16="http://schemas.microsoft.com/office/drawing/2014/main" id="{ED28A3B8-CC71-4BF8-90BE-AF1F4930F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關鍵發現</a:t>
            </a:r>
          </a:p>
        </p:txBody>
      </p:sp>
      <p:sp>
        <p:nvSpPr>
          <p:cNvPr id="18" name="內容_10_只加8公尺不夠，聯合控制才有">
            <a:extLst xmlns:a="http://schemas.openxmlformats.org/drawingml/2006/main">
              <a:ext uri="{FF2B5EF4-FFF2-40B4-BE49-F238E27FC236}">
                <a16:creationId xmlns:a16="http://schemas.microsoft.com/office/drawing/2014/main" id="{A1770B33-E149-4BEA-AF4B-7DA80D868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只加8公尺不夠，聯合控制才有效</a:t>
            </a:r>
          </a:p>
        </p:txBody>
      </p:sp>
      <p:graphicFrame>
        <p:nvGraphicFramePr>
          <p:cNvPr id="19" name="Chart">
            <a:extLst xmlns:a="http://schemas.openxmlformats.org/drawingml/2006/main">
              <a:ext uri="{FF2B5EF4-FFF2-40B4-BE49-F238E27FC236}">
                <a16:creationId xmlns:a16="http://schemas.microsoft.com/office/drawing/2014/main" id="{DF3ED47B-2A78-406C-B5B7-439175DBAAF7}"/>
              </a:ext>
            </a:extLst>
          </p:cNvPr>
          <p:cNvGraphicFramePr/>
          <p:nvPr/>
        </p:nvGraphicFramePr>
        <p:xfrm>
          <a:off xmlns:a="http://schemas.openxmlformats.org/drawingml/2006/main" x="1581150" y="4286250"/>
          <a:ext xmlns:a="http://schemas.openxmlformats.org/drawingml/2006/main" cx="68580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b4652f0c67847fd"/>
          </a:graphicData>
        </a:graphic>
      </p:graphicFrame>
      <p:graphicFrame>
        <p:nvGraphicFramePr>
          <p:cNvPr id="20" name="Chart">
            <a:extLst xmlns:a="http://schemas.openxmlformats.org/drawingml/2006/main">
              <a:ext uri="{FF2B5EF4-FFF2-40B4-BE49-F238E27FC236}">
                <a16:creationId xmlns:a16="http://schemas.microsoft.com/office/drawing/2014/main" id="{2E6AC4FB-BC3D-45C1-BE76-7B7D5E379FDC}"/>
              </a:ext>
            </a:extLst>
          </p:cNvPr>
          <p:cNvGraphicFramePr/>
          <p:nvPr/>
        </p:nvGraphicFramePr>
        <p:xfrm>
          <a:off xmlns:a="http://schemas.openxmlformats.org/drawingml/2006/main" x="9144000" y="4286250"/>
          <a:ext xmlns:a="http://schemas.openxmlformats.org/drawingml/2006/main" cx="68580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57ea65d73cb44ea"/>
          </a:graphicData>
        </a:graphic>
      </p:graphicFrame>
      <p:sp>
        <p:nvSpPr>
          <p:cNvPr id="21" name="內容_10_短波尖峰情境（S1）；現況（">
            <a:extLst xmlns:a="http://schemas.openxmlformats.org/drawingml/2006/main">
              <a:ext uri="{FF2B5EF4-FFF2-40B4-BE49-F238E27FC236}">
                <a16:creationId xmlns:a16="http://schemas.microsoft.com/office/drawing/2014/main" id="{8AC9BDFF-5EF1-415F-9E57-DE99875CB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短波尖峰情境（S1）；現況（P0）、僅加緩衝（P2）、聯合改善（P4）。僅加8公尺仍未達標。</a:t>
            </a:r>
          </a:p>
        </p:txBody>
      </p:sp>
    </p:spTree>
    <p:extLst>
      <p:ext uri="{BB962C8B-B14F-4D97-AF65-F5344CB8AC3E}">
        <p14:creationId xmlns:p14="http://schemas.microsoft.com/office/powerpoint/2010/main" val="210504879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634ADACA-BC0C-40A6-875B-0020F541D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1e4930a0ae54fc7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3C82EFFD-EE96-4EC8-AC57-A56C15F38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2AD50E75-50D0-4E3F-8584-545AD59C9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DDC7E139-F618-464A-B6AB-F9BCA02A5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752cb0d77f33468b"/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EF47C1AC-F5CC-4AF6-AF16-861D64B9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bdf5283835944bc">
              <a:extLst>
                <a:ext uri="{96DAC541-7B7A-43D3-8B79-37D633B846F1}">
                  <asvg:svgBlip xmlns:asvg="http://schemas.microsoft.com/office/drawing/2016/SVG/main" r:embed="R10e4827af7f2489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A41A37C4-2E6C-49BA-B20E-929EFB642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bdf5283835944bc">
              <a:extLst>
                <a:ext uri="{96DAC541-7B7A-43D3-8B79-37D633B846F1}">
                  <asvg:svgBlip xmlns:asvg="http://schemas.microsoft.com/office/drawing/2016/SVG/main" r:embed="R10e4827af7f2489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0268D963-39CB-4757-8AB4-66F988432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11733" y="4329430"/>
            <a:ext cx="3813204" cy="3796227"/>
          </a:xfrm>
          <a:custGeom xmlns:a="http://schemas.openxmlformats.org/drawingml/2006/main">
            <a:rect l="l" t="t" r="r" b="b"/>
            <a:pathLst>
              <a:path w="14906544" h="14840178">
                <a:moveTo>
                  <a:pt x="7453273" y="75"/>
                </a:moveTo>
                <a:cubicBezTo>
                  <a:pt x="4794451" y="-11816"/>
                  <a:pt x="2332496" y="1399825"/>
                  <a:pt x="999642" y="3700470"/>
                </a:cubicBezTo>
                <a:cubicBezTo>
                  <a:pt x="-333213" y="6001115"/>
                  <a:pt x="-333213" y="8839064"/>
                  <a:pt x="999642" y="11139709"/>
                </a:cubicBezTo>
                <a:cubicBezTo>
                  <a:pt x="2332496" y="13440354"/>
                  <a:pt x="4794451" y="14851995"/>
                  <a:pt x="7453273" y="14840104"/>
                </a:cubicBezTo>
                <a:cubicBezTo>
                  <a:pt x="10112093" y="14851995"/>
                  <a:pt x="12574049" y="13440354"/>
                  <a:pt x="13906904" y="11139709"/>
                </a:cubicBezTo>
                <a:cubicBezTo>
                  <a:pt x="15239758" y="8839064"/>
                  <a:pt x="15239758" y="6001115"/>
                  <a:pt x="13906904" y="3700470"/>
                </a:cubicBezTo>
                <a:cubicBezTo>
                  <a:pt x="12574049" y="1399825"/>
                  <a:pt x="10112093" y="-11816"/>
                  <a:pt x="7453273" y="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16CE1BD5-0360-4567-8084-CA625961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63221" y="4380689"/>
            <a:ext cx="3710226" cy="3693707"/>
          </a:xfrm>
          <a:custGeom xmlns:a="http://schemas.openxmlformats.org/drawingml/2006/main">
            <a:rect l="l" t="t" r="r" b="b"/>
            <a:pathLst>
              <a:path w="14503985" h="14439411">
                <a:moveTo>
                  <a:pt x="7251993" y="73"/>
                </a:moveTo>
                <a:cubicBezTo>
                  <a:pt x="4664974" y="-11497"/>
                  <a:pt x="2269506" y="1362022"/>
                  <a:pt x="972645" y="3600537"/>
                </a:cubicBezTo>
                <a:cubicBezTo>
                  <a:pt x="-324215" y="5839051"/>
                  <a:pt x="-324215" y="8600360"/>
                  <a:pt x="972645" y="10838875"/>
                </a:cubicBezTo>
                <a:cubicBezTo>
                  <a:pt x="2269506" y="13077389"/>
                  <a:pt x="4664974" y="14450908"/>
                  <a:pt x="7251993" y="14439338"/>
                </a:cubicBezTo>
                <a:cubicBezTo>
                  <a:pt x="9839011" y="14450908"/>
                  <a:pt x="12234479" y="13077389"/>
                  <a:pt x="13531340" y="10838875"/>
                </a:cubicBezTo>
                <a:cubicBezTo>
                  <a:pt x="14828201" y="8600360"/>
                  <a:pt x="14828201" y="5839051"/>
                  <a:pt x="13531340" y="3600537"/>
                </a:cubicBezTo>
                <a:cubicBezTo>
                  <a:pt x="12234479" y="1362022"/>
                  <a:pt x="9839011" y="-11497"/>
                  <a:pt x="7251993" y="73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CADE7767-BBCF-498B-99CF-C01444560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56144" y="4473198"/>
            <a:ext cx="3524380" cy="3508689"/>
          </a:xfrm>
          <a:custGeom xmlns:a="http://schemas.openxmlformats.org/drawingml/2006/main">
            <a:rect l="l" t="t" r="r" b="b"/>
            <a:pathLst>
              <a:path w="13777477" h="13716137">
                <a:moveTo>
                  <a:pt x="6888739" y="68"/>
                </a:moveTo>
                <a:cubicBezTo>
                  <a:pt x="4431305" y="-10922"/>
                  <a:pt x="2155826" y="1293797"/>
                  <a:pt x="923925" y="3420184"/>
                </a:cubicBezTo>
                <a:cubicBezTo>
                  <a:pt x="-307975" y="5546571"/>
                  <a:pt x="-307975" y="8169565"/>
                  <a:pt x="923925" y="10295952"/>
                </a:cubicBezTo>
                <a:cubicBezTo>
                  <a:pt x="2155826" y="12422339"/>
                  <a:pt x="4431305" y="13727058"/>
                  <a:pt x="6888739" y="13716068"/>
                </a:cubicBezTo>
                <a:cubicBezTo>
                  <a:pt x="9346172" y="13727058"/>
                  <a:pt x="11621651" y="12422339"/>
                  <a:pt x="12853552" y="10295952"/>
                </a:cubicBezTo>
                <a:cubicBezTo>
                  <a:pt x="14085452" y="8169565"/>
                  <a:pt x="14085452" y="5546571"/>
                  <a:pt x="12853552" y="3420184"/>
                </a:cubicBezTo>
                <a:cubicBezTo>
                  <a:pt x="11621651" y="1293797"/>
                  <a:pt x="9346172" y="-10922"/>
                  <a:pt x="6888739" y="68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4" name="Freeform 14">
            <a:extLst xmlns:a="http://schemas.openxmlformats.org/drawingml/2006/main">
              <a:ext uri="{FF2B5EF4-FFF2-40B4-BE49-F238E27FC236}">
                <a16:creationId xmlns:a16="http://schemas.microsoft.com/office/drawing/2014/main" id="{636A647E-C913-4432-B696-3AC51226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40157" y="4329430"/>
            <a:ext cx="3813204" cy="3796227"/>
          </a:xfrm>
          <a:custGeom xmlns:a="http://schemas.openxmlformats.org/drawingml/2006/main">
            <a:rect l="l" t="t" r="r" b="b"/>
            <a:pathLst>
              <a:path w="14906544" h="14840178">
                <a:moveTo>
                  <a:pt x="7453273" y="75"/>
                </a:moveTo>
                <a:cubicBezTo>
                  <a:pt x="4794451" y="-11816"/>
                  <a:pt x="2332496" y="1399825"/>
                  <a:pt x="999642" y="3700470"/>
                </a:cubicBezTo>
                <a:cubicBezTo>
                  <a:pt x="-333213" y="6001115"/>
                  <a:pt x="-333213" y="8839064"/>
                  <a:pt x="999642" y="11139709"/>
                </a:cubicBezTo>
                <a:cubicBezTo>
                  <a:pt x="2332496" y="13440354"/>
                  <a:pt x="4794451" y="14851995"/>
                  <a:pt x="7453273" y="14840104"/>
                </a:cubicBezTo>
                <a:cubicBezTo>
                  <a:pt x="10112093" y="14851995"/>
                  <a:pt x="12574049" y="13440354"/>
                  <a:pt x="13906904" y="11139709"/>
                </a:cubicBezTo>
                <a:cubicBezTo>
                  <a:pt x="15239758" y="8839064"/>
                  <a:pt x="15239758" y="6001115"/>
                  <a:pt x="13906904" y="3700470"/>
                </a:cubicBezTo>
                <a:cubicBezTo>
                  <a:pt x="12574049" y="1399825"/>
                  <a:pt x="10112093" y="-11816"/>
                  <a:pt x="7453273" y="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F110EB8E-04AA-4F7A-9AC1-F1AD2347D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91645" y="4380689"/>
            <a:ext cx="3710226" cy="3693707"/>
          </a:xfrm>
          <a:custGeom xmlns:a="http://schemas.openxmlformats.org/drawingml/2006/main">
            <a:rect l="l" t="t" r="r" b="b"/>
            <a:pathLst>
              <a:path w="14503985" h="14439411">
                <a:moveTo>
                  <a:pt x="7251993" y="73"/>
                </a:moveTo>
                <a:cubicBezTo>
                  <a:pt x="4664974" y="-11497"/>
                  <a:pt x="2269506" y="1362022"/>
                  <a:pt x="972645" y="3600537"/>
                </a:cubicBezTo>
                <a:cubicBezTo>
                  <a:pt x="-324215" y="5839051"/>
                  <a:pt x="-324215" y="8600360"/>
                  <a:pt x="972645" y="10838875"/>
                </a:cubicBezTo>
                <a:cubicBezTo>
                  <a:pt x="2269506" y="13077389"/>
                  <a:pt x="4664974" y="14450908"/>
                  <a:pt x="7251993" y="14439338"/>
                </a:cubicBezTo>
                <a:cubicBezTo>
                  <a:pt x="9839011" y="14450908"/>
                  <a:pt x="12234479" y="13077389"/>
                  <a:pt x="13531340" y="10838875"/>
                </a:cubicBezTo>
                <a:cubicBezTo>
                  <a:pt x="14828201" y="8600360"/>
                  <a:pt x="14828201" y="5839051"/>
                  <a:pt x="13531340" y="3600537"/>
                </a:cubicBezTo>
                <a:cubicBezTo>
                  <a:pt x="12234479" y="1362022"/>
                  <a:pt x="9839011" y="-11497"/>
                  <a:pt x="7251993" y="73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84D4DF41-D759-49DF-8817-D67046F83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484568" y="4473198"/>
            <a:ext cx="3524380" cy="3508689"/>
          </a:xfrm>
          <a:custGeom xmlns:a="http://schemas.openxmlformats.org/drawingml/2006/main">
            <a:rect l="l" t="t" r="r" b="b"/>
            <a:pathLst>
              <a:path w="13777477" h="13716137">
                <a:moveTo>
                  <a:pt x="6888739" y="68"/>
                </a:moveTo>
                <a:cubicBezTo>
                  <a:pt x="4431305" y="-10922"/>
                  <a:pt x="2155826" y="1293797"/>
                  <a:pt x="923925" y="3420184"/>
                </a:cubicBezTo>
                <a:cubicBezTo>
                  <a:pt x="-307975" y="5546571"/>
                  <a:pt x="-307975" y="8169565"/>
                  <a:pt x="923925" y="10295952"/>
                </a:cubicBezTo>
                <a:cubicBezTo>
                  <a:pt x="2155826" y="12422339"/>
                  <a:pt x="4431305" y="13727058"/>
                  <a:pt x="6888739" y="13716068"/>
                </a:cubicBezTo>
                <a:cubicBezTo>
                  <a:pt x="9346172" y="13727058"/>
                  <a:pt x="11621651" y="12422339"/>
                  <a:pt x="12853552" y="10295952"/>
                </a:cubicBezTo>
                <a:cubicBezTo>
                  <a:pt x="14085452" y="8169565"/>
                  <a:pt x="14085452" y="5546571"/>
                  <a:pt x="12853552" y="3420184"/>
                </a:cubicBezTo>
                <a:cubicBezTo>
                  <a:pt x="11621651" y="1293797"/>
                  <a:pt x="9346172" y="-10922"/>
                  <a:pt x="6888739" y="68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8" name="Freeform 18">
            <a:extLst xmlns:a="http://schemas.openxmlformats.org/drawingml/2006/main">
              <a:ext uri="{FF2B5EF4-FFF2-40B4-BE49-F238E27FC236}">
                <a16:creationId xmlns:a16="http://schemas.microsoft.com/office/drawing/2014/main" id="{5286E870-C520-4DF0-98E6-1BDD7CF1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269914" y="4329449"/>
            <a:ext cx="300038" cy="300038"/>
          </a:xfrm>
          <a:custGeom xmlns:a="http://schemas.openxmlformats.org/drawingml/2006/main">
            <a:rect l="l" t="t" r="r" b="b"/>
            <a:pathLst>
              <a:path w="79022" h="79022">
                <a:moveTo>
                  <a:pt x="0" y="0"/>
                </a:moveTo>
                <a:lnTo>
                  <a:pt x="79022" y="0"/>
                </a:lnTo>
                <a:lnTo>
                  <a:pt x="79022" y="79022"/>
                </a:lnTo>
                <a:lnTo>
                  <a:pt x="0" y="79022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0E7B3F4D-C138-4883-9355-E90208302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269914" y="4510275"/>
            <a:ext cx="300038" cy="1192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6DF1B052-27BD-405E-A365-429D298CF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301E0083-C78B-40C2-A0C6-5F08DFAE2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11</a:t>
            </a:r>
          </a:p>
        </p:txBody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EFF7BFF4-1C02-4A14-85A0-7B628FC6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96381" y="2306473"/>
            <a:ext cx="3400168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847F8F48-D724-479C-9390-AD32BE96B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49979" y="2306473"/>
            <a:ext cx="5922577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AEE81234-F17E-4329-9253-E68B8C8C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9914" y="4741578"/>
            <a:ext cx="1888248" cy="4541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576"/>
              </a:lnSpc>
              <a:buNone/>
            </a:pPr>
            <a:r>
              <a:rPr sz="2751" b="1">
                <a:solidFill>
                  <a:srgbClr val="C9BBE8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25" name="TextBox 25">
            <a:extLst xmlns:a="http://schemas.openxmlformats.org/drawingml/2006/main">
              <a:ext uri="{FF2B5EF4-FFF2-40B4-BE49-F238E27FC236}">
                <a16:creationId xmlns:a16="http://schemas.microsoft.com/office/drawing/2014/main" id="{3C0CB8E7-D299-4849-B7FD-75713D6D8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9914" y="5899065"/>
            <a:ext cx="2323967" cy="2830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29"/>
              </a:lnSpc>
              <a:spcBef>
                <a:spcPct val="0"/>
              </a:spcBef>
              <a:buNone/>
            </a:pPr>
            <a:r>
              <a:rPr sz="1592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7" name="Freeform 27">
            <a:extLst xmlns:a="http://schemas.openxmlformats.org/drawingml/2006/main">
              <a:ext uri="{FF2B5EF4-FFF2-40B4-BE49-F238E27FC236}">
                <a16:creationId xmlns:a16="http://schemas.microsoft.com/office/drawing/2014/main" id="{09D518D5-B8DC-4C27-B98A-D32DDF67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3467937" y="4329449"/>
            <a:ext cx="300038" cy="300038"/>
          </a:xfrm>
          <a:custGeom xmlns:a="http://schemas.openxmlformats.org/drawingml/2006/main">
            <a:rect l="l" t="t" r="r" b="b"/>
            <a:pathLst>
              <a:path w="79022" h="79022">
                <a:moveTo>
                  <a:pt x="0" y="0"/>
                </a:moveTo>
                <a:lnTo>
                  <a:pt x="79022" y="0"/>
                </a:lnTo>
                <a:lnTo>
                  <a:pt x="79022" y="79022"/>
                </a:lnTo>
                <a:lnTo>
                  <a:pt x="0" y="79022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102CECA3-7A9B-4521-9E2E-A4636BAB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3467937" y="4510275"/>
            <a:ext cx="300038" cy="1192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8C76406D-6194-4BE5-8B2F-65EE0BF4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467937" y="4741578"/>
            <a:ext cx="1888248" cy="4541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576"/>
              </a:lnSpc>
              <a:buNone/>
            </a:pPr>
            <a:r>
              <a:rPr sz="2751" b="1">
                <a:solidFill>
                  <a:srgbClr val="C9BBE8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30" name="TextBox 30">
            <a:extLst xmlns:a="http://schemas.openxmlformats.org/drawingml/2006/main">
              <a:ext uri="{FF2B5EF4-FFF2-40B4-BE49-F238E27FC236}">
                <a16:creationId xmlns:a16="http://schemas.microsoft.com/office/drawing/2014/main" id="{91B98A1A-A9B5-429C-AF29-04ED10055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467937" y="5899065"/>
            <a:ext cx="2323967" cy="2830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29"/>
              </a:lnSpc>
              <a:spcBef>
                <a:spcPct val="0"/>
              </a:spcBef>
              <a:buNone/>
            </a:pPr>
            <a:r>
              <a:rPr sz="1592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31" name="內容_11_改善方案的實驗比較">
            <a:extLst xmlns:a="http://schemas.openxmlformats.org/drawingml/2006/main">
              <a:ext uri="{FF2B5EF4-FFF2-40B4-BE49-F238E27FC236}">
                <a16:creationId xmlns:a16="http://schemas.microsoft.com/office/drawing/2014/main" id="{96019FC4-6853-4445-8EDC-45766785C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改善方案的實驗比較</a:t>
            </a:r>
          </a:p>
        </p:txBody>
      </p:sp>
      <p:sp>
        <p:nvSpPr>
          <p:cNvPr id="32" name="內容_11_緩衝與調派必須一起評估">
            <a:extLst xmlns:a="http://schemas.openxmlformats.org/drawingml/2006/main">
              <a:ext uri="{FF2B5EF4-FFF2-40B4-BE49-F238E27FC236}">
                <a16:creationId xmlns:a16="http://schemas.microsoft.com/office/drawing/2014/main" id="{D57123C4-FDB6-4CF2-BBA3-9865BE89F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緩衝與調派必須一起評估</a:t>
            </a:r>
          </a:p>
        </p:txBody>
      </p:sp>
      <p:graphicFrame>
        <p:nvGraphicFramePr>
          <p:cNvPr id="33" name="Chart">
            <a:extLst xmlns:a="http://schemas.openxmlformats.org/drawingml/2006/main">
              <a:ext uri="{FF2B5EF4-FFF2-40B4-BE49-F238E27FC236}">
                <a16:creationId xmlns:a16="http://schemas.microsoft.com/office/drawing/2014/main" id="{0007E567-096A-4407-A980-2D1B008D07F2}"/>
              </a:ext>
            </a:extLst>
          </p:cNvPr>
          <p:cNvGraphicFramePr/>
          <p:nvPr/>
        </p:nvGraphicFramePr>
        <p:xfrm>
          <a:off xmlns:a="http://schemas.openxmlformats.org/drawingml/2006/main" x="1581150" y="4238625"/>
          <a:ext xmlns:a="http://schemas.openxmlformats.org/drawingml/2006/main" cx="14287500" cy="3286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7b70b3d5f474e26"/>
          </a:graphicData>
        </a:graphic>
      </p:graphicFrame>
      <p:sp>
        <p:nvSpPr>
          <p:cNvPr id="34" name="內容_11_3種情境 × 15種處方／長">
            <a:extLst xmlns:a="http://schemas.openxmlformats.org/drawingml/2006/main">
              <a:ext uri="{FF2B5EF4-FFF2-40B4-BE49-F238E27FC236}">
                <a16:creationId xmlns:a16="http://schemas.microsoft.com/office/drawing/2014/main" id="{E301F862-5F90-4655-AB3E-ADA4CB5F8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3種情境 × 15種處方／長度 × 30次；各跑7日、暖機24小時。0公尺採實際旁路，非隱藏容量。</a:t>
            </a:r>
          </a:p>
        </p:txBody>
      </p:sp>
    </p:spTree>
    <p:extLst>
      <p:ext uri="{BB962C8B-B14F-4D97-AF65-F5344CB8AC3E}">
        <p14:creationId xmlns:p14="http://schemas.microsoft.com/office/powerpoint/2010/main" val="92547820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5567F26E-B2F6-48DE-B6FC-84E7E5FC0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1720538b893d4c4d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30058F0E-5F7D-4BA1-A681-728CD298F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96A85D41-5A7B-4E6F-8498-BD4977193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E0525A6F-C852-4D2F-AF8F-C7ACCB48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b4389401a784ae9"/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A6B43337-207D-403A-BDBC-3D5DB124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45285" y="2066012"/>
            <a:ext cx="4796896" cy="608841"/>
          </a:xfrm>
          <a:custGeom xmlns:a="http://schemas.openxmlformats.org/drawingml/2006/main">
            <a:rect l="l" t="t" r="r" b="b"/>
            <a:pathLst>
              <a:path w="3201916" h="406400">
                <a:moveTo>
                  <a:pt x="2998716" y="0"/>
                </a:moveTo>
                <a:cubicBezTo>
                  <a:pt x="3110941" y="0"/>
                  <a:pt x="3201916" y="90976"/>
                  <a:pt x="3201916" y="203200"/>
                </a:cubicBezTo>
                <a:cubicBezTo>
                  <a:pt x="3201916" y="315424"/>
                  <a:pt x="3110941" y="406400"/>
                  <a:pt x="2998716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3878D39F-8E89-4C31-B4F1-DA509B13C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45285" y="2137360"/>
            <a:ext cx="4796896" cy="53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C4331467-BDF3-4CC5-A5CA-2EA07A598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33839" y="2179447"/>
            <a:ext cx="320992" cy="320993"/>
          </a:xfrm>
          <a:custGeom xmlns:a="http://schemas.openxmlformats.org/drawingml/2006/main">
            <a:rect l="l" t="t" r="r" b="b"/>
            <a:pathLst>
              <a:path w="320992" h="320993">
                <a:moveTo>
                  <a:pt x="0" y="0"/>
                </a:moveTo>
                <a:lnTo>
                  <a:pt x="320993" y="0"/>
                </a:lnTo>
                <a:lnTo>
                  <a:pt x="320993" y="320992"/>
                </a:lnTo>
                <a:lnTo>
                  <a:pt x="0" y="320992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A2429DCE-F6F1-4B5C-9FD5-8E7F6D81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45285" y="5228195"/>
            <a:ext cx="4796896" cy="608841"/>
          </a:xfrm>
          <a:custGeom xmlns:a="http://schemas.openxmlformats.org/drawingml/2006/main">
            <a:rect l="l" t="t" r="r" b="b"/>
            <a:pathLst>
              <a:path w="3201916" h="406400">
                <a:moveTo>
                  <a:pt x="2998716" y="0"/>
                </a:moveTo>
                <a:cubicBezTo>
                  <a:pt x="3110941" y="0"/>
                  <a:pt x="3201916" y="90976"/>
                  <a:pt x="3201916" y="203200"/>
                </a:cubicBezTo>
                <a:cubicBezTo>
                  <a:pt x="3201916" y="315424"/>
                  <a:pt x="3110941" y="406400"/>
                  <a:pt x="2998716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58E3C7B9-167A-4333-B579-DBAB3ED4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45285" y="5299543"/>
            <a:ext cx="4796896" cy="53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14" name="Freeform 14">
            <a:extLst xmlns:a="http://schemas.openxmlformats.org/drawingml/2006/main">
              <a:ext uri="{FF2B5EF4-FFF2-40B4-BE49-F238E27FC236}">
                <a16:creationId xmlns:a16="http://schemas.microsoft.com/office/drawing/2014/main" id="{8D78BCF3-A4AA-4DA6-B892-A6FE974B8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33839" y="5384737"/>
            <a:ext cx="320992" cy="320992"/>
          </a:xfrm>
          <a:custGeom xmlns:a="http://schemas.openxmlformats.org/drawingml/2006/main">
            <a:rect l="l" t="t" r="r" b="b"/>
            <a:pathLst>
              <a:path w="320992" h="320992">
                <a:moveTo>
                  <a:pt x="0" y="0"/>
                </a:moveTo>
                <a:lnTo>
                  <a:pt x="320993" y="0"/>
                </a:lnTo>
                <a:lnTo>
                  <a:pt x="320993" y="320993"/>
                </a:lnTo>
                <a:lnTo>
                  <a:pt x="0" y="320993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88DE9B9F-9373-4E68-BF15-1B689EFA2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98862" y="5143500"/>
            <a:ext cx="4734156" cy="3535291"/>
          </a:xfrm>
          <a:custGeom xmlns:a="http://schemas.openxmlformats.org/drawingml/2006/main">
            <a:rect l="l" t="t" r="r" b="b"/>
            <a:pathLst>
              <a:path w="4734156" h="3535291">
                <a:moveTo>
                  <a:pt x="0" y="0"/>
                </a:moveTo>
                <a:lnTo>
                  <a:pt x="4734157" y="0"/>
                </a:lnTo>
                <a:lnTo>
                  <a:pt x="4734157" y="3535291"/>
                </a:lnTo>
                <a:lnTo>
                  <a:pt x="0" y="3535291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9DF9D66C-41DA-4A97-9BBE-FCB9FC837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40376" y="3448422"/>
            <a:ext cx="7580571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28CBBE2E-B993-46FD-AB4F-FB84E14AC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21927A1B-B4E0-49E9-9FF0-6040FEA30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12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4A147D38-718C-4400-8AE0-AB4959067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40376" y="2391147"/>
            <a:ext cx="5408227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931AEB59-EC1D-4946-A051-5DF7D8A3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22362" y="2911009"/>
            <a:ext cx="7822954" cy="3817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006"/>
              </a:lnSpc>
              <a:spcBef>
                <a:spcPct val="0"/>
              </a:spcBef>
              <a:buNone/>
            </a:pPr>
            <a:r>
              <a:rPr sz="214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E59BB929-BF35-401D-A790-2D126B23C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02472" y="2129156"/>
            <a:ext cx="3554290" cy="43294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409"/>
              </a:lnSpc>
              <a:spcBef>
                <a:spcPct val="0"/>
              </a:spcBef>
              <a:buNone/>
            </a:pPr>
            <a:r>
              <a:rPr sz="24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F4F6C722-42E7-46C5-BA94-567D0B2E6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22362" y="6073192"/>
            <a:ext cx="7822954" cy="3817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006"/>
              </a:lnSpc>
              <a:spcBef>
                <a:spcPct val="0"/>
              </a:spcBef>
              <a:buNone/>
            </a:pPr>
            <a:r>
              <a:rPr sz="214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B392AF73-E5B9-4F04-A4FE-3D9DE6C77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02472" y="5291339"/>
            <a:ext cx="3554290" cy="43294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409"/>
              </a:lnSpc>
              <a:spcBef>
                <a:spcPct val="0"/>
              </a:spcBef>
              <a:buNone/>
            </a:pPr>
            <a:r>
              <a:rPr sz="24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4" name="內容_12_主推：聯合改善＋12公尺緩衝">
            <a:extLst xmlns:a="http://schemas.openxmlformats.org/drawingml/2006/main">
              <a:ext uri="{FF2B5EF4-FFF2-40B4-BE49-F238E27FC236}">
                <a16:creationId xmlns:a16="http://schemas.microsoft.com/office/drawing/2014/main" id="{230A7A05-4493-4B05-87F4-70A2E4ED7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主推：聯合改善＋12公尺緩衝</a:t>
            </a:r>
          </a:p>
        </p:txBody>
      </p:sp>
      <p:sp>
        <p:nvSpPr>
          <p:cNvPr id="25" name="內容_12_有服務要求才採用，8公尺為備">
            <a:extLst xmlns:a="http://schemas.openxmlformats.org/drawingml/2006/main">
              <a:ext uri="{FF2B5EF4-FFF2-40B4-BE49-F238E27FC236}">
                <a16:creationId xmlns:a16="http://schemas.microsoft.com/office/drawing/2014/main" id="{A5FEAB65-2526-4376-B57C-EF781A70B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有服務要求才採用，8公尺為備選</a:t>
            </a:r>
          </a:p>
        </p:txBody>
      </p:sp>
      <p:graphicFrame>
        <p:nvGraphicFrame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F5C192-F1BD-4A33-8676-09B76ECAA20B}"/>
              </a:ext>
            </a:extLst>
          </p:cNvPr>
          <p:cNvGraphicFramePr/>
          <p:nvPr/>
        </p:nvGraphicFramePr>
        <p:xfrm>
          <a:off xmlns:a="http://schemas.openxmlformats.org/drawingml/2006/main" x="1581150" y="4333875"/>
          <a:ext xmlns:a="http://schemas.openxmlformats.org/drawingml/2006/main" cx="142875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71875"/>
                <a:gridCol w="3571875"/>
                <a:gridCol w="3571875"/>
                <a:gridCol w="3571875"/>
              </a:tblGrid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短波尖峰指標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改善前：現況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備選：聯合8公尺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主推：聯合12公尺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</a:tr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阻塞占比（%）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12.22 [11.37, 13.07]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0.95 [0.78, 1.12]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0.71 [0.57, 0.86]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平均檢查前等待（分鐘）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19.71 [17.79, 21.63]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5.52 [5.25, 5.78]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5.01 [4.77, 5.26]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結案率下界 %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99.82 [99.76, 99.88]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99.94 [99.93, 99.95]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99.94 [99.93, 99.95]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初始投資（新臺幣元）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80,000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120,000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</a:tbl>
          </a:graphicData>
        </a:graphic>
      </p:graphicFrame>
      <p:sp>
        <p:nvSpPr>
          <p:cNvPr id="27" name="內容_12_本表是短波尖峰情境；各方案3">
            <a:extLst xmlns:a="http://schemas.openxmlformats.org/drawingml/2006/main">
              <a:ext uri="{FF2B5EF4-FFF2-40B4-BE49-F238E27FC236}">
                <a16:creationId xmlns:a16="http://schemas.microsoft.com/office/drawing/2014/main" id="{38DDEFC2-CDCF-4DF6-8C80-60ABE471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971925"/>
            <a:ext cx="1428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本表是短波尖峰情境；各方案30次平均 [95%信賴下界, 上界]。</a:t>
            </a:r>
          </a:p>
        </p:txBody>
      </p:sp>
      <p:sp>
        <p:nvSpPr>
          <p:cNvPr id="28" name="內容_12_主推12公尺採額外信賴區間上">
            <a:extLst xmlns:a="http://schemas.openxmlformats.org/drawingml/2006/main">
              <a:ext uri="{FF2B5EF4-FFF2-40B4-BE49-F238E27FC236}">
                <a16:creationId xmlns:a16="http://schemas.microsoft.com/office/drawing/2014/main" id="{EF4DEDA7-9410-4E39-9793-EE2213A14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主推12公尺採額外信賴區間上界&lt;1%的服務風險限制；8公尺僅符合原均值規則。兩者直接投資報酬率均為負。</a:t>
            </a:r>
          </a:p>
        </p:txBody>
      </p:sp>
    </p:spTree>
    <p:extLst>
      <p:ext uri="{BB962C8B-B14F-4D97-AF65-F5344CB8AC3E}">
        <p14:creationId xmlns:p14="http://schemas.microsoft.com/office/powerpoint/2010/main" val="207011824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F2F480D8-15F0-4D7C-9490-73F364B5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cd8c87b54d94920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48061CFB-CE20-4464-972B-A3AE113AB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88BA951C-7482-4932-A188-116A959A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BBCD2865-3592-4F8B-B4D0-055081BA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aed0ec5a49b4f1f"/>
            <a:stretch>
              <a:fillRect l="0" t="0" r="0" b="0"/>
            </a:stretch>
          </a:blip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796FC870-D1A1-4FE4-B7E8-678B4272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B2179683-B33E-48ED-AFED-84730EDF1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13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33864A15-0227-46AE-B76A-8D34788F6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3491085"/>
            <a:ext cx="8762872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9F1BCBFE-5FBA-4895-B7A0-87E9729E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2462385"/>
            <a:ext cx="4108065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3501A4EC-3643-4B9A-9678-38348BBB0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57346" y="4932854"/>
            <a:ext cx="8494452" cy="4119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244"/>
              </a:lnSpc>
              <a:spcBef>
                <a:spcPct val="0"/>
              </a:spcBef>
              <a:buNone/>
            </a:pPr>
            <a:r>
              <a:rPr sz="231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0F3344E4-0B3B-4533-854F-D7960523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612502" y="1456474"/>
            <a:ext cx="3246603" cy="3246603"/>
          </a:xfrm>
          <a:custGeom xmlns:a="http://schemas.openxmlformats.org/drawingml/2006/main">
            <a:rect l="l" t="t" r="r" b="b"/>
            <a:pathLst>
              <a:path w="3246603" h="3246603">
                <a:moveTo>
                  <a:pt x="0" y="0"/>
                </a:moveTo>
                <a:lnTo>
                  <a:pt x="3246603" y="0"/>
                </a:lnTo>
                <a:lnTo>
                  <a:pt x="3246603" y="3246602"/>
                </a:lnTo>
                <a:lnTo>
                  <a:pt x="0" y="3246602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4" name="Freeform 14">
            <a:extLst xmlns:a="http://schemas.openxmlformats.org/drawingml/2006/main">
              <a:ext uri="{FF2B5EF4-FFF2-40B4-BE49-F238E27FC236}">
                <a16:creationId xmlns:a16="http://schemas.microsoft.com/office/drawing/2014/main" id="{D872FBC6-018C-47F2-9D7B-3D7978C6D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049013" y="1924868"/>
            <a:ext cx="2575779" cy="2309814"/>
          </a:xfrm>
          <a:custGeom xmlns:a="http://schemas.openxmlformats.org/drawingml/2006/main">
            <a:rect l="l" t="t" r="r" b="b"/>
            <a:pathLst>
              <a:path w="812800" h="728874">
                <a:moveTo>
                  <a:pt x="0" y="0"/>
                </a:moveTo>
                <a:lnTo>
                  <a:pt x="812800" y="0"/>
                </a:lnTo>
                <a:lnTo>
                  <a:pt x="812800" y="728874"/>
                </a:lnTo>
                <a:lnTo>
                  <a:pt x="0" y="728874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92598141-94E4-48F2-BDE9-13BE90EF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713601" y="4934397"/>
            <a:ext cx="3246603" cy="3246603"/>
          </a:xfrm>
          <a:custGeom xmlns:a="http://schemas.openxmlformats.org/drawingml/2006/main">
            <a:rect l="l" t="t" r="r" b="b"/>
            <a:pathLst>
              <a:path w="3246603" h="3246603">
                <a:moveTo>
                  <a:pt x="0" y="0"/>
                </a:moveTo>
                <a:lnTo>
                  <a:pt x="3246602" y="0"/>
                </a:lnTo>
                <a:lnTo>
                  <a:pt x="3246602" y="3246603"/>
                </a:lnTo>
                <a:lnTo>
                  <a:pt x="0" y="3246603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7" name="Freeform 17">
            <a:extLst xmlns:a="http://schemas.openxmlformats.org/drawingml/2006/main">
              <a:ext uri="{FF2B5EF4-FFF2-40B4-BE49-F238E27FC236}">
                <a16:creationId xmlns:a16="http://schemas.microsoft.com/office/drawing/2014/main" id="{E4B4D9FE-D2B1-4D5F-AB5F-84BBF1AD6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50111" y="5402791"/>
            <a:ext cx="2575779" cy="2309814"/>
          </a:xfrm>
          <a:custGeom xmlns:a="http://schemas.openxmlformats.org/drawingml/2006/main">
            <a:rect l="l" t="t" r="r" b="b"/>
            <a:pathLst>
              <a:path w="812800" h="728874">
                <a:moveTo>
                  <a:pt x="0" y="0"/>
                </a:moveTo>
                <a:lnTo>
                  <a:pt x="812800" y="0"/>
                </a:lnTo>
                <a:lnTo>
                  <a:pt x="812800" y="728874"/>
                </a:lnTo>
                <a:lnTo>
                  <a:pt x="0" y="728874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8" name="內容_13_財務：投資與營運分開">
            <a:extLst xmlns:a="http://schemas.openxmlformats.org/drawingml/2006/main">
              <a:ext uri="{FF2B5EF4-FFF2-40B4-BE49-F238E27FC236}">
                <a16:creationId xmlns:a16="http://schemas.microsoft.com/office/drawing/2014/main" id="{62D4E8F8-8F46-4F5A-AD2B-B02123CB8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財務：投資與營運分開</a:t>
            </a:r>
          </a:p>
        </p:txBody>
      </p:sp>
      <p:sp>
        <p:nvSpPr>
          <p:cNvPr id="19" name="內容_13_服務改善，仍無正向回收期">
            <a:extLst xmlns:a="http://schemas.openxmlformats.org/drawingml/2006/main">
              <a:ext uri="{FF2B5EF4-FFF2-40B4-BE49-F238E27FC236}">
                <a16:creationId xmlns:a16="http://schemas.microsoft.com/office/drawing/2014/main" id="{80F35FFC-3835-48D6-826D-D503C07D5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服務改善，仍無正向回收期</a:t>
            </a:r>
          </a:p>
        </p:txBody>
      </p:sp>
      <p:graphicFrame>
        <p:nvGraphicFrame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2D627E-B926-42E4-B570-85915CB383B8}"/>
              </a:ext>
            </a:extLst>
          </p:cNvPr>
          <p:cNvGraphicFramePr/>
          <p:nvPr/>
        </p:nvGraphicFramePr>
        <p:xfrm>
          <a:off xmlns:a="http://schemas.openxmlformats.org/drawingml/2006/main" x="1581150" y="4333875"/>
          <a:ext xmlns:a="http://schemas.openxmlformats.org/drawingml/2006/main" cx="142875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4762500"/>
                <a:gridCol w="4762500"/>
              </a:tblGrid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財務指標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備選：聯合8公尺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主推：聯合12公尺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</a:tr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初始投資（元）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80,000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120,000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比第二台洗機少投資（元）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1,420,000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1,380,000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比現況年淨效益（元）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-64,374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-50,937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投資報酬率／回收年限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-80.47%／無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-42.45%／無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</a:tbl>
          </a:graphicData>
        </a:graphic>
      </p:graphicFrame>
      <p:sp>
        <p:nvSpPr>
          <p:cNvPr id="21" name="內容_13_主實驗 1350次的24小時">
            <a:extLst xmlns:a="http://schemas.openxmlformats.org/drawingml/2006/main">
              <a:ext uri="{FF2B5EF4-FFF2-40B4-BE49-F238E27FC236}">
                <a16:creationId xmlns:a16="http://schemas.microsoft.com/office/drawing/2014/main" id="{C3576F85-5782-49A4-8BF0-27A1B1659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主實驗 1350次的24小時損失全為0，沒有這項可省收益；12公尺包材節約39.17%仍未達65%。</a:t>
            </a:r>
          </a:p>
        </p:txBody>
      </p:sp>
    </p:spTree>
    <p:extLst>
      <p:ext uri="{BB962C8B-B14F-4D97-AF65-F5344CB8AC3E}">
        <p14:creationId xmlns:p14="http://schemas.microsoft.com/office/powerpoint/2010/main" val="50516214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8D6DB995-EB65-47C7-8DF8-88470F4E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f9474f771fc4cc2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6E543763-9501-4D5D-B573-E49A4BA8E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8C2CE558-5BBD-4B02-A951-D676162A9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2526EC2C-EE7A-44D7-B005-E9942C38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8827a7bdd5c4962"/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0B82C4C2-0B38-46A0-BDA3-A9ACC6AFF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3967673" h="8229600">
                <a:moveTo>
                  <a:pt x="0" y="0"/>
                </a:moveTo>
                <a:lnTo>
                  <a:pt x="3967673" y="0"/>
                </a:lnTo>
                <a:lnTo>
                  <a:pt x="396767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AA0282DC-0AB0-4628-A9D9-3D9EF4F68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A2ECCAB4-C87A-4039-84B0-12205D051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14</a:t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3FB23778-980B-4E59-96F2-EA802896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60897" y="3485662"/>
            <a:ext cx="5543293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384F8092-3AA9-4358-A9C1-CBFBE1180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60897" y="2399812"/>
            <a:ext cx="6951277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7384B6DC-1605-4529-941A-5F4F87180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60897" y="4932854"/>
            <a:ext cx="8494452" cy="4119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244"/>
              </a:lnSpc>
              <a:spcBef>
                <a:spcPct val="0"/>
              </a:spcBef>
              <a:buNone/>
            </a:pPr>
            <a:r>
              <a:rPr sz="231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A2B0DEF3-1782-4B4A-82A3-4F697C621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2122125" y="2693077"/>
            <a:ext cx="4240473" cy="4240473"/>
          </a:xfrm>
          <a:custGeom xmlns:a="http://schemas.openxmlformats.org/drawingml/2006/main">
            <a:rect l="l" t="t" r="r" b="b"/>
            <a:pathLst>
              <a:path w="4240473" h="4240473">
                <a:moveTo>
                  <a:pt x="4240473" y="0"/>
                </a:moveTo>
                <a:lnTo>
                  <a:pt x="0" y="0"/>
                </a:lnTo>
                <a:lnTo>
                  <a:pt x="0" y="4240473"/>
                </a:lnTo>
                <a:lnTo>
                  <a:pt x="4240473" y="4240473"/>
                </a:lnTo>
                <a:lnTo>
                  <a:pt x="4240473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4" name="內容_14_展示：指標要可比較">
            <a:extLst xmlns:a="http://schemas.openxmlformats.org/drawingml/2006/main">
              <a:ext uri="{FF2B5EF4-FFF2-40B4-BE49-F238E27FC236}">
                <a16:creationId xmlns:a16="http://schemas.microsoft.com/office/drawing/2014/main" id="{D78BD11C-CA9C-4EB3-A3FC-4F396D6E1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展示：指標要可比較</a:t>
            </a:r>
          </a:p>
        </p:txBody>
      </p:sp>
      <p:sp>
        <p:nvSpPr>
          <p:cNvPr id="15" name="內容_14_設備占比熱圖，取代含糊著色">
            <a:extLst xmlns:a="http://schemas.openxmlformats.org/drawingml/2006/main">
              <a:ext uri="{FF2B5EF4-FFF2-40B4-BE49-F238E27FC236}">
                <a16:creationId xmlns:a16="http://schemas.microsoft.com/office/drawing/2014/main" id="{0DB22683-5414-46F0-B28F-1234C80C4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設備占比熱圖，取代含糊著色</a:t>
            </a:r>
          </a:p>
        </p:txBody>
      </p:sp>
      <p:sp>
        <p:nvSpPr>
          <p:cNvPr id="16" name="內容_14_前＝改善前現況；後＝12公尺">
            <a:extLst xmlns:a="http://schemas.openxmlformats.org/drawingml/2006/main">
              <a:ext uri="{FF2B5EF4-FFF2-40B4-BE49-F238E27FC236}">
                <a16:creationId xmlns:a16="http://schemas.microsoft.com/office/drawing/2014/main" id="{B91D2C83-7A45-4DFA-8EDA-57C432CEF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000500"/>
            <a:ext cx="1000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前＝改善前現況；後＝12公尺聯合改善。加工指工作中，阻塞指下游不接收。</a:t>
            </a:r>
          </a:p>
        </p:txBody>
      </p:sp>
      <p:graphicFrame>
        <p:nvGraphicFrame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A35A7F-74D1-4BEF-B5AE-B006FD3B90A8}"/>
              </a:ext>
            </a:extLst>
          </p:cNvPr>
          <p:cNvGraphicFramePr/>
          <p:nvPr/>
        </p:nvGraphicFramePr>
        <p:xfrm>
          <a:off xmlns:a="http://schemas.openxmlformats.org/drawingml/2006/main" x="1581150" y="4381500"/>
          <a:ext xmlns:a="http://schemas.openxmlformats.org/drawingml/2006/main" cx="93345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166813"/>
                <a:gridCol w="1166813"/>
                <a:gridCol w="1166813"/>
                <a:gridCol w="1166813"/>
                <a:gridCol w="1166813"/>
                <a:gridCol w="1166813"/>
                <a:gridCol w="1166813"/>
                <a:gridCol w="1166813"/>
              </a:tblGrid>
              <a:tr h="60960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指標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清洗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拆包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品質檢查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整新一站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整新二站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A級整理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報廢站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</a:tr>
              <a:tr h="60960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前加工%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68.57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722468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18.38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11538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91.10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8F2A7D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48.90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591E55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28.01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D1841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20.87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4163A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14.67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2C1434"/>
                    </a:solidFill>
                  </a:tcPr>
                </a:tc>
              </a:tr>
              <a:tr h="60960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後加工%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68.55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722468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20.91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4163A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87.28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8A297A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50.71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5B1F5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26.25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B183F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20.97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4163A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14.68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2C1434"/>
                    </a:solidFill>
                  </a:tcPr>
                </a:tc>
              </a:tr>
              <a:tr h="60960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前阻塞%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191026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3.00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882978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0.37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271330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191026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191026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191026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191026"/>
                    </a:solidFill>
                  </a:tcPr>
                </a:tc>
              </a:tr>
              <a:tr h="60960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後阻塞%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191026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191026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0.51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2C1434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191026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191026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191026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191026"/>
                    </a:solidFill>
                  </a:tcPr>
                </a:tc>
              </a:tr>
            </a:tbl>
          </a:graphicData>
        </a:graphic>
      </p:graphicFrame>
      <p:sp>
        <p:nvSpPr>
          <p:cNvPr id="18" name="內容_14_加工色階0–100%；阻塞色">
            <a:extLst xmlns:a="http://schemas.openxmlformats.org/drawingml/2006/main">
              <a:ext uri="{FF2B5EF4-FFF2-40B4-BE49-F238E27FC236}">
                <a16:creationId xmlns:a16="http://schemas.microsoft.com/office/drawing/2014/main" id="{07C710AB-5B78-48BE-990A-05BA50FE6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7524750"/>
            <a:ext cx="952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加工色階0–100%；阻塞色階0–3.5%。</a:t>
            </a:r>
          </a:p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同隨機種子101、同116100秒的累計占比。</a:t>
            </a:r>
          </a:p>
        </p:txBody>
      </p:sp>
      <p:sp>
        <p:nvSpPr>
          <p:cNvPr id="19" name="內容_14_在製量趨勢／清洗狀態">
            <a:extLst xmlns:a="http://schemas.openxmlformats.org/drawingml/2006/main">
              <a:ext uri="{FF2B5EF4-FFF2-40B4-BE49-F238E27FC236}">
                <a16:creationId xmlns:a16="http://schemas.microsoft.com/office/drawing/2014/main" id="{EA939E67-684E-47A0-B829-CA97C8338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40957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rPr>
              <a:t>在製量趨勢／清洗狀態</a:t>
            </a: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41449D-0E43-48CE-B79A-50DB82BCFE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2029037ac44ae3"/>
          <a:srcRect xmlns:a="http://schemas.openxmlformats.org/drawingml/2006/main" l="0" t="53500" r="10000" b="7000"/>
          <a:stretch xmlns:a="http://schemas.openxmlformats.org/drawingml/2006/main"/>
        </p:blipFill>
        <p:spPr>
          <a:xfrm xmlns:a="http://schemas.openxmlformats.org/drawingml/2006/main">
            <a:off x="11430000" y="4572000"/>
            <a:ext cx="4762500" cy="2857500"/>
          </a:xfrm>
          <a:prstGeom xmlns:a="http://schemas.openxmlformats.org/drawingml/2006/main" prst="rect">
            <a:avLst/>
          </a:prstGeom>
        </p:spPr>
      </p:pic>
      <p:sp>
        <p:nvSpPr>
          <p:cNvPr id="21" name="內容_14_3D圖改稱設備績效著色截圖。">
            <a:extLst xmlns:a="http://schemas.openxmlformats.org/drawingml/2006/main">
              <a:ext uri="{FF2B5EF4-FFF2-40B4-BE49-F238E27FC236}">
                <a16:creationId xmlns:a16="http://schemas.microsoft.com/office/drawing/2014/main" id="{44565EE0-CBCF-44C6-AA04-16B56FEA0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3D圖改稱設備績效著色截圖。「循環箱出庫占比100%」由模型結構保證，不列為改善成果。</a:t>
            </a:r>
          </a:p>
        </p:txBody>
      </p:sp>
    </p:spTree>
    <p:extLst>
      <p:ext uri="{BB962C8B-B14F-4D97-AF65-F5344CB8AC3E}">
        <p14:creationId xmlns:p14="http://schemas.microsoft.com/office/powerpoint/2010/main" val="80269582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FD26DB9C-D3E6-42C1-8B25-AC4ED9DA1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cb8938edb0149fc"/>
            <a:stretch>
              <a:fillRect l="-4156" t="0" r="-2479" b="-18484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C89B82AD-DAD0-4B6B-B380-7C8148DC9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237223522f24bcb"/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78437739-B6D1-48AC-9C0E-4088339AA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653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5D5E747B-35CA-4A03-A9F6-3144F26C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653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BA066395-FA35-4E38-B661-C54DBDE79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4240473" h="4240473">
                <a:moveTo>
                  <a:pt x="0" y="0"/>
                </a:moveTo>
                <a:lnTo>
                  <a:pt x="4240472" y="0"/>
                </a:lnTo>
                <a:lnTo>
                  <a:pt x="4240472" y="4240472"/>
                </a:lnTo>
                <a:lnTo>
                  <a:pt x="0" y="4240472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CAA118C0-2710-466A-905C-CA94F430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15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B9AAA9BD-40FB-4CD0-B8E9-49B021CF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99650" y="3188938"/>
            <a:ext cx="13102912" cy="252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19900"/>
              </a:lnSpc>
              <a:spcBef>
                <a:spcPct val="0"/>
              </a:spcBef>
              <a:buNone/>
            </a:pPr>
            <a:r>
              <a:rPr sz="14214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936B2AF8-E9AF-4151-9A02-0E102E2BF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77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4DFA9A72-19F3-4EF7-B725-1B1E1D14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87040" y="5601985"/>
            <a:ext cx="7601340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</a:pPr>
            <a:r>
              <a:rPr sz="1603" spc="266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624FF258-588D-4A50-9D80-33D8771BC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4240473" h="4240473">
                <a:moveTo>
                  <a:pt x="0" y="0"/>
                </a:moveTo>
                <a:lnTo>
                  <a:pt x="4240472" y="0"/>
                </a:lnTo>
                <a:lnTo>
                  <a:pt x="4240472" y="4240473"/>
                </a:lnTo>
                <a:lnTo>
                  <a:pt x="0" y="4240473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7CBCB9-DAC4-4A26-9A1E-2FB266A1022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ecefd1573344cd"/>
          <a:srcRect xmlns:a="http://schemas.openxmlformats.org/drawingml/2006/main" l="21025" t="21025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3348895" cy="3348895"/>
          </a:xfrm>
          <a:prstGeom xmlns:a="http://schemas.openxmlformats.org/drawingml/2006/main" prst="rect">
            <a:avLst/>
          </a:prstGeom>
        </p:spPr>
      </p:pic>
      <p:sp>
        <p:nvSpPr>
          <p:cNvPr id="14" name="內容_15_主推聯合改善＋12公尺緩衝">
            <a:extLst xmlns:a="http://schemas.openxmlformats.org/drawingml/2006/main">
              <a:ext uri="{FF2B5EF4-FFF2-40B4-BE49-F238E27FC236}">
                <a16:creationId xmlns:a16="http://schemas.microsoft.com/office/drawing/2014/main" id="{410E93CE-113B-4975-994C-819A7C4F1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190875"/>
            <a:ext cx="14097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66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66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66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66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66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66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66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66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66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66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66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66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主推聯合改善＋12公尺緩衝</a:t>
            </a:r>
          </a:p>
        </p:txBody>
      </p:sp>
      <p:sp>
        <p:nvSpPr>
          <p:cNvPr id="15" name="內容_15_短波尖峰有服務要求才採用；投">
            <a:extLst xmlns:a="http://schemas.openxmlformats.org/drawingml/2006/main">
              <a:ext uri="{FF2B5EF4-FFF2-40B4-BE49-F238E27FC236}">
                <a16:creationId xmlns:a16="http://schemas.microsoft.com/office/drawing/2014/main" id="{28D9F380-0DB0-4142-A724-A69B66FAB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53000"/>
            <a:ext cx="1371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rPr>
              <a:t>短波尖峰有服務要求才採用；投資報酬仍為負</a:t>
            </a:r>
          </a:p>
        </p:txBody>
      </p:sp>
      <p:sp>
        <p:nvSpPr>
          <p:cNvPr id="16" name="內容_15_只加緩衝不足；8公尺聯合方案">
            <a:extLst xmlns:a="http://schemas.openxmlformats.org/drawingml/2006/main">
              <a:ext uri="{FF2B5EF4-FFF2-40B4-BE49-F238E27FC236}">
                <a16:creationId xmlns:a16="http://schemas.microsoft.com/office/drawing/2014/main" id="{0451B994-209C-4EEC-B6E9-7754CC4C8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905500"/>
            <a:ext cx="1371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只加緩衝不足；8公尺聯合方案留作低預算備選</a:t>
            </a:r>
          </a:p>
        </p:txBody>
      </p:sp>
      <p:sp>
        <p:nvSpPr>
          <p:cNvPr id="17" name="內容_15_答辯問答　原生模型、資料庫、">
            <a:extLst xmlns:a="http://schemas.openxmlformats.org/drawingml/2006/main">
              <a:ext uri="{FF2B5EF4-FFF2-40B4-BE49-F238E27FC236}">
                <a16:creationId xmlns:a16="http://schemas.microsoft.com/office/drawing/2014/main" id="{BECD7887-091C-432D-A9B4-9BB15BAE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096375"/>
            <a:ext cx="1600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答辯問答　原生模型、資料庫、逐次原始數據與展示素材隨附</a:t>
            </a:r>
          </a:p>
        </p:txBody>
      </p:sp>
    </p:spTree>
    <p:extLst>
      <p:ext uri="{BB962C8B-B14F-4D97-AF65-F5344CB8AC3E}">
        <p14:creationId xmlns:p14="http://schemas.microsoft.com/office/powerpoint/2010/main" val="164697591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Project contributors</dc:creator>
  <lastModifiedBy>Walnut Exporter</lastModifiedBy>
  <dc:title>Presentation</dc:title>
  <dcterms:created xsi:type="dcterms:W3CDTF">2026-10-29T13:05:57.6620000Z</dcterms:created>
  <dcterms:modified xsi:type="dcterms:W3CDTF">2026-10-29T13:05:57.6620000Z</dcterms:modified>
</coreProperties>
</file>