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jpeg" ContentType="image/jpeg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3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615b322a9e548af" /><Relationship Type="http://schemas.openxmlformats.org/officeDocument/2006/relationships/extended-properties" Target="/docProps/app.xml" Id="R038de912be2c4521" /><Relationship Type="http://schemas.openxmlformats.org/officeDocument/2006/relationships/officeDocument" Target="/ppt/presentation.xml" Id="R6defec4992d944e5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dba46d4b3ed047ab"/>
  </p:sldMasterIdLst>
  <p:notesMasterIdLst>
    <p:notesMasterId xmlns:r="http://schemas.openxmlformats.org/officeDocument/2006/relationships" r:id="Rabf4b0b04b004af9"/>
  </p:notesMasterIdLst>
  <p:sldIdLst>
    <p:sldId xmlns:r="http://schemas.openxmlformats.org/officeDocument/2006/relationships" id="256" r:id="Rf5d1919a9ba44041"/>
    <p:sldId xmlns:r="http://schemas.openxmlformats.org/officeDocument/2006/relationships" id="257" r:id="Rfea7b41c9cd4459d"/>
    <p:sldId xmlns:r="http://schemas.openxmlformats.org/officeDocument/2006/relationships" id="258" r:id="Rd5e4ebd850e940fe"/>
    <p:sldId xmlns:r="http://schemas.openxmlformats.org/officeDocument/2006/relationships" id="259" r:id="Rd169645203444213"/>
    <p:sldId xmlns:r="http://schemas.openxmlformats.org/officeDocument/2006/relationships" id="260" r:id="R1d57912c16f748c2"/>
    <p:sldId xmlns:r="http://schemas.openxmlformats.org/officeDocument/2006/relationships" id="261" r:id="R098a1964080f4974"/>
    <p:sldId xmlns:r="http://schemas.openxmlformats.org/officeDocument/2006/relationships" id="262" r:id="R042db45652fb4e7f"/>
    <p:sldId xmlns:r="http://schemas.openxmlformats.org/officeDocument/2006/relationships" id="263" r:id="R5480f656598544e2"/>
    <p:sldId xmlns:r="http://schemas.openxmlformats.org/officeDocument/2006/relationships" id="264" r:id="Rcf3b0581d3e74ef0"/>
    <p:sldId xmlns:r="http://schemas.openxmlformats.org/officeDocument/2006/relationships" id="265" r:id="Rd3af1605251d4ce7"/>
    <p:sldId xmlns:r="http://schemas.openxmlformats.org/officeDocument/2006/relationships" id="266" r:id="R21d2769cfec7495c"/>
    <p:sldId xmlns:r="http://schemas.openxmlformats.org/officeDocument/2006/relationships" id="267" r:id="R5ceb8ad62c544579"/>
    <p:sldId xmlns:r="http://schemas.openxmlformats.org/officeDocument/2006/relationships" id="268" r:id="R34098c5975a04b20"/>
    <p:sldId xmlns:r="http://schemas.openxmlformats.org/officeDocument/2006/relationships" id="269" r:id="Rd7e5b8fc60534c05"/>
    <p:sldId xmlns:r="http://schemas.openxmlformats.org/officeDocument/2006/relationships" id="270" r:id="R4972ebe157664b85"/>
  </p:sldIdLst>
  <p:sldSz cx="18288000" cy="10287000"/>
  <p:notesSz cx="6858000" cy="9144000"/>
  <p:embeddedFontLst>
    <p:embeddedFont>
      <p:font typeface="Garet Bold"/>
      <p:regular xmlns:r="http://schemas.openxmlformats.org/officeDocument/2006/relationships" r:id="R580264a023fe4da3"/>
    </p:embeddedFont>
    <p:embeddedFont>
      <p:font typeface="Garet"/>
      <p:regular xmlns:r="http://schemas.openxmlformats.org/officeDocument/2006/relationships" r:id="R2c09cfcc514b47be"/>
    </p:embeddedFont>
    <p:embeddedFont>
      <p:font typeface="Poppins"/>
      <p:regular xmlns:r="http://schemas.openxmlformats.org/officeDocument/2006/relationships" r:id="Rf21e6f59d52d4516"/>
    </p:embeddedFont>
  </p:embeddedFontLst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e4c445e0bff4c61" /><Relationship Type="http://schemas.openxmlformats.org/officeDocument/2006/relationships/slideMaster" Target="/ppt/slideMasters/slideMaster1.xml" Id="Rdba46d4b3ed047ab" /><Relationship Type="http://schemas.openxmlformats.org/officeDocument/2006/relationships/notesMaster" Target="/ppt/notesMasters/notesMaster1.xml" Id="Rabf4b0b04b004af9" /><Relationship Type="http://schemas.openxmlformats.org/officeDocument/2006/relationships/presProps" Target="/ppt/presProps.xml" Id="R73eedf326f3b46eb" /><Relationship Type="http://schemas.openxmlformats.org/officeDocument/2006/relationships/viewProps" Target="/ppt/viewProps.xml" Id="R361c1c8c76a84793" /><Relationship Type="http://schemas.openxmlformats.org/officeDocument/2006/relationships/tableStyles" Target="/ppt/tableStyles.xml" Id="R5df4fcfa7fd14126" /><Relationship Type="http://schemas.openxmlformats.org/officeDocument/2006/relationships/font" Target="/ppt/fonts/font.dat" Id="R580264a023fe4da3" /><Relationship Type="http://schemas.openxmlformats.org/officeDocument/2006/relationships/font" Target="/ppt/fonts/font2.dat" Id="R2c09cfcc514b47be" /><Relationship Type="http://schemas.openxmlformats.org/officeDocument/2006/relationships/font" Target="/ppt/fonts/font3.dat" Id="Rf21e6f59d52d4516" /><Relationship Type="http://schemas.openxmlformats.org/officeDocument/2006/relationships/slide" Target="/ppt/slides/slide1.xml" Id="Rf5d1919a9ba44041" /><Relationship Type="http://schemas.openxmlformats.org/officeDocument/2006/relationships/slide" Target="/ppt/slides/slide2.xml" Id="Rfea7b41c9cd4459d" /><Relationship Type="http://schemas.openxmlformats.org/officeDocument/2006/relationships/slide" Target="/ppt/slides/slide3.xml" Id="Rd5e4ebd850e940fe" /><Relationship Type="http://schemas.openxmlformats.org/officeDocument/2006/relationships/slide" Target="/ppt/slides/slide4.xml" Id="Rd169645203444213" /><Relationship Type="http://schemas.openxmlformats.org/officeDocument/2006/relationships/slide" Target="/ppt/slides/slide5.xml" Id="R1d57912c16f748c2" /><Relationship Type="http://schemas.openxmlformats.org/officeDocument/2006/relationships/slide" Target="/ppt/slides/slide6.xml" Id="R098a1964080f4974" /><Relationship Type="http://schemas.openxmlformats.org/officeDocument/2006/relationships/slide" Target="/ppt/slides/slide7.xml" Id="R042db45652fb4e7f" /><Relationship Type="http://schemas.openxmlformats.org/officeDocument/2006/relationships/slide" Target="/ppt/slides/slide8.xml" Id="R5480f656598544e2" /><Relationship Type="http://schemas.openxmlformats.org/officeDocument/2006/relationships/slide" Target="/ppt/slides/slide9.xml" Id="Rcf3b0581d3e74ef0" /><Relationship Type="http://schemas.openxmlformats.org/officeDocument/2006/relationships/slide" Target="/ppt/slides/slide10.xml" Id="Rd3af1605251d4ce7" /><Relationship Type="http://schemas.openxmlformats.org/officeDocument/2006/relationships/slide" Target="/ppt/slides/slide11.xml" Id="R21d2769cfec7495c" /><Relationship Type="http://schemas.openxmlformats.org/officeDocument/2006/relationships/slide" Target="/ppt/slides/slide12.xml" Id="R5ceb8ad62c544579" /><Relationship Type="http://schemas.openxmlformats.org/officeDocument/2006/relationships/slide" Target="/ppt/slides/slide13.xml" Id="R34098c5975a04b20" /><Relationship Type="http://schemas.openxmlformats.org/officeDocument/2006/relationships/slide" Target="/ppt/slides/slide14.xml" Id="Rd7e5b8fc60534c05" /><Relationship Type="http://schemas.openxmlformats.org/officeDocument/2006/relationships/slide" Target="/ppt/slides/slide15.xml" Id="R4972ebe157664b8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4f4efb6ba3e4d6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77e8e56573d4362" /><Relationship Type="http://schemas.openxmlformats.org/officeDocument/2006/relationships/notesMaster" Target="/ppt/notesMasters/notesMaster1.xml" Id="R25717cf139f54c6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0585a2bc1814b7f" /><Relationship Type="http://schemas.openxmlformats.org/officeDocument/2006/relationships/notesMaster" Target="/ppt/notesMasters/notesMaster1.xml" Id="R2b18cc7ddddc4e4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5663eefcd0f4223" /><Relationship Type="http://schemas.openxmlformats.org/officeDocument/2006/relationships/notesMaster" Target="/ppt/notesMasters/notesMaster1.xml" Id="R0b8a80bf6bbe4e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2c1d8bfa2de4430" /><Relationship Type="http://schemas.openxmlformats.org/officeDocument/2006/relationships/notesMaster" Target="/ppt/notesMasters/notesMaster1.xml" Id="R978d056e5532402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33e001f8cf34ac2" /><Relationship Type="http://schemas.openxmlformats.org/officeDocument/2006/relationships/notesMaster" Target="/ppt/notesMasters/notesMaster1.xml" Id="R4878be48a9984bd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b7068d36d9c4e75" /><Relationship Type="http://schemas.openxmlformats.org/officeDocument/2006/relationships/notesMaster" Target="/ppt/notesMasters/notesMaster1.xml" Id="R755e409ce710458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796f69878024c01" /><Relationship Type="http://schemas.openxmlformats.org/officeDocument/2006/relationships/notesMaster" Target="/ppt/notesMasters/notesMaster1.xml" Id="Rd2487beebecb4b6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a9730c4c6b14c82" /><Relationship Type="http://schemas.openxmlformats.org/officeDocument/2006/relationships/notesMaster" Target="/ppt/notesMasters/notesMaster1.xml" Id="R149eede0a8b64d9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f89f15122f44e4e" /><Relationship Type="http://schemas.openxmlformats.org/officeDocument/2006/relationships/notesMaster" Target="/ppt/notesMasters/notesMaster1.xml" Id="R7cfeacc7dcfd4eb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a157766b28940fe" /><Relationship Type="http://schemas.openxmlformats.org/officeDocument/2006/relationships/notesMaster" Target="/ppt/notesMasters/notesMaster1.xml" Id="R4a0c85e3cc6843c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9dec07cb85a43fc" /><Relationship Type="http://schemas.openxmlformats.org/officeDocument/2006/relationships/notesMaster" Target="/ppt/notesMasters/notesMaster1.xml" Id="R1f3c7369dc5145f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96435e2d890472c" /><Relationship Type="http://schemas.openxmlformats.org/officeDocument/2006/relationships/notesMaster" Target="/ppt/notesMasters/notesMaster1.xml" Id="R0777a1b623564bd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529c304e4e147b0" /><Relationship Type="http://schemas.openxmlformats.org/officeDocument/2006/relationships/notesMaster" Target="/ppt/notesMasters/notesMaster1.xml" Id="R526f8c9f40594d1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0dca75b591445ef" /><Relationship Type="http://schemas.openxmlformats.org/officeDocument/2006/relationships/notesMaster" Target="/ppt/notesMasters/notesMaster1.xml" Id="R14f82639631346d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15aca39d6424bfe" /><Relationship Type="http://schemas.openxmlformats.org/officeDocument/2006/relationships/notesMaster" Target="/ppt/notesMasters/notesMaster1.xml" Id="R3964de4d8f89414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責任分工建議：商業與假設、建模與調度、驗證與統計、財務與展示。未提供姓名，因此未虛構組員。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 CI 使用 t(29)=2.04523。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退貨率取自指定課程資料，非外部市場統計。S0 60 件/h；S1 波外80、三波210件/h，各20分鐘；敏感度尖峰270件/h。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 CI 使用 t(29)=2.04523。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原始混合單位通過率保留於 course_pass_ratio_mixed_units。returned_goods_resolution_ratio 可能因跨期WIP略高於100%，不能視為到達批次已全部完成。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 CI 使用 t(29)=2.04523。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流程圖為可編輯架構。原生Process Flow CustomCode已實際接收並完成ESG更新及QA支援事件Token。完整DFD見01_SA；外部未入庫需求與倉內500箱資產分帳，實體箱池由入庫閘控限制。B級雙站各120秒，兩站各需作業員。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 CI 使用 t(29)=2.04523。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畫面為v8真實幾何模型。3,600張原生影格、逐格時間紀錄及五分鐘WebM備援另附。模型包含即時埠轉移，各長度轉接點已同步；清洗及檢驗設備外形採明示的2m×2m假設。這是課程輸入下的原生模型，尚無實倉CAD與現地運輸校準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 CI 使用 t(29)=2.04523。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證據：DispatchLog、AStarNavigator members與Operator移動。單行以原生TravelPatterns限制方向；200段往返到站距離為工作站邊緣0.5m。待命人員採官方讓位假設，互斥檢查針對活動行走者。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 CI 使用 t(29)=2.04523。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係數0.495為課程給定，不宣稱當年度官方電力排碳係數；本案不是完整生命週期盤查。嚴格版僅扣清洗電力，完整版再扣輸送與外包。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 CI 使用 t(29)=2.04523。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V3依批次前固定計畫，使用30次平均WIP時間剖面的迴歸，並完整保留個別重複的絕對漂移。S0 pooled漂移−0.20755%，S1 Before為9.84335%，P4 12m為1.86592%。V5包含12項主要作業與財務KPI；原始30次的精度不足仍是正式發現。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 CI 使用 t(29)=2.04523。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獨立飽和測試：無故障119.994箱/h；故障均值115.156箱/h，CI涵蓋115.2。主模型V7另以每次實現停機時間對標，不能把每次可用率固定成96%。V8個別重複最大偏差2.46pp，未隱藏。五倍測試7日期末外部待入庫需求34185，實體箱資產最大71，未超過500；縮小5箱池的停機恢復測試則實際觸發了硬上限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 CI 使用 t(29)=2.04523。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QA單人40秒的名目能力90件/h，小於含故障清洗的期望115.2箱/h。原提示將瓶頸全歸清洗，與這組物理輸入不完全一致；第二台清洗不能消除QA負荷，P4的實際到站支援是重要因素。圖表可編輯，附原始數據及CI。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 CI 使用 t(29)=2.04523。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每次動態佈局都同步入口、出口及斜帶實際距離。早期未同步出口的測試被守恆檢查攔下並作廢；本頁僅使用重新凍結後的protocol9正式資料。Source外部需求與實體箱池分帳，500箱入庫閘控經縮小池停機測試驗證。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 CI 使用 t(29)=2.04523。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兩種選法明確區分，沒有暗中修改課程門檻。兩者超24h均為0；12m在270件/h尖峰敏感度亦檢查。結案下界把期末退貨商品WIP全部視為觀察期未完成，不能解讀成100%精確履約。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 CI 使用 t(29)=2.04523。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成本含箱攤提、剩餘帳面價值沖銷、清洗耗材、電力、外包與Q-Time損失。365日年化以6日觀察推估，另列250日敏感度；不是實際年度帳務。12m五年8%NPV為-323,376元。若必須改善SLA，P4比P1少投資且營運成本較低，但與維持P0相比，直接財務效益不足以支持回收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 CI 使用 t(29)=2.04523。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0:00全景與配對；0:40 Before；1:40 After與支援抵達；3:00 Dashboard、守恆及原始表；4:00 8m/12m與ROI答辯。熱力圖同種子、同時刻116100s；紅色為起始至截點加工≥90%或Blocked≥1%，不是所有物件的即時狀態。Dashboard為原生generateHTML匯出畫面，多行控制欄僅做HTML換行相容修正，並非全桌面錄影。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 CI 使用 t(29)=2.04523。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完整交付依課程輸入完成原生模擬、實驗及驗證判讀。原始30次V5仍未達精度門檻，600次補充已達；65%包材節約及100%通過不得宣稱達成。實倉CAD、訂單、故障與行走紀錄是部署前校準條件。課程ESG按需求到達計算，在大量未完成需求的極端情境會高估效益，因此另附以已履約箱數計算的稽核口徑，不能以節流／不履約美化減碳。</a:t>
            </a:r>
          </a:p>
          <a:p xmlns:a="http://schemas.openxmlformats.org/drawingml/2006/main">
            <a:r>
              <a:t>來源：本機 prompt_detail.md、01_SA/Params.csv、04_實驗/原生Experimenter_v8_正式/標準化/*.json。模擬實測非實倉觀測。</a:t>
            </a:r>
          </a:p>
          <a:p xmlns:a="http://schemas.openxmlformats.org/drawingml/2006/main">
            <a:r>
              <a:t>統計：30 個共同種子，暖機 86,400 秒，觀察 518,400 秒；95% CI 使用 t(29)=2.04523。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540e137a294b7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59c2ed3ba4419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cf5f819a7f4f8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e2c58c523e409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b4f7288391458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e11ccb53a0410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8fc64a95624c9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f97996081b4f1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60e1c80b7542b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f871bd548344a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a36bdc70af40db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5141B3-3260-4719-A09A-1783AC23B49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9B40C22-B2E7-4072-B172-72C3999C9B1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787C631-A7EF-4D2C-844C-B95C4E712EE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7EDC9A1-82E8-45E5-9AAD-617B9939B2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18BFF2F-7F52-4D37-BDCC-89B457C18D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FF745D4-AB85-4B8B-B7B1-D4452FA3A7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3D2C33C-FE95-4B33-B9CE-1D5B81C6E7A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E173BB6-AC79-4012-94F3-737AAB5D7E0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8510C42-3B2B-4599-8650-C7827F9121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98DCECC-FA9C-42D7-B49C-8AFDD98739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46E102C-8230-4EFC-A58C-215D05C633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F74D022-1278-47E7-B6E5-721DE4B9EC8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96A27A0-9005-4896-91E1-982427F428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95223C6-D7A9-42AA-AA85-13CB519320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3D983BC-BD34-45B9-ADC8-4018FB2E93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54FF513-E126-4D17-9F29-B70C64AAD1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3F9A7B2-764A-4283-8238-C5CCF737AF9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3B420D5-3CDF-4675-BB26-D0F72AC5C33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D7D4B00-58BE-4F3A-9622-B4F16D479F0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C842A96-35AC-44C3-8599-6D26E943B7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9CD35A-6C36-4946-B289-696EA0BB54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BBF050B-E7EF-4658-B906-CB0F2F6E93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AE7452-33C5-43E5-92FA-7801F89F9A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79AFC89-198D-48FF-8A2E-CDDE256792A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60D2181-04B4-4971-A031-59BA6C88C87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92BC3A6-E0FA-4D6E-B26B-F267591C6AA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D0CEB64F-0784-47B4-808A-942EC98CD2E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FADE8138-F2A6-456F-9C79-3C1FB9D6BCB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783811E-436E-4DD2-B6DA-3742A043E44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E524585-B2F1-4935-B1D4-E2344D89CF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D919022-C4B8-49E3-94E9-56F2193836A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10936E9-89C0-4B50-A244-0F1D41C9CC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7F03035-8E46-4275-B7FA-25752FA052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F107EDB5-EEAD-4537-9757-B8A8DE965B9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D9362279-A494-47C5-BAE3-C5F87DBF50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48EFB40-77F6-4984-B6C9-2C8E9D68618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5534373-40A6-416D-AD1E-AAD16152BB0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D0D05DC-57E9-4898-AA30-8BC0EF61EE5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12A380D-C8C2-4172-8A1F-728AEA2EB5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F579A4E-F159-4BCB-BB58-FE9FBAF957A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065C996-2002-4EB5-96C1-463198A7330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EE38F25-8FFD-4BA1-B336-93773C221B4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48B5400-AB08-40DF-A096-D7BDD0DB3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CB2B34F-C94E-451B-B22A-B87092A8A4F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88DE08C-B4AB-40BC-8874-9C4B3A6D907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530CAF4-0058-48F6-8F51-AD4CA4DCF0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6E57B2A-F4D4-4272-B364-15D5D2515F0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CDD7F86-59F8-4D5E-AED2-0C42AEF29F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E2C0C23-C1DC-400B-B835-F4AF505948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86B800B-5C85-4820-9B63-72275D5E72E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E415A31-6B6A-4563-9408-C2139FDF3EB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30D106B-A759-4501-8683-E9814BB42EE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2B79755-87C4-4BC4-8ECE-1B78EDC659F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C4C0273-A807-4282-AFA3-D9E5CB18A9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D667F9-4264-4D14-9911-820BF9AD6A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8AD4121-F4CE-4E49-9E78-3E722BE0BA8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0E8A743-B288-4B4B-8A4A-6EC04366AF6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D30593F-B8D3-4559-BAD0-D3C36B51B6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00a7a1c9d924a96" /><Relationship Type="http://schemas.openxmlformats.org/officeDocument/2006/relationships/slideLayout" Target="/ppt/slideLayouts/slideLayout1.xml" Id="R43f14abd13444e41" /><Relationship Type="http://schemas.openxmlformats.org/officeDocument/2006/relationships/slideLayout" Target="/ppt/slideLayouts/slideLayout2.xml" Id="R9899f282b15f47ba" /><Relationship Type="http://schemas.openxmlformats.org/officeDocument/2006/relationships/slideLayout" Target="/ppt/slideLayouts/slideLayout3.xml" Id="R42abd428897e494f" /><Relationship Type="http://schemas.openxmlformats.org/officeDocument/2006/relationships/slideLayout" Target="/ppt/slideLayouts/slideLayout4.xml" Id="Rb52c8280f03d42af" /><Relationship Type="http://schemas.openxmlformats.org/officeDocument/2006/relationships/slideLayout" Target="/ppt/slideLayouts/slideLayout5.xml" Id="R51a6fd189d8e4106" /><Relationship Type="http://schemas.openxmlformats.org/officeDocument/2006/relationships/slideLayout" Target="/ppt/slideLayouts/slideLayout6.xml" Id="Rdf111e1380064471" /><Relationship Type="http://schemas.openxmlformats.org/officeDocument/2006/relationships/slideLayout" Target="/ppt/slideLayouts/slideLayout7.xml" Id="R122035f754f146a0" /><Relationship Type="http://schemas.openxmlformats.org/officeDocument/2006/relationships/slideLayout" Target="/ppt/slideLayouts/slideLayout8.xml" Id="R3d74b07b29ee421c" /><Relationship Type="http://schemas.openxmlformats.org/officeDocument/2006/relationships/slideLayout" Target="/ppt/slideLayouts/slideLayout9.xml" Id="R8923a5a6e76b4994" /><Relationship Type="http://schemas.openxmlformats.org/officeDocument/2006/relationships/slideLayout" Target="/ppt/slideLayouts/slideLayout10.xml" Id="R590377a070b74eec" /><Relationship Type="http://schemas.openxmlformats.org/officeDocument/2006/relationships/slideLayout" Target="/ppt/slideLayouts/slideLayout11.xml" Id="R287d579b8841454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F301DAE-F468-4400-AACA-3C5500AD76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AE9145D-A655-4CA1-BB5B-DF0867B5B22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DC1F427-C772-405F-8C28-A2FAE3A1E8C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6886D92-1889-4B9B-A814-5CE8AE7F8C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19C482-69EC-4D7A-AB57-00B43F51A5F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f14abd13444e41"/>
    <p:sldLayoutId xmlns:r="http://schemas.openxmlformats.org/officeDocument/2006/relationships" id="2147483650" r:id="R9899f282b15f47ba"/>
    <p:sldLayoutId xmlns:r="http://schemas.openxmlformats.org/officeDocument/2006/relationships" id="2147483651" r:id="R42abd428897e494f"/>
    <p:sldLayoutId xmlns:r="http://schemas.openxmlformats.org/officeDocument/2006/relationships" id="2147483652" r:id="Rb52c8280f03d42af"/>
    <p:sldLayoutId xmlns:r="http://schemas.openxmlformats.org/officeDocument/2006/relationships" id="2147483653" r:id="R51a6fd189d8e4106"/>
    <p:sldLayoutId xmlns:r="http://schemas.openxmlformats.org/officeDocument/2006/relationships" id="2147483654" r:id="Rdf111e1380064471"/>
    <p:sldLayoutId xmlns:r="http://schemas.openxmlformats.org/officeDocument/2006/relationships" id="2147483655" r:id="R122035f754f146a0"/>
    <p:sldLayoutId xmlns:r="http://schemas.openxmlformats.org/officeDocument/2006/relationships" id="2147483656" r:id="R3d74b07b29ee421c"/>
    <p:sldLayoutId xmlns:r="http://schemas.openxmlformats.org/officeDocument/2006/relationships" id="2147483657" r:id="R8923a5a6e76b4994"/>
    <p:sldLayoutId xmlns:r="http://schemas.openxmlformats.org/officeDocument/2006/relationships" id="2147483658" r:id="R590377a070b74eec"/>
    <p:sldLayoutId xmlns:r="http://schemas.openxmlformats.org/officeDocument/2006/relationships" id="2147483659" r:id="R287d579b88414546"/>
  </p:sldLayoutIdLst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57bb153df654933" /><Relationship Type="http://schemas.openxmlformats.org/officeDocument/2006/relationships/image" Target="/ppt/media/image.jpeg" Id="R3a913059f7204928" /><Relationship Type="http://schemas.openxmlformats.org/officeDocument/2006/relationships/image" Target="/ppt/media/image.png" Id="R0a1b1c76c8944951" /><Relationship Type="http://schemas.openxmlformats.org/officeDocument/2006/relationships/image" Target="/ppt/media/image.svg" Id="Rbd746298b4de4419" /><Relationship Type="http://schemas.openxmlformats.org/officeDocument/2006/relationships/image" Target="/ppt/media/image2.png" Id="R81483370b6d74590" /><Relationship Type="http://schemas.openxmlformats.org/officeDocument/2006/relationships/image" Target="/ppt/media/image3.png" Id="R727f4b4cfdfe4635" /><Relationship Type="http://schemas.openxmlformats.org/officeDocument/2006/relationships/notesSlide" Target="/ppt/notesSlides/notesSlide1.xml" Id="Reb9bade191a74c8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86ea62ef0ae4803" /><Relationship Type="http://schemas.openxmlformats.org/officeDocument/2006/relationships/image" Target="/ppt/media/image.jpeg" Id="R26079a75cd8b43f8" /><Relationship Type="http://schemas.openxmlformats.org/officeDocument/2006/relationships/image" Target="/ppt/media/image.png" Id="R40619c62bf6542d8" /><Relationship Type="http://schemas.openxmlformats.org/officeDocument/2006/relationships/image" Target="/ppt/media/image.svg" Id="Rb39102d3535c43d8" /><Relationship Type="http://schemas.openxmlformats.org/officeDocument/2006/relationships/image" Target="/ppt/media/image4.png" Id="R2da29c1f09e94dfe" /><Relationship Type="http://schemas.openxmlformats.org/officeDocument/2006/relationships/notesSlide" Target="/ppt/notesSlides/notesSlide2.xml" Id="R54fce88a5b1047c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7ab3bd5f1274662" /><Relationship Type="http://schemas.openxmlformats.org/officeDocument/2006/relationships/image" Target="/ppt/media/image.jpeg" Id="Redc8227730fd472f" /><Relationship Type="http://schemas.openxmlformats.org/officeDocument/2006/relationships/image" Target="/ppt/media/image.png" Id="R3f287057ba204378" /><Relationship Type="http://schemas.openxmlformats.org/officeDocument/2006/relationships/image" Target="/ppt/media/image.svg" Id="R43de1af42f75473a" /><Relationship Type="http://schemas.openxmlformats.org/officeDocument/2006/relationships/image" Target="/ppt/media/image4.png" Id="R1831f5c31c094cee" /><Relationship Type="http://schemas.openxmlformats.org/officeDocument/2006/relationships/notesSlide" Target="/ppt/notesSlides/notesSlide3.xml" Id="Rd8e7d1677aa849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30811a62faa4099" /><Relationship Type="http://schemas.openxmlformats.org/officeDocument/2006/relationships/image" Target="/ppt/media/image.jpeg" Id="Re80f76f243ce48d7" /><Relationship Type="http://schemas.openxmlformats.org/officeDocument/2006/relationships/image" Target="/ppt/media/image4.png" Id="Rfde9e951150a4048" /><Relationship Type="http://schemas.openxmlformats.org/officeDocument/2006/relationships/image" Target="/ppt/media/image.png" Id="R68b43225ee5b4724" /><Relationship Type="http://schemas.openxmlformats.org/officeDocument/2006/relationships/image" Target="/ppt/media/image.svg" Id="R2a16af7fdb8845ec" /><Relationship Type="http://schemas.openxmlformats.org/officeDocument/2006/relationships/image" Target="/ppt/media/image5.png" Id="R4ffeb8412fc24dd9" /><Relationship Type="http://schemas.openxmlformats.org/officeDocument/2006/relationships/notesSlide" Target="/ppt/notesSlides/notesSlide4.xml" Id="Re00579ab838a4a2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5af20a45e484cb1" /><Relationship Type="http://schemas.openxmlformats.org/officeDocument/2006/relationships/image" Target="/ppt/media/image.jpeg" Id="R3860624033c84755" /><Relationship Type="http://schemas.openxmlformats.org/officeDocument/2006/relationships/image" Target="/ppt/media/image4.png" Id="R34a2ccaf03794b91" /><Relationship Type="http://schemas.openxmlformats.org/officeDocument/2006/relationships/image" Target="/ppt/media/image.png" Id="Rd19179fe96e54266" /><Relationship Type="http://schemas.openxmlformats.org/officeDocument/2006/relationships/image" Target="/ppt/media/image.svg" Id="Rc447e5ed224b40b1" /><Relationship Type="http://schemas.openxmlformats.org/officeDocument/2006/relationships/image" Target="/ppt/media/image6.png" Id="R0374d07daacd40b4" /><Relationship Type="http://schemas.openxmlformats.org/officeDocument/2006/relationships/notesSlide" Target="/ppt/notesSlides/notesSlide5.xml" Id="Rc8eb2a7696cd43b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8ff68219e4b4987" /><Relationship Type="http://schemas.openxmlformats.org/officeDocument/2006/relationships/image" Target="/ppt/media/image.jpeg" Id="R91d381267bd74439" /><Relationship Type="http://schemas.openxmlformats.org/officeDocument/2006/relationships/image" Target="/ppt/media/image4.png" Id="R6153557b153e4593" /><Relationship Type="http://schemas.openxmlformats.org/officeDocument/2006/relationships/image" Target="/ppt/media/image.png" Id="R2ecd076fb61f4831" /><Relationship Type="http://schemas.openxmlformats.org/officeDocument/2006/relationships/image" Target="/ppt/media/image.svg" Id="R563f32994f5b4723" /><Relationship Type="http://schemas.openxmlformats.org/officeDocument/2006/relationships/notesSlide" Target="/ppt/notesSlides/notesSlide6.xml" Id="R05d8378582d840d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9184da8f2f14547" /><Relationship Type="http://schemas.openxmlformats.org/officeDocument/2006/relationships/image" Target="/ppt/media/image.jpeg" Id="R20dd9074d27a480b" /><Relationship Type="http://schemas.openxmlformats.org/officeDocument/2006/relationships/image" Target="/ppt/media/image4.png" Id="Rd1192055522c4e66" /><Relationship Type="http://schemas.openxmlformats.org/officeDocument/2006/relationships/image" Target="/ppt/media/image.png" Id="Rc8eae467cbf749b3" /><Relationship Type="http://schemas.openxmlformats.org/officeDocument/2006/relationships/image" Target="/ppt/media/image.svg" Id="R92d4e6105cc34da6" /><Relationship Type="http://schemas.openxmlformats.org/officeDocument/2006/relationships/notesSlide" Target="/ppt/notesSlides/notesSlide7.xml" Id="Rde205d6a4ac847a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c992e4cf78478a" /><Relationship Type="http://schemas.openxmlformats.org/officeDocument/2006/relationships/image" Target="/ppt/media/image.jpeg" Id="R18364f660aae41c4" /><Relationship Type="http://schemas.openxmlformats.org/officeDocument/2006/relationships/image" Target="/ppt/media/image4.png" Id="Rb196cf511d464a73" /><Relationship Type="http://schemas.openxmlformats.org/officeDocument/2006/relationships/image" Target="/ppt/media/image.png" Id="Rb281da728f4f4900" /><Relationship Type="http://schemas.openxmlformats.org/officeDocument/2006/relationships/image" Target="/ppt/media/image.svg" Id="R25822218eb484a31" /><Relationship Type="http://schemas.openxmlformats.org/officeDocument/2006/relationships/notesSlide" Target="/ppt/notesSlides/notesSlide8.xml" Id="R35bf32f1307c429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b5a2ed795114858" /><Relationship Type="http://schemas.openxmlformats.org/officeDocument/2006/relationships/image" Target="/ppt/media/image.jpeg" Id="Rf2e4663f901a4bda" /><Relationship Type="http://schemas.openxmlformats.org/officeDocument/2006/relationships/image" Target="/ppt/media/image4.png" Id="Rcbe49c7ef73f45ce" /><Relationship Type="http://schemas.openxmlformats.org/officeDocument/2006/relationships/image" Target="/ppt/media/image.png" Id="R5e0b0ace60ee4e5e" /><Relationship Type="http://schemas.openxmlformats.org/officeDocument/2006/relationships/image" Target="/ppt/media/image.svg" Id="Rbe7dd6ba6dd7445c" /><Relationship Type="http://schemas.openxmlformats.org/officeDocument/2006/relationships/notesSlide" Target="/ppt/notesSlides/notesSlide9.xml" Id="Rc8a2dccef65141a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430367a78ca4b57" /><Relationship Type="http://schemas.openxmlformats.org/officeDocument/2006/relationships/image" Target="/ppt/media/image.jpeg" Id="Rbd22db9576b14724" /><Relationship Type="http://schemas.openxmlformats.org/officeDocument/2006/relationships/image" Target="/ppt/media/image4.png" Id="Rcf2fa21da6204906" /><Relationship Type="http://schemas.openxmlformats.org/officeDocument/2006/relationships/image" Target="/ppt/media/image.png" Id="Re0236b92f54d47af" /><Relationship Type="http://schemas.openxmlformats.org/officeDocument/2006/relationships/image" Target="/ppt/media/image.svg" Id="R63a462fea6884963" /><Relationship Type="http://schemas.openxmlformats.org/officeDocument/2006/relationships/chart" Target="/ppt/slides/charts/chart1.xml" Id="R3d95de5f8b234b66" /><Relationship Type="http://schemas.openxmlformats.org/officeDocument/2006/relationships/chart" Target="/ppt/slides/charts/chart2.xml" Id="R8d02b401df26461a" /><Relationship Type="http://schemas.openxmlformats.org/officeDocument/2006/relationships/notesSlide" Target="/ppt/notesSlides/notesSlide10.xml" Id="R900a45505e39445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133340efa684117" /><Relationship Type="http://schemas.openxmlformats.org/officeDocument/2006/relationships/image" Target="/ppt/media/image.jpeg" Id="R2baba12ef225424a" /><Relationship Type="http://schemas.openxmlformats.org/officeDocument/2006/relationships/image" Target="/ppt/media/image4.png" Id="R8a5a3186d3cb464c" /><Relationship Type="http://schemas.openxmlformats.org/officeDocument/2006/relationships/image" Target="/ppt/media/image.png" Id="R7fb33f5789f24f53" /><Relationship Type="http://schemas.openxmlformats.org/officeDocument/2006/relationships/image" Target="/ppt/media/image.svg" Id="R909075d8445d4648" /><Relationship Type="http://schemas.openxmlformats.org/officeDocument/2006/relationships/chart" Target="/ppt/slides/charts/chart3.xml" Id="Rd20f3e25192d48d7" /><Relationship Type="http://schemas.openxmlformats.org/officeDocument/2006/relationships/notesSlide" Target="/ppt/notesSlides/notesSlide11.xml" Id="R3a1d3c4317ef40a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3cde8d6d2a4484d" /><Relationship Type="http://schemas.openxmlformats.org/officeDocument/2006/relationships/image" Target="/ppt/media/image.jpeg" Id="R433f05b859434b0f" /><Relationship Type="http://schemas.openxmlformats.org/officeDocument/2006/relationships/image" Target="/ppt/media/image4.png" Id="R394eabbf1aa34d48" /><Relationship Type="http://schemas.openxmlformats.org/officeDocument/2006/relationships/notesSlide" Target="/ppt/notesSlides/notesSlide12.xml" Id="R6f20a5a2b73a4c9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b32eac76c564315" /><Relationship Type="http://schemas.openxmlformats.org/officeDocument/2006/relationships/image" Target="/ppt/media/image.jpeg" Id="R214b83c2b7904c3e" /><Relationship Type="http://schemas.openxmlformats.org/officeDocument/2006/relationships/image" Target="/ppt/media/image4.png" Id="R4932cdfd01494f77" /><Relationship Type="http://schemas.openxmlformats.org/officeDocument/2006/relationships/notesSlide" Target="/ppt/notesSlides/notesSlide13.xml" Id="Rb078a4eaa391422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c13ae32470b4225" /><Relationship Type="http://schemas.openxmlformats.org/officeDocument/2006/relationships/image" Target="/ppt/media/image.jpeg" Id="R4bc49ba1bbeb4c7a" /><Relationship Type="http://schemas.openxmlformats.org/officeDocument/2006/relationships/image" Target="/ppt/media/image4.png" Id="R815f0be9e2ce43ee" /><Relationship Type="http://schemas.openxmlformats.org/officeDocument/2006/relationships/image" Target="/ppt/media/image7.png" Id="Rb2dfb4405a274189" /><Relationship Type="http://schemas.openxmlformats.org/officeDocument/2006/relationships/image" Target="/ppt/media/image8.png" Id="R0584c1a2855a486b" /><Relationship Type="http://schemas.openxmlformats.org/officeDocument/2006/relationships/image" Target="/ppt/media/image9.png" Id="Rdde9f0a4a885487c" /><Relationship Type="http://schemas.openxmlformats.org/officeDocument/2006/relationships/notesSlide" Target="/ppt/notesSlides/notesSlide14.xml" Id="R68f12d36463741b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ffd28e4cb164027" /><Relationship Type="http://schemas.openxmlformats.org/officeDocument/2006/relationships/image" Target="/ppt/media/image.jpeg" Id="Rf2e8be4ba9034f42" /><Relationship Type="http://schemas.openxmlformats.org/officeDocument/2006/relationships/image" Target="/ppt/media/image4.png" Id="Rb0b5860fa0294ce9" /><Relationship Type="http://schemas.openxmlformats.org/officeDocument/2006/relationships/image" Target="/ppt/media/image10.png" Id="R2956cd858dce4483" /><Relationship Type="http://schemas.openxmlformats.org/officeDocument/2006/relationships/notesSlide" Target="/ppt/notesSlides/notesSlide15.xml" Id="R7ddd6acc114c4112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Blocked %</c:v>
          </c:tx>
          <c:spPr>
            <a:solidFill xmlns:a="http://schemas.openxmlformats.org/drawingml/2006/main">
              <a:srgbClr val="A280EC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P0 原配置</c:v>
                </c:pt>
                <c:pt idx="1">
                  <c:v>P1 第二台清洗</c:v>
                </c:pt>
                <c:pt idx="2">
                  <c:v>P4 12m</c:v>
                </c:pt>
              </c:strCache>
            </c:str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12.220632</c:v>
                </c:pt>
                <c:pt idx="1">
                  <c:v>3.94372</c:v>
                </c:pt>
                <c:pt idx="2">
                  <c:v>0.710506</c:v>
                </c:pt>
              </c:numCache>
            </c:numRef>
          </c:val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75">
                  <a:solidFill>
                    <a:srgbClr val="F6E0F5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280E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4F3B5D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875">
                    <a:solidFill>
                      <a:srgbClr val="F6E0F5"/>
                    </a:solidFill>
                    <a:latin typeface="Microsoft JhengHei"/>
                    <a:ea typeface="Microsoft JhengHei"/>
                    <a:cs typeface="Microsoft JhengHei"/>
                  </a:rPr>
                  <a:t>Blocked %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>
                  <a:solidFill>
                    <a:srgbClr val="F6E0F5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Q-Time min</c:v>
          </c:tx>
          <c:spPr>
            <a:solidFill xmlns:a="http://schemas.openxmlformats.org/drawingml/2006/main">
              <a:srgbClr val="DF96DA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P0 原配置</c:v>
                </c:pt>
                <c:pt idx="1">
                  <c:v>P1 第二台清洗</c:v>
                </c:pt>
                <c:pt idx="2">
                  <c:v>P4 12m</c:v>
                </c:pt>
              </c:strCache>
            </c:str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19.71403</c:v>
                </c:pt>
                <c:pt idx="1">
                  <c:v>19.828331</c:v>
                </c:pt>
                <c:pt idx="2">
                  <c:v>5.013653</c:v>
                </c:pt>
              </c:numCache>
            </c:numRef>
          </c:val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75">
                  <a:solidFill>
                    <a:srgbClr val="F6E0F5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280E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4F3B5D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875">
                    <a:solidFill>
                      <a:srgbClr val="F6E0F5"/>
                    </a:solidFill>
                    <a:latin typeface="Microsoft JhengHei"/>
                    <a:ea typeface="Microsoft JhengHei"/>
                    <a:cs typeface="Microsoft JhengHei"/>
                  </a:rPr>
                  <a:t>Q-Time min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>
                  <a:solidFill>
                    <a:srgbClr val="F6E0F5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P2 只加緩衝</c:v>
          </c:tx>
          <c:spPr>
            <a:ln xmlns:a="http://schemas.openxmlformats.org/drawingml/2006/main" w="38100">
              <a:solidFill>
                <a:srgbClr val="A280EC"/>
              </a:solidFill>
            </a:ln>
          </c:spPr>
          <c:marker>
            <c:symbol val="circle"/>
            <c:size val="10"/>
          </c:marker>
          <c:cat>
            <c:strRef>
              <c:f>'Chart Data'!$A$2:$A$7</c:f>
              <c:strCache>
                <c:ptCount val="6"/>
                <c:pt idx="0">
                  <c:v>0m</c:v>
                </c:pt>
                <c:pt idx="1">
                  <c:v>4m</c:v>
                </c:pt>
                <c:pt idx="2">
                  <c:v>8m</c:v>
                </c:pt>
                <c:pt idx="3">
                  <c:v>12m</c:v>
                </c:pt>
                <c:pt idx="4">
                  <c:v>16m</c:v>
                </c:pt>
                <c:pt idx="5">
                  <c:v>24m</c:v>
                </c:pt>
              </c:strCache>
            </c:strRef>
          </c:cat>
          <c:val>
            <c:numRef>
              <c:f>'Chart Data'!$B$2:$B$7</c:f>
              <c:numCache>
                <c:formatCode>0.0</c:formatCode>
                <c:ptCount val="6"/>
                <c:pt idx="0">
                  <c:v>13.226748</c:v>
                </c:pt>
                <c:pt idx="1">
                  <c:v>10.262074</c:v>
                </c:pt>
                <c:pt idx="2">
                  <c:v>7.60904</c:v>
                </c:pt>
                <c:pt idx="3">
                  <c:v>5.3243</c:v>
                </c:pt>
                <c:pt idx="4">
                  <c:v>3.8886</c:v>
                </c:pt>
                <c:pt idx="5">
                  <c:v>1.968272</c:v>
                </c:pt>
              </c:numCache>
            </c:numRef>
          </c:val>
          <c:smooth val="0"/>
        </c:ser>
        <c:ser>
          <c:idx val="1"/>
          <c:order val="1"/>
          <c:tx>
            <c:v>P4 智慧緩衝＋調派</c:v>
          </c:tx>
          <c:spPr>
            <a:ln xmlns:a="http://schemas.openxmlformats.org/drawingml/2006/main" w="38100">
              <a:solidFill>
                <a:srgbClr val="DF96DA"/>
              </a:solidFill>
            </a:ln>
          </c:spPr>
          <c:marker>
            <c:symbol val="circle"/>
            <c:size val="10"/>
          </c:marker>
          <c:cat>
            <c:strRef>
              <c:f>'Chart Data'!$C$2:$C$7</c:f>
              <c:strCache>
                <c:ptCount val="6"/>
                <c:pt idx="0">
                  <c:v>0m</c:v>
                </c:pt>
                <c:pt idx="1">
                  <c:v>4m</c:v>
                </c:pt>
                <c:pt idx="2">
                  <c:v>8m</c:v>
                </c:pt>
                <c:pt idx="3">
                  <c:v>12m</c:v>
                </c:pt>
                <c:pt idx="4">
                  <c:v>16m</c:v>
                </c:pt>
                <c:pt idx="5">
                  <c:v>24m</c:v>
                </c:pt>
              </c:strCache>
            </c:strRef>
          </c:cat>
          <c:val>
            <c:numRef>
              <c:f>'Chart Data'!$D$2:$D$7</c:f>
              <c:numCache>
                <c:formatCode>0.0</c:formatCode>
                <c:ptCount val="6"/>
                <c:pt idx="0">
                  <c:v>13.226748</c:v>
                </c:pt>
                <c:pt idx="1">
                  <c:v>1.228346</c:v>
                </c:pt>
                <c:pt idx="2">
                  <c:v>0.950505</c:v>
                </c:pt>
                <c:pt idx="3">
                  <c:v>0.710506</c:v>
                </c:pt>
                <c:pt idx="4">
                  <c:v>0.556819</c:v>
                </c:pt>
                <c:pt idx="5">
                  <c:v>0.312099</c:v>
                </c:pt>
              </c:numCache>
            </c:numRef>
          </c:val>
          <c:smooth val="0"/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75">
                  <a:solidFill>
                    <a:srgbClr val="F6E0F5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280EC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4F3B5D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875">
                    <a:solidFill>
                      <a:srgbClr val="F6E0F5"/>
                    </a:solidFill>
                    <a:latin typeface="Microsoft JhengHei"/>
                    <a:ea typeface="Microsoft JhengHei"/>
                    <a:cs typeface="Microsoft JhengHei"/>
                  </a:rPr>
                  <a:t>Blocked %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>
                  <a:solidFill>
                    <a:srgbClr val="F6E0F5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025">
              <a:solidFill>
                <a:srgbClr val="F6E0F5"/>
              </a:solidFill>
              <a:latin typeface="Microsoft JhengHei"/>
              <a:ea typeface="Microsoft JhengHei"/>
              <a:cs typeface="Microsoft JhengHei"/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2AB0FB60-51DC-4511-B063-3117396E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3a913059f7204928"/>
            <a:stretch>
              <a:fillRect l="-4156" t="0" r="-2479" b="-18484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E18A648-ADF0-4ECA-BBFE-6E3B14FA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4404437" h="5655778">
                <a:moveTo>
                  <a:pt x="0" y="0"/>
                </a:moveTo>
                <a:lnTo>
                  <a:pt x="4404437" y="0"/>
                </a:lnTo>
                <a:lnTo>
                  <a:pt x="4404437" y="5655778"/>
                </a:lnTo>
                <a:lnTo>
                  <a:pt x="0" y="5655778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876FAD00-7F09-4141-A826-4B0127B51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653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CC16FCE0-5641-4354-844D-FDD8516FD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653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D5E0B07C-54B7-423D-9B73-C6B7006CE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5998318" y="9036632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a1b1c76c8944951">
              <a:extLst>
                <a:ext uri="{96DAC541-7B7A-43D3-8B79-37D633B846F1}">
                  <asvg:svgBlip xmlns:asvg="http://schemas.microsoft.com/office/drawing/2016/SVG/main" r:embed="Rbd746298b4de44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6FCEE349-80BC-4FA4-AE53-B5AD4E13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1518" y="9036632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a1b1c76c8944951">
              <a:extLst>
                <a:ext uri="{96DAC541-7B7A-43D3-8B79-37D633B846F1}">
                  <asvg:svgBlip xmlns:asvg="http://schemas.microsoft.com/office/drawing/2016/SVG/main" r:embed="Rbd746298b4de44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74B841B2-6793-4304-9249-0664FEC3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42613" y="3188938"/>
            <a:ext cx="12002775" cy="252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19900"/>
              </a:lnSpc>
              <a:spcBef>
                <a:spcPct val="0"/>
              </a:spcBef>
              <a:buNone/>
            </a:pPr>
            <a:r>
              <a:rPr sz="14214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B3BD1E2E-12BE-41A5-9EEE-0F97980E7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693898" y="5373864"/>
            <a:ext cx="6648304" cy="4733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727"/>
              </a:lnSpc>
              <a:spcBef>
                <a:spcPct val="0"/>
              </a:spcBef>
              <a:buNone/>
            </a:pPr>
            <a:r>
              <a:rPr sz="2662" spc="2130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ED72F72A-E74F-44FB-A67C-242EE577D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77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9262F884-89D6-439D-A23D-43C07016E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46459" y="9210675"/>
            <a:ext cx="1131703" cy="4079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212"/>
              </a:lnSpc>
              <a:spcBef>
                <a:spcPct val="0"/>
              </a:spcBef>
              <a:buNone/>
            </a:pPr>
            <a:r>
              <a:rPr sz="2294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81A6CE0A-AAB0-4B4C-AD52-B45A39592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7384997" flipH="0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4404437" h="5655778">
                <a:moveTo>
                  <a:pt x="0" y="0"/>
                </a:moveTo>
                <a:lnTo>
                  <a:pt x="4404437" y="0"/>
                </a:lnTo>
                <a:lnTo>
                  <a:pt x="4404437" y="5655777"/>
                </a:lnTo>
                <a:lnTo>
                  <a:pt x="0" y="5655777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DAFB13CC-3FC1-4001-A341-734A7797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01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2F5921-E68B-4597-BAE1-441C8621DE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483370b6d74590"/>
          <a:srcRect xmlns:a="http://schemas.openxmlformats.org/drawingml/2006/main" l="0" t="15880" r="23187" b="0"/>
          <a:stretch xmlns:a="http://schemas.openxmlformats.org/drawingml/2006/main"/>
        </p:blipFill>
        <p:spPr>
          <a:xfrm xmlns:a="http://schemas.openxmlformats.org/drawingml/2006/main">
            <a:off x="14904815" y="0"/>
            <a:ext cx="3383185" cy="4757642"/>
          </a:xfrm>
          <a:prstGeom xmlns:a="http://schemas.openxmlformats.org/drawingml/2006/main" prst="rect">
            <a:avLst/>
          </a:prstGeom>
        </p:spPr>
      </p:pic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9EB644-B87C-486C-8F78-E99915295A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7f4b4cfdfe4635"/>
          <a:srcRect xmlns:a="http://schemas.openxmlformats.org/drawingml/2006/main" l="13490" t="35208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3810286" cy="3664458"/>
          </a:xfrm>
          <a:prstGeom xmlns:a="http://schemas.openxmlformats.org/drawingml/2006/main" prst="rect">
            <a:avLst/>
          </a:prstGeom>
        </p:spPr>
      </p:pic>
      <p:sp>
        <p:nvSpPr>
          <p:cNvPr id="17" name="內容_1_循環箱逆向物流">
            <a:extLst xmlns:a="http://schemas.openxmlformats.org/drawingml/2006/main">
              <a:ext uri="{FF2B5EF4-FFF2-40B4-BE49-F238E27FC236}">
                <a16:creationId xmlns:a16="http://schemas.microsoft.com/office/drawing/2014/main" id="{EC2EF814-2DE5-4826-B3B0-071391672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95625"/>
            <a:ext cx="13144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0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循環箱逆向物流</a:t>
            </a:r>
          </a:p>
        </p:txBody>
      </p:sp>
      <p:sp>
        <p:nvSpPr>
          <p:cNvPr id="18" name="內容_1_原生數位分身與處方實測">
            <a:extLst xmlns:a="http://schemas.openxmlformats.org/drawingml/2006/main">
              <a:ext uri="{FF2B5EF4-FFF2-40B4-BE49-F238E27FC236}">
                <a16:creationId xmlns:a16="http://schemas.microsoft.com/office/drawing/2014/main" id="{4ED9A97B-CB8D-43DA-AE02-161EB4FC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10125"/>
            <a:ext cx="12382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2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原生數位分身與處方實測</a:t>
            </a:r>
          </a:p>
        </p:txBody>
      </p:sp>
      <p:sp>
        <p:nvSpPr>
          <p:cNvPr id="19" name="內容_1_雙層輸送網・五人作業・500">
            <a:extLst xmlns:a="http://schemas.openxmlformats.org/drawingml/2006/main">
              <a:ext uri="{FF2B5EF4-FFF2-40B4-BE49-F238E27FC236}">
                <a16:creationId xmlns:a16="http://schemas.microsoft.com/office/drawing/2014/main" id="{F9E211E6-9B1D-449C-957F-3B025BCB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6029325"/>
            <a:ext cx="1190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雙層輸送網・五人作業・500 箱資產池</a:t>
            </a:r>
          </a:p>
        </p:txBody>
      </p:sp>
      <p:sp>
        <p:nvSpPr>
          <p:cNvPr id="20" name="內容_1_2026.10.29　循環物">
            <a:extLst xmlns:a="http://schemas.openxmlformats.org/drawingml/2006/main">
              <a:ext uri="{FF2B5EF4-FFF2-40B4-BE49-F238E27FC236}">
                <a16:creationId xmlns:a16="http://schemas.microsoft.com/office/drawing/2014/main" id="{4263C9CB-4E52-488D-9894-450C3AA0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0"/>
            <a:ext cx="1238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2026.10.29　循環物流數位分身實測</a:t>
            </a:r>
          </a:p>
        </p:txBody>
      </p:sp>
    </p:spTree>
    <p:extLst>
      <p:ext uri="{BB962C8B-B14F-4D97-AF65-F5344CB8AC3E}">
        <p14:creationId xmlns:p14="http://schemas.microsoft.com/office/powerpoint/2010/main" val="99398700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B768F0B2-9F10-49CD-847E-FDF94ED53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6079a75cd8b43f8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F8CBD460-8F39-4B3B-89AA-B7E9273C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573B87AB-7D9E-469A-AF73-AC83D36B4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3EF8B70F-10AF-4C31-AE1E-3ADADED4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8229600" h="8229600">
                <a:moveTo>
                  <a:pt x="0" y="0"/>
                </a:moveTo>
                <a:lnTo>
                  <a:pt x="8229600" y="0"/>
                </a:lnTo>
                <a:lnTo>
                  <a:pt x="82296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B0EF2219-AEC9-4109-8DF7-C0AD10E4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0619c62bf6542d8">
              <a:extLst>
                <a:ext uri="{96DAC541-7B7A-43D3-8B79-37D633B846F1}">
                  <asvg:svgBlip xmlns:asvg="http://schemas.microsoft.com/office/drawing/2016/SVG/main" r:embed="Rb39102d3535c43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086B57BA-A473-4A8F-B878-C3723E44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0619c62bf6542d8">
              <a:extLst>
                <a:ext uri="{96DAC541-7B7A-43D3-8B79-37D633B846F1}">
                  <asvg:svgBlip xmlns:asvg="http://schemas.microsoft.com/office/drawing/2016/SVG/main" r:embed="Rb39102d3535c43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2222AA98-1495-42C3-8F01-B41C6BBA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81827" y="3081466"/>
            <a:ext cx="1193201" cy="945883"/>
          </a:xfrm>
          <a:custGeom xmlns:a="http://schemas.openxmlformats.org/drawingml/2006/main">
            <a:rect l="l" t="t" r="r" b="b"/>
            <a:pathLst>
              <a:path w="1193201" h="945883">
                <a:moveTo>
                  <a:pt x="0" y="0"/>
                </a:moveTo>
                <a:lnTo>
                  <a:pt x="1193202" y="0"/>
                </a:lnTo>
                <a:lnTo>
                  <a:pt x="1193202" y="945884"/>
                </a:lnTo>
                <a:lnTo>
                  <a:pt x="0" y="945884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531A13EA-35F3-4832-9F77-86891B74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da29c1f09e94dfe"/>
            <a:stretch>
              <a:fillRect l="0" t="0" r="0" b="0"/>
            </a:stretch>
          </a:blipFill>
        </p:spPr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75A67D2B-5487-412D-9C31-7B12F5A0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72A63377-BFF7-43BB-8A44-2C3645EE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46147" y="2929066"/>
            <a:ext cx="6295768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03FB8699-AFAC-4273-9969-2196AEBC4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46147" y="4411178"/>
            <a:ext cx="9037377" cy="4119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244"/>
              </a:lnSpc>
              <a:spcBef>
                <a:spcPct val="0"/>
              </a:spcBef>
              <a:buNone/>
            </a:pPr>
            <a:r>
              <a:rPr sz="231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AEA35812-8E40-48F8-8577-DB2E657BE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406612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02</a:t>
            </a:r>
          </a:p>
        </p:txBody>
      </p:sp>
      <p:sp>
        <p:nvSpPr>
          <p:cNvPr id="15" name="內容_2_商業洞察">
            <a:extLst xmlns:a="http://schemas.openxmlformats.org/drawingml/2006/main">
              <a:ext uri="{FF2B5EF4-FFF2-40B4-BE49-F238E27FC236}">
                <a16:creationId xmlns:a16="http://schemas.microsoft.com/office/drawing/2014/main" id="{D0FCA70F-1AD9-40FA-881C-31E13D796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商業洞察</a:t>
            </a:r>
          </a:p>
        </p:txBody>
      </p:sp>
      <p:sp>
        <p:nvSpPr>
          <p:cNvPr id="16" name="內容_2_退貨商品與空箱互相牽制">
            <a:extLst xmlns:a="http://schemas.openxmlformats.org/drawingml/2006/main">
              <a:ext uri="{FF2B5EF4-FFF2-40B4-BE49-F238E27FC236}">
                <a16:creationId xmlns:a16="http://schemas.microsoft.com/office/drawing/2014/main" id="{035D9D0F-A0CB-4523-9D7B-32BF29104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退貨商品與空箱互相牽制</a:t>
            </a:r>
          </a:p>
        </p:txBody>
      </p:sp>
      <p:sp>
        <p:nvSpPr>
          <p:cNvPr id="17" name="內容_2_30%–40%">
            <a:extLst xmlns:a="http://schemas.openxmlformats.org/drawingml/2006/main">
              <a:ext uri="{FF2B5EF4-FFF2-40B4-BE49-F238E27FC236}">
                <a16:creationId xmlns:a16="http://schemas.microsoft.com/office/drawing/2014/main" id="{A0E3DDD1-D727-4751-97E2-B93D4633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572000"/>
            <a:ext cx="714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84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84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84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84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84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84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84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84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84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84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84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4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30%–40%</a:t>
            </a:r>
          </a:p>
        </p:txBody>
      </p:sp>
      <p:sp>
        <p:nvSpPr>
          <p:cNvPr id="18" name="內容_2_課程設定的退貨率">
            <a:extLst xmlns:a="http://schemas.openxmlformats.org/drawingml/2006/main">
              <a:ext uri="{FF2B5EF4-FFF2-40B4-BE49-F238E27FC236}">
                <a16:creationId xmlns:a16="http://schemas.microsoft.com/office/drawing/2014/main" id="{B200D02F-A92E-49AA-96C6-C09885DB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953125"/>
            <a:ext cx="714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課程設定的退貨率</a:t>
            </a:r>
          </a:p>
        </p:txBody>
      </p:sp>
      <p:sp>
        <p:nvSpPr>
          <p:cNvPr id="19" name="內容_2_清洗停機或尖峰到達，&#10;空箱回">
            <a:extLst xmlns:a="http://schemas.openxmlformats.org/drawingml/2006/main">
              <a:ext uri="{FF2B5EF4-FFF2-40B4-BE49-F238E27FC236}">
                <a16:creationId xmlns:a16="http://schemas.microsoft.com/office/drawing/2014/main" id="{FFA26417-2C66-4060-80AC-DE10B3F1E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24375"/>
            <a:ext cx="74295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清洗停機或尖峰到達，</a:t>
            </a:r>
          </a:p>
          <a:p xmlns:a="http://schemas.openxmlformats.org/drawingml/2006/main">
            <a: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空箱回堵到拆包端，商品等待QA。</a:t>
            </a:r>
          </a:p>
          <a:p xmlns:a="http://schemas.openxmlformats.org/drawingml/2006/main">
            <a: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Q-Time從外部到達起算，涵蓋節流等待。</a:t>
            </a:r>
          </a:p>
        </p:txBody>
      </p:sp>
      <p:sp>
        <p:nvSpPr>
          <p:cNvPr id="20" name="內容_2_商業目的：降低履約延誤，同時">
            <a:extLst xmlns:a="http://schemas.openxmlformats.org/drawingml/2006/main">
              <a:ext uri="{FF2B5EF4-FFF2-40B4-BE49-F238E27FC236}">
                <a16:creationId xmlns:a16="http://schemas.microsoft.com/office/drawing/2014/main" id="{ECEF2DD7-52DE-4F26-8FEB-D70FEEC0F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商業目的：降低履約延誤，同時檢查減碳、包材全成本與投資回收。</a:t>
            </a:r>
          </a:p>
        </p:txBody>
      </p:sp>
    </p:spTree>
    <p:extLst>
      <p:ext uri="{BB962C8B-B14F-4D97-AF65-F5344CB8AC3E}">
        <p14:creationId xmlns:p14="http://schemas.microsoft.com/office/powerpoint/2010/main" val="11105736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C6B80FCB-5967-4DD7-BAE7-94A67A35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dc8227730fd472f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75BF958D-065D-497C-9C86-89E68CD5F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BF63B4A6-A6B3-479B-A101-1B3E2C9D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EEA763E9-12F0-40DF-9509-BEF0B571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8229600" h="8229600">
                <a:moveTo>
                  <a:pt x="8229600" y="0"/>
                </a:moveTo>
                <a:lnTo>
                  <a:pt x="0" y="0"/>
                </a:lnTo>
                <a:lnTo>
                  <a:pt x="0" y="8229600"/>
                </a:lnTo>
                <a:lnTo>
                  <a:pt x="8229600" y="8229600"/>
                </a:lnTo>
                <a:lnTo>
                  <a:pt x="822960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C3C4A094-E970-48CE-A852-8CD84A82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3f287057ba204378">
              <a:extLst>
                <a:ext uri="{96DAC541-7B7A-43D3-8B79-37D633B846F1}">
                  <asvg:svgBlip xmlns:asvg="http://schemas.microsoft.com/office/drawing/2016/SVG/main" r:embed="R43de1af42f75473a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9CBC2C10-305D-48E9-9236-EE34937C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3f287057ba204378">
              <a:extLst>
                <a:ext uri="{96DAC541-7B7A-43D3-8B79-37D633B846F1}">
                  <asvg:svgBlip xmlns:asvg="http://schemas.microsoft.com/office/drawing/2016/SVG/main" r:embed="R43de1af42f75473a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F7308B09-F384-48DC-BFA8-EFAB619D2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70676BD2-1DC6-443B-AD3E-97740DBD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96116" y="3171098"/>
            <a:ext cx="6295768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181888C5-5E29-4B03-AD64-6970AFBEA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65322" y="4730410"/>
            <a:ext cx="10408977" cy="4119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244"/>
              </a:lnSpc>
              <a:spcBef>
                <a:spcPct val="0"/>
              </a:spcBef>
              <a:buNone/>
            </a:pPr>
            <a:r>
              <a:rPr sz="231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E2F53345-89DE-4201-81E2-9DF7E01C5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1926" y="2209914"/>
            <a:ext cx="6295768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08CEBC89-4CC4-4000-9C39-2E9016D3C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1831f5c31c094cee"/>
            <a:stretch>
              <a:fillRect l="0" t="0" r="0" b="0"/>
            </a:stretch>
          </a:blipFill>
        </p:spPr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B255A049-7F43-4352-8492-9302C2E37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03</a:t>
            </a:r>
          </a:p>
        </p:txBody>
      </p:sp>
      <p:sp>
        <p:nvSpPr>
          <p:cNvPr id="15" name="內容_3_目標 KPI">
            <a:extLst xmlns:a="http://schemas.openxmlformats.org/drawingml/2006/main">
              <a:ext uri="{FF2B5EF4-FFF2-40B4-BE49-F238E27FC236}">
                <a16:creationId xmlns:a16="http://schemas.microsoft.com/office/drawing/2014/main" id="{7CC990A5-0BBD-4F82-86BB-DD213A774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目標 KPI</a:t>
            </a:r>
          </a:p>
        </p:txBody>
      </p:sp>
      <p:sp>
        <p:nvSpPr>
          <p:cNvPr id="16" name="內容_3_課程目標逐項驗證">
            <a:extLst xmlns:a="http://schemas.openxmlformats.org/drawingml/2006/main">
              <a:ext uri="{FF2B5EF4-FFF2-40B4-BE49-F238E27FC236}">
                <a16:creationId xmlns:a16="http://schemas.microsoft.com/office/drawing/2014/main" id="{5CBD33A6-19CD-4668-9970-8575DA5D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課程目標逐項驗證</a:t>
            </a:r>
          </a:p>
        </p:txBody>
      </p:sp>
      <p:graphicFrame>
        <p:nvGraphicFrame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79A01-F69E-4BC5-B720-BC2C9F5DA1F5}"/>
              </a:ext>
            </a:extLst>
          </p:cNvPr>
          <p:cNvGraphicFramePr/>
          <p:nvPr/>
        </p:nvGraphicFramePr>
        <p:xfrm>
          <a:off xmlns:a="http://schemas.openxmlformats.org/drawingml/2006/main" x="1581150" y="4333875"/>
          <a:ext xmlns:a="http://schemas.openxmlformats.org/drawingml/2006/main" cx="142875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4762500"/>
                <a:gridCol w="4762500"/>
              </a:tblGrid>
              <a:tr h="685800">
                <a:tc>
                  <a:txBody>
                    <a:bodyPr wrap="square" lIns="152400" tIns="85725" rIns="114300" bIns="76200"/>
                    <a:lstStyle/>
                    <a:p>
                      <a:r>
                        <a:rPr sz="2250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指標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250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判定門檻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250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本案的計算界線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</a:tr>
              <a:tr h="685800">
                <a:tc>
                  <a:txBody>
                    <a:bodyPr wrap="square" lIns="152400" tIns="85725" rIns="114300" bIns="76200"/>
                    <a:lstStyle/>
                    <a:p>
                      <a:r>
                        <a:rPr sz="22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結案率保守下界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2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≥99.5%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2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1－期末退貨商品WIP／觀察期退貨量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85800">
                <a:tc>
                  <a:txBody>
                    <a:bodyPr wrap="square" lIns="152400" tIns="85725" rIns="114300" bIns="76200"/>
                    <a:lstStyle/>
                    <a:p>
                      <a:r>
                        <a:rPr sz="22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Separator Blocked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2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&lt;1%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2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暖機後狀態時間／觀察時間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85800">
                <a:tc>
                  <a:txBody>
                    <a:bodyPr wrap="square" lIns="152400" tIns="85725" rIns="114300" bIns="76200"/>
                    <a:lstStyle/>
                    <a:p>
                      <a:r>
                        <a:rPr sz="22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Q-Time 超 24 h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2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 件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2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外部到達至開始 QA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85800">
                <a:tc>
                  <a:txBody>
                    <a:bodyPr wrap="square" lIns="152400" tIns="85725" rIns="114300" bIns="76200"/>
                    <a:lstStyle/>
                    <a:p>
                      <a:r>
                        <a:rPr sz="22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淨減碳／包材節約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2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42%／65%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25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能耗實算；含循環箱報廢剩餘價值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</a:tbl>
          </a:graphicData>
        </a:graphic>
      </p:graphicFrame>
      <p:sp>
        <p:nvSpPr>
          <p:cNvPr id="18" name="內容_3_原課程通過率混入商品、箱與外">
            <a:extLst xmlns:a="http://schemas.openxmlformats.org/drawingml/2006/main">
              <a:ext uri="{FF2B5EF4-FFF2-40B4-BE49-F238E27FC236}">
                <a16:creationId xmlns:a16="http://schemas.microsoft.com/office/drawing/2014/main" id="{CA5FCCEA-00A4-43BD-986E-7B0401B92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原課程通過率混入商品、箱與外包事件，會超過100%；本案另列該值並使用商品口徑決策。</a:t>
            </a:r>
          </a:p>
        </p:txBody>
      </p:sp>
    </p:spTree>
    <p:extLst>
      <p:ext uri="{BB962C8B-B14F-4D97-AF65-F5344CB8AC3E}">
        <p14:creationId xmlns:p14="http://schemas.microsoft.com/office/powerpoint/2010/main" val="133863472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4E9C1312-4FDD-4E31-B61A-739991B9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80f76f243ce48d7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33E71BAF-8B75-4F6B-ACB4-AFB91039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0B6FFD25-00E7-49B6-9D98-B56B55BA0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3405CE03-3568-4473-9489-1262DA229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de9e951150a4048"/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348FEE13-A320-4032-A090-FD5E954D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68b43225ee5b4724">
              <a:extLst>
                <a:ext uri="{96DAC541-7B7A-43D3-8B79-37D633B846F1}">
                  <asvg:svgBlip xmlns:asvg="http://schemas.microsoft.com/office/drawing/2016/SVG/main" r:embed="R2a16af7fdb8845ec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9F860895-218C-49F5-9A4D-37D78ECA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68b43225ee5b4724">
              <a:extLst>
                <a:ext uri="{96DAC541-7B7A-43D3-8B79-37D633B846F1}">
                  <asvg:svgBlip xmlns:asvg="http://schemas.microsoft.com/office/drawing/2016/SVG/main" r:embed="R2a16af7fdb8845ec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19A69EAC-68CA-4F6E-AF5E-14128B810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3291840" h="4114800">
                <a:moveTo>
                  <a:pt x="0" y="0"/>
                </a:moveTo>
                <a:lnTo>
                  <a:pt x="3291840" y="0"/>
                </a:lnTo>
                <a:lnTo>
                  <a:pt x="32918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430797E4-E25A-4016-B891-809DE884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3106500"/>
            <a:ext cx="1152525" cy="1152525"/>
          </a:xfrm>
          <a:custGeom xmlns:a="http://schemas.openxmlformats.org/drawingml/2006/main">
            <a:rect l="l" t="t" r="r" b="b"/>
            <a:pathLst>
              <a:path w="1152525" h="1152525">
                <a:moveTo>
                  <a:pt x="0" y="0"/>
                </a:moveTo>
                <a:lnTo>
                  <a:pt x="1152525" y="0"/>
                </a:lnTo>
                <a:lnTo>
                  <a:pt x="1152525" y="1152525"/>
                </a:lnTo>
                <a:lnTo>
                  <a:pt x="0" y="1152525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757B7C7A-24E2-48DD-9DC1-122AD197D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57DF806C-6108-4080-B2AC-E8343F673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04</a:t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AC5BBECE-3329-4823-8777-98DDA295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10577" y="3323498"/>
            <a:ext cx="7038718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87F742EA-D8B4-4068-AC22-2C87C2E5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10577" y="2438514"/>
            <a:ext cx="6295768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4FEF20BD-C1E9-456B-BF42-A7E359CD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010577" y="5143500"/>
            <a:ext cx="3415031" cy="766076"/>
          </a:xfrm>
          <a:custGeom xmlns:a="http://schemas.openxmlformats.org/drawingml/2006/main">
            <a:rect l="l" t="t" r="r" b="b"/>
            <a:pathLst>
              <a:path w="1811659" h="406400">
                <a:moveTo>
                  <a:pt x="1608459" y="0"/>
                </a:moveTo>
                <a:cubicBezTo>
                  <a:pt x="1720683" y="0"/>
                  <a:pt x="1811659" y="90976"/>
                  <a:pt x="1811659" y="203200"/>
                </a:cubicBezTo>
                <a:cubicBezTo>
                  <a:pt x="1811659" y="315424"/>
                  <a:pt x="1720683" y="406400"/>
                  <a:pt x="16084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B7A2ABC0-3032-49BB-9A23-81799C672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010577" y="5233274"/>
            <a:ext cx="3415031" cy="6763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3F9DBEDF-4748-49C8-9AA9-E252FFCCE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01758" y="5347142"/>
            <a:ext cx="3123850" cy="43294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409"/>
              </a:lnSpc>
              <a:spcBef>
                <a:spcPct val="0"/>
              </a:spcBef>
              <a:buNone/>
            </a:pPr>
            <a:r>
              <a:rPr sz="24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68D22713-D8DE-42BC-A7DB-73EADB5B1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0438" y="5086350"/>
            <a:ext cx="7800718" cy="43294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409"/>
              </a:lnSpc>
              <a:spcBef>
                <a:spcPct val="0"/>
              </a:spcBef>
              <a:buNone/>
            </a:pPr>
            <a:r>
              <a:rPr sz="24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1" name="Freeform 21">
            <a:extLst xmlns:a="http://schemas.openxmlformats.org/drawingml/2006/main">
              <a:ext uri="{FF2B5EF4-FFF2-40B4-BE49-F238E27FC236}">
                <a16:creationId xmlns:a16="http://schemas.microsoft.com/office/drawing/2014/main" id="{365B4CDF-8E53-47AB-BE27-93CD299DE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010577" y="6951600"/>
            <a:ext cx="4148386" cy="766076"/>
          </a:xfrm>
          <a:custGeom xmlns:a="http://schemas.openxmlformats.org/drawingml/2006/main">
            <a:rect l="l" t="t" r="r" b="b"/>
            <a:pathLst>
              <a:path w="2200700" h="406400">
                <a:moveTo>
                  <a:pt x="1997500" y="0"/>
                </a:moveTo>
                <a:cubicBezTo>
                  <a:pt x="2109724" y="0"/>
                  <a:pt x="2200700" y="90976"/>
                  <a:pt x="2200700" y="203200"/>
                </a:cubicBezTo>
                <a:cubicBezTo>
                  <a:pt x="2200700" y="315424"/>
                  <a:pt x="2109724" y="406400"/>
                  <a:pt x="1997500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36DDE20E-17E4-47C5-85C6-D0DC68D8B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010577" y="7041374"/>
            <a:ext cx="4148385" cy="6763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BB14F45C-E5D9-4D73-A4CB-4A6E51FBD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01758" y="7155242"/>
            <a:ext cx="3714400" cy="43294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409"/>
              </a:lnSpc>
              <a:spcBef>
                <a:spcPct val="0"/>
              </a:spcBef>
              <a:buNone/>
            </a:pPr>
            <a:r>
              <a:rPr sz="24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0064DB07-97F9-405E-A4D8-827C5E06A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0438" y="6894450"/>
            <a:ext cx="7800718" cy="43294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409"/>
              </a:lnSpc>
              <a:spcBef>
                <a:spcPct val="0"/>
              </a:spcBef>
              <a:buNone/>
            </a:pPr>
            <a:r>
              <a:rPr sz="24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BE06D7-FD84-4009-ADF8-0B2E5C8C93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eb8412fc24dd9"/>
          <a:srcRect xmlns:a="http://schemas.openxmlformats.org/drawingml/2006/main" l="45370" t="1050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1798320" cy="3682746"/>
          </a:xfrm>
          <a:prstGeom xmlns:a="http://schemas.openxmlformats.org/drawingml/2006/main" prst="rect">
            <a:avLst/>
          </a:prstGeom>
        </p:spPr>
      </p:pic>
      <p:sp>
        <p:nvSpPr>
          <p:cNvPr id="26" name="內容_4_雙閉環架構">
            <a:extLst xmlns:a="http://schemas.openxmlformats.org/drawingml/2006/main">
              <a:ext uri="{FF2B5EF4-FFF2-40B4-BE49-F238E27FC236}">
                <a16:creationId xmlns:a16="http://schemas.microsoft.com/office/drawing/2014/main" id="{34350619-3061-45B0-AFB5-CA225E315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雙閉環架構</a:t>
            </a:r>
          </a:p>
        </p:txBody>
      </p:sp>
      <p:sp>
        <p:nvSpPr>
          <p:cNvPr id="27" name="內容_4_商品與循環箱分離後再配對">
            <a:extLst xmlns:a="http://schemas.openxmlformats.org/drawingml/2006/main">
              <a:ext uri="{FF2B5EF4-FFF2-40B4-BE49-F238E27FC236}">
                <a16:creationId xmlns:a16="http://schemas.microsoft.com/office/drawing/2014/main" id="{FDA849D2-D377-4A47-B4C6-A42AB9C3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商品與循環箱分離後再配對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003C69-5676-41D7-9458-9A5C2FAC8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334000"/>
            <a:ext cx="2286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1142F"/>
          </a:solidFill>
          <a:ln xmlns:a="http://schemas.openxmlformats.org/drawingml/2006/main" w="19050">
            <a:solidFill>
              <a:srgbClr val="A280EC"/>
            </a:solidFill>
          </a:ln>
        </p:spPr>
        <p:txBody>
          <a:bodyPr xmlns:a="http://schemas.openxmlformats.org/drawingml/2006/main" wrap="square" anchor="ctr"/>
          <a:lstStyle xmlns:a="http://schemas.openxmlformats.org/drawingml/2006/main">
            <a:def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退貨入庫</a:t>
            </a:r>
          </a:p>
          <a:p xmlns:a="http://schemas.openxmlformats.org/drawingml/2006/main">
            <a: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拆包分離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D4C286-7219-4C6F-A2BD-5B2D65F54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33875"/>
            <a:ext cx="2286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1142F"/>
          </a:solidFill>
          <a:ln xmlns:a="http://schemas.openxmlformats.org/drawingml/2006/main" w="19050">
            <a:solidFill>
              <a:srgbClr val="A280EC"/>
            </a:solidFill>
          </a:ln>
        </p:spPr>
        <p:txBody>
          <a:bodyPr xmlns:a="http://schemas.openxmlformats.org/drawingml/2006/main" wrap="square" anchor="ctr"/>
          <a:lstStyle xmlns:a="http://schemas.openxmlformats.org/drawingml/2006/main">
            <a:def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商品：QA檢驗</a:t>
            </a:r>
          </a:p>
          <a:p xmlns:a="http://schemas.openxmlformats.org/drawingml/2006/main">
            <a: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40s／支援20s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1FEA02-AEA6-4F6C-9176-C7924AB4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33875"/>
            <a:ext cx="2286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1142F"/>
          </a:solidFill>
          <a:ln xmlns:a="http://schemas.openxmlformats.org/drawingml/2006/main" w="19050">
            <a:solidFill>
              <a:srgbClr val="A280EC"/>
            </a:solidFill>
          </a:ln>
        </p:spPr>
        <p:txBody>
          <a:bodyPr xmlns:a="http://schemas.openxmlformats.org/drawingml/2006/main" wrap="square" anchor="ctr"/>
          <a:lstStyle xmlns:a="http://schemas.openxmlformats.org/drawingml/2006/main">
            <a:def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A15s／B120s</a:t>
            </a:r>
          </a:p>
          <a:p xmlns:a="http://schemas.openxmlformats.org/drawingml/2006/main">
            <a: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C60s報廢退出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0F9EDE-B01F-4B76-8EC5-FF9267435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572250"/>
            <a:ext cx="2286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1142F"/>
          </a:solidFill>
          <a:ln xmlns:a="http://schemas.openxmlformats.org/drawingml/2006/main" w="19050">
            <a:solidFill>
              <a:srgbClr val="A280EC"/>
            </a:solidFill>
          </a:ln>
        </p:spPr>
        <p:txBody>
          <a:bodyPr xmlns:a="http://schemas.openxmlformats.org/drawingml/2006/main" wrap="square" anchor="ctr"/>
          <a:lstStyle xmlns:a="http://schemas.openxmlformats.org/drawingml/2006/main">
            <a:def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空箱：4m高程緩衝</a:t>
            </a:r>
          </a:p>
          <a:p xmlns:a="http://schemas.openxmlformats.org/drawingml/2006/main">
            <a: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清洗30s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4A7B88-1CA6-43FD-BD01-83586C61C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6572250"/>
            <a:ext cx="2286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1142F"/>
          </a:solidFill>
          <a:ln xmlns:a="http://schemas.openxmlformats.org/drawingml/2006/main" w="19050">
            <a:solidFill>
              <a:srgbClr val="A280EC"/>
            </a:solidFill>
          </a:ln>
        </p:spPr>
        <p:txBody>
          <a:bodyPr xmlns:a="http://schemas.openxmlformats.org/drawingml/2006/main" wrap="square" anchor="ctr"/>
          <a:lstStyle xmlns:a="http://schemas.openxmlformats.org/drawingml/2006/main">
            <a:def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風乾6m／檢驗5s</a:t>
            </a:r>
          </a:p>
          <a:p xmlns:a="http://schemas.openxmlformats.org/drawingml/2006/main">
            <a: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2%箱報廢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341731-DE96-42D9-9708-85A425DA5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334000"/>
            <a:ext cx="2286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1142F"/>
          </a:solidFill>
          <a:ln xmlns:a="http://schemas.openxmlformats.org/drawingml/2006/main" w="19050">
            <a:solidFill>
              <a:srgbClr val="A280EC"/>
            </a:solidFill>
          </a:ln>
        </p:spPr>
        <p:txBody>
          <a:bodyPr xmlns:a="http://schemas.openxmlformats.org/drawingml/2006/main" wrap="square" anchor="ctr"/>
          <a:lstStyle xmlns:a="http://schemas.openxmlformats.org/drawingml/2006/main">
            <a:def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Combiner</a:t>
            </a:r>
          </a:p>
          <a:p xmlns:a="http://schemas.openxmlformats.org/drawingml/2006/main">
            <a: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一箱一件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8CB67F-F82B-49BA-95AA-F65BDE501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68375" y="5334000"/>
            <a:ext cx="2143125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1142F"/>
          </a:solidFill>
          <a:ln xmlns:a="http://schemas.openxmlformats.org/drawingml/2006/main" w="19050">
            <a:solidFill>
              <a:srgbClr val="A280EC"/>
            </a:solidFill>
          </a:ln>
        </p:spPr>
        <p:txBody>
          <a:bodyPr xmlns:a="http://schemas.openxmlformats.org/drawingml/2006/main" wrap="square" anchor="ctr"/>
          <a:lstStyle xmlns:a="http://schemas.openxmlformats.org/drawingml/2006/main">
            <a:def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出庫</a:t>
            </a:r>
          </a:p>
          <a:p xmlns:a="http://schemas.openxmlformats.org/drawingml/2006/main">
            <a:pPr algn="ctr">
              <a:def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釋回箱資產</a:t>
            </a:r>
          </a:p>
        </p:txBody>
      </p:sp>
      <p:sp>
        <p:nvSpPr>
          <p:cNvPr id="35" name="內容_4_↗">
            <a:extLst xmlns:a="http://schemas.openxmlformats.org/drawingml/2006/main">
              <a:ext uri="{FF2B5EF4-FFF2-40B4-BE49-F238E27FC236}">
                <a16:creationId xmlns:a16="http://schemas.microsoft.com/office/drawing/2014/main" id="{D4527646-6D1B-43F5-A164-FB79C775F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762500"/>
            <a:ext cx="66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↗</a:t>
            </a:r>
          </a:p>
        </p:txBody>
      </p:sp>
      <p:sp>
        <p:nvSpPr>
          <p:cNvPr id="36" name="內容_4_→">
            <a:extLst xmlns:a="http://schemas.openxmlformats.org/drawingml/2006/main">
              <a:ext uri="{FF2B5EF4-FFF2-40B4-BE49-F238E27FC236}">
                <a16:creationId xmlns:a16="http://schemas.microsoft.com/office/drawing/2014/main" id="{73693387-93EB-42A6-876B-EECD5DEE8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524375"/>
            <a:ext cx="66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37" name="內容_4_↘">
            <a:extLst xmlns:a="http://schemas.openxmlformats.org/drawingml/2006/main">
              <a:ext uri="{FF2B5EF4-FFF2-40B4-BE49-F238E27FC236}">
                <a16:creationId xmlns:a16="http://schemas.microsoft.com/office/drawing/2014/main" id="{D4F42D80-0EFF-43D6-9C83-552C60C0F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762500"/>
            <a:ext cx="66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↘</a:t>
            </a:r>
          </a:p>
        </p:txBody>
      </p:sp>
      <p:sp>
        <p:nvSpPr>
          <p:cNvPr id="38" name="內容_4_↘">
            <a:extLst xmlns:a="http://schemas.openxmlformats.org/drawingml/2006/main">
              <a:ext uri="{FF2B5EF4-FFF2-40B4-BE49-F238E27FC236}">
                <a16:creationId xmlns:a16="http://schemas.microsoft.com/office/drawing/2014/main" id="{5FE730D9-1642-48E9-9D75-40DDCD4E0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6191250"/>
            <a:ext cx="66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↘</a:t>
            </a:r>
          </a:p>
        </p:txBody>
      </p:sp>
      <p:sp>
        <p:nvSpPr>
          <p:cNvPr id="39" name="內容_4_→">
            <a:extLst xmlns:a="http://schemas.openxmlformats.org/drawingml/2006/main">
              <a:ext uri="{FF2B5EF4-FFF2-40B4-BE49-F238E27FC236}">
                <a16:creationId xmlns:a16="http://schemas.microsoft.com/office/drawing/2014/main" id="{7892B1C5-E5C2-4640-839B-B08EFA17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6762750"/>
            <a:ext cx="66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40" name="內容_4_↗">
            <a:extLst xmlns:a="http://schemas.openxmlformats.org/drawingml/2006/main">
              <a:ext uri="{FF2B5EF4-FFF2-40B4-BE49-F238E27FC236}">
                <a16:creationId xmlns:a16="http://schemas.microsoft.com/office/drawing/2014/main" id="{3D97FC69-B4F4-47E8-A9AF-98F2E1C85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6334125"/>
            <a:ext cx="66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↗</a:t>
            </a:r>
          </a:p>
        </p:txBody>
      </p:sp>
      <p:sp>
        <p:nvSpPr>
          <p:cNvPr id="41" name="內容_4_→">
            <a:extLst xmlns:a="http://schemas.openxmlformats.org/drawingml/2006/main">
              <a:ext uri="{FF2B5EF4-FFF2-40B4-BE49-F238E27FC236}">
                <a16:creationId xmlns:a16="http://schemas.microsoft.com/office/drawing/2014/main" id="{C57A0F3B-7476-4E68-8A77-042C458AB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1625" y="5476875"/>
            <a:ext cx="666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42" name="內容_4_有限500箱資產池，每箱15">
            <a:extLst xmlns:a="http://schemas.openxmlformats.org/drawingml/2006/main">
              <a:ext uri="{FF2B5EF4-FFF2-40B4-BE49-F238E27FC236}">
                <a16:creationId xmlns:a16="http://schemas.microsoft.com/office/drawing/2014/main" id="{D3720AD1-5C01-4611-B1BF-6AC9B87A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7715250"/>
            <a:ext cx="1428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有限500箱資產池，每箱150次；外包支線延遲4h並保留系統WIP</a:t>
            </a:r>
          </a:p>
        </p:txBody>
      </p:sp>
      <p:sp>
        <p:nvSpPr>
          <p:cNvPr id="43" name="內容_4_0m緩衝採原生真旁路。商品／">
            <a:extLst xmlns:a="http://schemas.openxmlformats.org/drawingml/2006/main">
              <a:ext uri="{FF2B5EF4-FFF2-40B4-BE49-F238E27FC236}">
                <a16:creationId xmlns:a16="http://schemas.microsoft.com/office/drawing/2014/main" id="{E8CD86B9-9446-422F-B7B6-44A1CE962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0m緩衝採原生真旁路。商品／空箱各自守恆，回到Combiner才一箱一件。</a:t>
            </a:r>
          </a:p>
        </p:txBody>
      </p:sp>
    </p:spTree>
    <p:extLst>
      <p:ext uri="{BB962C8B-B14F-4D97-AF65-F5344CB8AC3E}">
        <p14:creationId xmlns:p14="http://schemas.microsoft.com/office/powerpoint/2010/main" val="164546901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E5BBCF98-FA04-4286-96FD-41E95B587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3860624033c84755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B7252006-C467-4ACD-BCD8-747DF7F00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4524FE7E-DDF3-4FF9-965B-FEC0B89C2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C4FDF081-854A-473A-90A4-5DF7F4D5C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34a2ccaf03794b91"/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2369439A-CC36-47B7-9A4C-2A97DE0B3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19179fe96e54266">
              <a:extLst>
                <a:ext uri="{96DAC541-7B7A-43D3-8B79-37D633B846F1}">
                  <asvg:svgBlip xmlns:asvg="http://schemas.microsoft.com/office/drawing/2016/SVG/main" r:embed="Rc447e5ed224b40b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8BC80393-E9F9-4E0A-BBEA-8EAFF397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19179fe96e54266">
              <a:extLst>
                <a:ext uri="{96DAC541-7B7A-43D3-8B79-37D633B846F1}">
                  <asvg:svgBlip xmlns:asvg="http://schemas.microsoft.com/office/drawing/2016/SVG/main" r:embed="Rc447e5ed224b40b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D2272730-3B2B-4013-A107-07C15B12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82280" y="4093584"/>
            <a:ext cx="3771900" cy="3771900"/>
          </a:xfrm>
          <a:custGeom xmlns:a="http://schemas.openxmlformats.org/drawingml/2006/main">
            <a:rect l="l" t="t" r="r" b="b"/>
            <a:pathLst>
              <a:path w="3771900" h="3771900">
                <a:moveTo>
                  <a:pt x="0" y="0"/>
                </a:moveTo>
                <a:lnTo>
                  <a:pt x="3771900" y="0"/>
                </a:lnTo>
                <a:lnTo>
                  <a:pt x="3771900" y="3771900"/>
                </a:lnTo>
                <a:lnTo>
                  <a:pt x="0" y="37719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79DDA1D0-FAA9-42E7-B2C5-6CD3A6378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2FAE4505-3A6E-44C6-9CA1-825A237F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05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132F494E-F3F5-4660-8D59-E3A49D757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25016" y="2209914"/>
            <a:ext cx="4143118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967FAA73-1BE3-43FA-A84C-64816105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17176" y="2209914"/>
            <a:ext cx="2307840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4" name="Freeform 14">
            <a:extLst xmlns:a="http://schemas.openxmlformats.org/drawingml/2006/main">
              <a:ext uri="{FF2B5EF4-FFF2-40B4-BE49-F238E27FC236}">
                <a16:creationId xmlns:a16="http://schemas.microsoft.com/office/drawing/2014/main" id="{BCD62257-3BB5-4F43-8700-871A578D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258050" y="4093584"/>
            <a:ext cx="3771900" cy="3771900"/>
          </a:xfrm>
          <a:custGeom xmlns:a="http://schemas.openxmlformats.org/drawingml/2006/main">
            <a:rect l="l" t="t" r="r" b="b"/>
            <a:pathLst>
              <a:path w="3771900" h="3771900">
                <a:moveTo>
                  <a:pt x="0" y="0"/>
                </a:moveTo>
                <a:lnTo>
                  <a:pt x="3771900" y="0"/>
                </a:lnTo>
                <a:lnTo>
                  <a:pt x="3771900" y="3771900"/>
                </a:lnTo>
                <a:lnTo>
                  <a:pt x="0" y="37719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D4D183B7-9EDC-4F4E-A99B-825C8C56C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81875" y="4093584"/>
            <a:ext cx="3771900" cy="3771900"/>
          </a:xfrm>
          <a:custGeom xmlns:a="http://schemas.openxmlformats.org/drawingml/2006/main">
            <a:rect l="l" t="t" r="r" b="b"/>
            <a:pathLst>
              <a:path w="3771900" h="3771900">
                <a:moveTo>
                  <a:pt x="0" y="0"/>
                </a:moveTo>
                <a:lnTo>
                  <a:pt x="3771900" y="0"/>
                </a:lnTo>
                <a:lnTo>
                  <a:pt x="3771900" y="3771900"/>
                </a:lnTo>
                <a:lnTo>
                  <a:pt x="0" y="37719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41ECCC13-4E72-41D9-8BD3-3CA71176E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28856" y="4741578"/>
            <a:ext cx="2345448" cy="4541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576"/>
              </a:lnSpc>
              <a:buNone/>
            </a:pPr>
            <a:r>
              <a:rPr sz="2751">
                <a:solidFill>
                  <a:srgbClr val="C9BBE8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F6834DBC-7A58-44E4-B030-F40F90F6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29506" y="4741578"/>
            <a:ext cx="2345448" cy="4541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576"/>
              </a:lnSpc>
              <a:buNone/>
            </a:pPr>
            <a:r>
              <a:rPr sz="2751">
                <a:solidFill>
                  <a:srgbClr val="C9BBE8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7A2E6FBA-0C59-46B8-9B97-843FD45C2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54398" y="4741578"/>
            <a:ext cx="2345448" cy="4541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576"/>
              </a:lnSpc>
              <a:buNone/>
            </a:pPr>
            <a:r>
              <a:rPr sz="2751">
                <a:solidFill>
                  <a:srgbClr val="C9BBE8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823714A9-F35D-460B-939D-79A206DE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62004" y="5941434"/>
            <a:ext cx="3079151" cy="37477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951"/>
              </a:lnSpc>
              <a:spcBef>
                <a:spcPct val="0"/>
              </a:spcBef>
              <a:buNone/>
            </a:pPr>
            <a:r>
              <a:rPr sz="210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18276DC8-F408-422C-9435-99CD77CAD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62654" y="5941434"/>
            <a:ext cx="3079151" cy="37477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951"/>
              </a:lnSpc>
              <a:spcBef>
                <a:spcPct val="0"/>
              </a:spcBef>
              <a:buNone/>
            </a:pPr>
            <a:r>
              <a:rPr sz="210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5C529FF9-28A7-4BE2-B58D-331CA20B7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649200" y="5941434"/>
            <a:ext cx="3079151" cy="37477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951"/>
              </a:lnSpc>
              <a:spcBef>
                <a:spcPct val="0"/>
              </a:spcBef>
              <a:buNone/>
            </a:pPr>
            <a:r>
              <a:rPr sz="210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2" name="內容_5_3D 佈局">
            <a:extLst xmlns:a="http://schemas.openxmlformats.org/drawingml/2006/main">
              <a:ext uri="{FF2B5EF4-FFF2-40B4-BE49-F238E27FC236}">
                <a16:creationId xmlns:a16="http://schemas.microsoft.com/office/drawing/2014/main" id="{25B75F7F-28F0-43A5-B491-16E0EF974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3D 佈局</a:t>
            </a:r>
          </a:p>
        </p:txBody>
      </p:sp>
      <p:sp>
        <p:nvSpPr>
          <p:cNvPr id="23" name="內容_5_雙層輸送網的原生運行畫面">
            <a:extLst xmlns:a="http://schemas.openxmlformats.org/drawingml/2006/main">
              <a:ext uri="{FF2B5EF4-FFF2-40B4-BE49-F238E27FC236}">
                <a16:creationId xmlns:a16="http://schemas.microsoft.com/office/drawing/2014/main" id="{4E89E19A-ECC2-49D5-87CE-B58295B1B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雙層輸送網的原生運行畫面</a:t>
            </a:r>
          </a:p>
        </p:txBody>
      </p:sp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BE5BF4-3286-49CE-848F-AADD3F86C1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74d07daacd40b4"/>
          <a:srcRect xmlns:a="http://schemas.openxmlformats.org/drawingml/2006/main" l="0" t="20000" r="0" b="15000"/>
          <a:stretch xmlns:a="http://schemas.openxmlformats.org/drawingml/2006/main"/>
        </p:blipFill>
        <p:spPr>
          <a:xfrm xmlns:a="http://schemas.openxmlformats.org/drawingml/2006/main">
            <a:off x="1581150" y="4048125"/>
            <a:ext cx="14287500" cy="3810000"/>
          </a:xfrm>
          <a:prstGeom xmlns:a="http://schemas.openxmlformats.org/drawingml/2006/main" prst="rect">
            <a:avLst/>
          </a:prstGeom>
        </p:spPr>
      </p:pic>
      <p:sp>
        <p:nvSpPr>
          <p:cNvPr id="25" name="內容_5_S1、P4、12m、seed">
            <a:extLst xmlns:a="http://schemas.openxmlformats.org/drawingml/2006/main">
              <a:ext uri="{FF2B5EF4-FFF2-40B4-BE49-F238E27FC236}">
                <a16:creationId xmlns:a16="http://schemas.microsoft.com/office/drawing/2014/main" id="{38307EAB-FD91-4389-9184-6798969C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S1、P4、12m、seed101；v8原生3D實際運行。正式統計來自原生Experimenter 1,350次。</a:t>
            </a:r>
          </a:p>
        </p:txBody>
      </p:sp>
    </p:spTree>
    <p:extLst>
      <p:ext uri="{BB962C8B-B14F-4D97-AF65-F5344CB8AC3E}">
        <p14:creationId xmlns:p14="http://schemas.microsoft.com/office/powerpoint/2010/main" val="154761597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9CBE07EE-6B7B-4344-90E7-D5B8DE9BB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1d381267bd74439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6381901F-7529-40F5-8D3D-7FFFDB26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4D487B22-64B7-4B21-932E-D2D0F5606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61251C5A-9B4A-48EF-9A6D-AED91B76C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6153557b153e4593"/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F149BAF2-2630-48C5-9C77-BCBE9D507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ecd076fb61f4831">
              <a:extLst>
                <a:ext uri="{96DAC541-7B7A-43D3-8B79-37D633B846F1}">
                  <asvg:svgBlip xmlns:asvg="http://schemas.microsoft.com/office/drawing/2016/SVG/main" r:embed="R563f32994f5b472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75683AB5-4001-4D00-B276-BEC0F08B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ecd076fb61f4831">
              <a:extLst>
                <a:ext uri="{96DAC541-7B7A-43D3-8B79-37D633B846F1}">
                  <asvg:svgBlip xmlns:asvg="http://schemas.microsoft.com/office/drawing/2016/SVG/main" r:embed="R563f32994f5b472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64B9C994-8D44-4521-9F7E-26C9DECFA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52086" y="2590914"/>
            <a:ext cx="7038718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12F0DD1E-1197-452B-A76B-7CD586603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643774" y="2451591"/>
            <a:ext cx="5057775" cy="5057775"/>
          </a:xfrm>
          <a:custGeom xmlns:a="http://schemas.openxmlformats.org/drawingml/2006/main">
            <a:rect l="l" t="t" r="r" b="b"/>
            <a:pathLst>
              <a:path w="5057775" h="5057775">
                <a:moveTo>
                  <a:pt x="0" y="0"/>
                </a:moveTo>
                <a:lnTo>
                  <a:pt x="5057775" y="0"/>
                </a:lnTo>
                <a:lnTo>
                  <a:pt x="5057775" y="5057775"/>
                </a:lnTo>
                <a:lnTo>
                  <a:pt x="0" y="5057775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185218E6-7F15-4882-89F9-AB8D3D91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323800" y="3181287"/>
            <a:ext cx="4012721" cy="3598382"/>
          </a:xfrm>
          <a:custGeom xmlns:a="http://schemas.openxmlformats.org/drawingml/2006/main">
            <a:rect l="l" t="t" r="r" b="b"/>
            <a:pathLst>
              <a:path w="812800" h="728874">
                <a:moveTo>
                  <a:pt x="0" y="0"/>
                </a:moveTo>
                <a:lnTo>
                  <a:pt x="812800" y="0"/>
                </a:lnTo>
                <a:lnTo>
                  <a:pt x="812800" y="728874"/>
                </a:lnTo>
                <a:lnTo>
                  <a:pt x="0" y="728874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DC03AA6A-E896-46D6-A973-B17F906D8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8D38A0FB-25E2-442E-BA79-D177E7DCA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06</a:t>
            </a: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07C7E953-C9DE-47B0-92AC-86BFB2BA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2590914"/>
            <a:ext cx="3370259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2A26C467-9BE6-4D1F-B8EB-96FE3C75D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4081222"/>
            <a:ext cx="8494452" cy="4119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244"/>
              </a:lnSpc>
              <a:spcBef>
                <a:spcPct val="0"/>
              </a:spcBef>
              <a:buNone/>
            </a:pPr>
            <a:r>
              <a:rPr sz="231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7" name="內容_6_多能工與防呆">
            <a:extLst xmlns:a="http://schemas.openxmlformats.org/drawingml/2006/main">
              <a:ext uri="{FF2B5EF4-FFF2-40B4-BE49-F238E27FC236}">
                <a16:creationId xmlns:a16="http://schemas.microsoft.com/office/drawing/2014/main" id="{9EBE3897-5D00-49AE-B7B4-B449E617D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多能工與防呆</a:t>
            </a:r>
          </a:p>
        </p:txBody>
      </p:sp>
      <p:sp>
        <p:nvSpPr>
          <p:cNvPr id="18" name="內容_6_五人資源池與 A* 導航">
            <a:extLst xmlns:a="http://schemas.openxmlformats.org/drawingml/2006/main">
              <a:ext uri="{FF2B5EF4-FFF2-40B4-BE49-F238E27FC236}">
                <a16:creationId xmlns:a16="http://schemas.microsoft.com/office/drawing/2014/main" id="{87C5299F-92BF-4ADD-B062-9A338AA9B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五人資源池與 A* 導航</a:t>
            </a:r>
          </a:p>
        </p:txBody>
      </p:sp>
      <p:sp>
        <p:nvSpPr>
          <p:cNvPr id="19" name="內容_6_QA 隊列 &gt;15 件">
            <a:extLst xmlns:a="http://schemas.openxmlformats.org/drawingml/2006/main">
              <a:ext uri="{FF2B5EF4-FFF2-40B4-BE49-F238E27FC236}">
                <a16:creationId xmlns:a16="http://schemas.microsoft.com/office/drawing/2014/main" id="{1FEF9631-7855-465F-9B03-B20184D11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381500"/>
            <a:ext cx="7810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6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QA 隊列 &gt;15 件</a:t>
            </a:r>
          </a:p>
        </p:txBody>
      </p:sp>
      <p:sp>
        <p:nvSpPr>
          <p:cNvPr id="20" name="內容_6_鎖定支援員，等現有整新任務完">
            <a:extLst xmlns:a="http://schemas.openxmlformats.org/drawingml/2006/main">
              <a:ext uri="{FF2B5EF4-FFF2-40B4-BE49-F238E27FC236}">
                <a16:creationId xmlns:a16="http://schemas.microsoft.com/office/drawing/2014/main" id="{121D6502-F0A1-422B-B0E8-E904A13E1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381625"/>
            <a:ext cx="8191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鎖定支援員，等現有整新任務完成後再移動。</a:t>
            </a:r>
          </a:p>
          <a:p xmlns:a="http://schemas.openxmlformats.org/drawingml/2006/main">
            <a: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抵達 QA 才將工時從40秒降為20秒。</a:t>
            </a:r>
          </a:p>
          <a:p xmlns:a="http://schemas.openxmlformats.org/drawingml/2006/main">
            <a: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QA 隊列 ≤5 件，先完成當前任務再歸建。</a:t>
            </a:r>
          </a:p>
          <a:p xmlns:a="http://schemas.openxmlformats.org/drawingml/2006/main">
            <a: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支援旗標防止重複調派，B2工位暫停接新件。</a:t>
            </a:r>
          </a:p>
        </p:txBody>
      </p:sp>
      <p:sp>
        <p:nvSpPr>
          <p:cNvPr id="21" name="內容_6_5 人">
            <a:extLst xmlns:a="http://schemas.openxmlformats.org/drawingml/2006/main">
              <a:ext uri="{FF2B5EF4-FFF2-40B4-BE49-F238E27FC236}">
                <a16:creationId xmlns:a16="http://schemas.microsoft.com/office/drawing/2014/main" id="{86FABA88-35E4-4357-B625-BA247E0DF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429125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5 人</a:t>
            </a:r>
          </a:p>
        </p:txBody>
      </p:sp>
      <p:sp>
        <p:nvSpPr>
          <p:cNvPr id="22" name="內容_6_固定人數&#10;1.4 m/s 步">
            <a:extLst xmlns:a="http://schemas.openxmlformats.org/drawingml/2006/main">
              <a:ext uri="{FF2B5EF4-FFF2-40B4-BE49-F238E27FC236}">
                <a16:creationId xmlns:a16="http://schemas.microsoft.com/office/drawing/2014/main" id="{D5C23AF7-BBE8-466B-9301-2E20B52D5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5905500"/>
            <a:ext cx="4857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固定人數</a:t>
            </a:r>
          </a:p>
          <a:p xmlns:a="http://schemas.openxmlformats.org/drawingml/2006/main">
            <a: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1.4 m/s 步速假設</a:t>
            </a:r>
          </a:p>
          <a:p xmlns:a="http://schemas.openxmlformats.org/drawingml/2006/main">
            <a:pPr>
              <a:def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原生 A* 實際移動</a:t>
            </a:r>
          </a:p>
        </p:txBody>
      </p:sp>
      <p:sp>
        <p:nvSpPr>
          <p:cNvPr id="23" name="內容_6_5人×40段往返；86,79">
            <a:extLst xmlns:a="http://schemas.openxmlformats.org/drawingml/2006/main">
              <a:ext uri="{FF2B5EF4-FFF2-40B4-BE49-F238E27FC236}">
                <a16:creationId xmlns:a16="http://schemas.microsoft.com/office/drawing/2014/main" id="{501B9B25-A990-4474-B4EB-2FC5D04E9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5人×40段往返；86,797筆活動路格占用、972,625段路徑方向檢查均無違規。</a:t>
            </a:r>
          </a:p>
        </p:txBody>
      </p:sp>
    </p:spTree>
    <p:extLst>
      <p:ext uri="{BB962C8B-B14F-4D97-AF65-F5344CB8AC3E}">
        <p14:creationId xmlns:p14="http://schemas.microsoft.com/office/powerpoint/2010/main" val="80096950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AAAC2B95-A1FF-4C4C-B94F-FDB07EA9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0dd9074d27a480b"/>
            <a:stretch>
              <a:fillRect l="-35258" t="-5555" r="-24931" b="-72434"/>
            </a:stretch>
          </a:blipFill>
        </p:spPr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C0967866-A3B7-4E14-9AE3-F908A753B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128" y="2209914"/>
            <a:ext cx="5543293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F4701109-105B-483F-B777-E5358DF4D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74064" y="2209914"/>
            <a:ext cx="5408227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F032AB1C-4E8F-4D39-9487-AD69EBD65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A52B4781-AF6F-46ED-808E-CAAE2534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95C75BB6-27E5-44DB-890D-4054DC75C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697E8B38-FE39-4617-9337-12ECA9D72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d1192055522c4e66"/>
            <a:stretch>
              <a:fillRect l="0" t="0" r="0" b="0"/>
            </a:stretch>
          </a:blipFill>
        </p:spPr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67BF5FFB-8A68-4A37-B5F3-697864EB0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c8eae467cbf749b3">
              <a:extLst>
                <a:ext uri="{96DAC541-7B7A-43D3-8B79-37D633B846F1}">
                  <asvg:svgBlip xmlns:asvg="http://schemas.microsoft.com/office/drawing/2016/SVG/main" r:embed="R92d4e6105cc34da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FF5A77F3-8E52-4748-B363-D08718FB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c8eae467cbf749b3">
              <a:extLst>
                <a:ext uri="{96DAC541-7B7A-43D3-8B79-37D633B846F1}">
                  <asvg:svgBlip xmlns:asvg="http://schemas.microsoft.com/office/drawing/2016/SVG/main" r:embed="R92d4e6105cc34da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912E61ED-5477-44A7-BA0C-396ACBE44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07</a:t>
            </a:r>
          </a:p>
        </p:txBody>
      </p:sp>
      <p:sp>
        <p:nvSpPr>
          <p:cNvPr id="14" name="Freeform 14">
            <a:extLst xmlns:a="http://schemas.openxmlformats.org/drawingml/2006/main">
              <a:ext uri="{FF2B5EF4-FFF2-40B4-BE49-F238E27FC236}">
                <a16:creationId xmlns:a16="http://schemas.microsoft.com/office/drawing/2014/main" id="{F260B61A-88D3-434F-B701-3E09E41BB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496352" y="4308053"/>
            <a:ext cx="3385513" cy="854973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9B901C7A-36E0-419B-8859-22263F96A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496352" y="4408245"/>
            <a:ext cx="3385513" cy="754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6A7B9754-8E16-4B2A-873E-D2457E71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8230" y="4510124"/>
            <a:ext cx="2659773" cy="4541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576"/>
              </a:lnSpc>
              <a:buNone/>
            </a:pPr>
            <a:r>
              <a:rPr sz="2751" b="1">
                <a:solidFill>
                  <a:srgbClr val="C9BBE8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69B1AAB7-4216-4004-9C87-B9875891E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36225" y="5418881"/>
            <a:ext cx="6248666" cy="36398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just">
              <a:lnSpc>
                <a:spcPts val="2866"/>
              </a:lnSpc>
              <a:spcBef>
                <a:spcPct val="0"/>
              </a:spcBef>
              <a:buNone/>
            </a:pPr>
            <a:r>
              <a:rPr sz="204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9" name="Freeform 19">
            <a:extLst xmlns:a="http://schemas.openxmlformats.org/drawingml/2006/main">
              <a:ext uri="{FF2B5EF4-FFF2-40B4-BE49-F238E27FC236}">
                <a16:creationId xmlns:a16="http://schemas.microsoft.com/office/drawing/2014/main" id="{1C24267A-1BA4-4E08-89C7-9C3794BEB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24604" y="4308053"/>
            <a:ext cx="3599822" cy="854973"/>
          </a:xfrm>
          <a:custGeom xmlns:a="http://schemas.openxmlformats.org/drawingml/2006/main">
            <a:rect l="l" t="t" r="r" b="b"/>
            <a:pathLst>
              <a:path w="1711129" h="406400">
                <a:moveTo>
                  <a:pt x="1507930" y="0"/>
                </a:moveTo>
                <a:cubicBezTo>
                  <a:pt x="1620154" y="0"/>
                  <a:pt x="1711129" y="90976"/>
                  <a:pt x="1711129" y="203200"/>
                </a:cubicBezTo>
                <a:cubicBezTo>
                  <a:pt x="1711129" y="315424"/>
                  <a:pt x="1620154" y="406400"/>
                  <a:pt x="1507930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14D1CCB6-C94E-4DEC-8AC2-7013C9D91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424604" y="4408245"/>
            <a:ext cx="3599825" cy="754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4DD6A6F0-3454-4C1F-B85C-975BB8CE7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659840" y="4510124"/>
            <a:ext cx="3159836" cy="4541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576"/>
              </a:lnSpc>
              <a:buNone/>
            </a:pPr>
            <a:r>
              <a:rPr sz="2751" b="1">
                <a:solidFill>
                  <a:srgbClr val="C9BBE8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55B73C90-263A-4EAE-8A1E-42A68EB5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86875" y="5418881"/>
            <a:ext cx="6248666" cy="36398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just">
              <a:lnSpc>
                <a:spcPts val="2866"/>
              </a:lnSpc>
              <a:spcBef>
                <a:spcPct val="0"/>
              </a:spcBef>
              <a:buNone/>
            </a:pPr>
            <a:r>
              <a:rPr sz="204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3" name="AutoShape 23">
            <a:extLst xmlns:a="http://schemas.openxmlformats.org/drawingml/2006/main">
              <a:ext uri="{FF2B5EF4-FFF2-40B4-BE49-F238E27FC236}">
                <a16:creationId xmlns:a16="http://schemas.microsoft.com/office/drawing/2014/main" id="{A77DB788-FF99-4038-9FA7-78D9C181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881865" y="4754590"/>
            <a:ext cx="354273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headEnd type="oval" w="lg" len="lg"/>
            <a:tailEnd type="oval" w="lg" len="lg"/>
          </a:ln>
        </p:spPr>
      </p:sp>
      <p:sp>
        <p:nvSpPr>
          <p:cNvPr id="24" name="內容_7_ESG 計算">
            <a:extLst xmlns:a="http://schemas.openxmlformats.org/drawingml/2006/main">
              <a:ext uri="{FF2B5EF4-FFF2-40B4-BE49-F238E27FC236}">
                <a16:creationId xmlns:a16="http://schemas.microsoft.com/office/drawing/2014/main" id="{CF452CD3-955E-4E25-A4DE-7D2C084FE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ESG 計算</a:t>
            </a:r>
          </a:p>
        </p:txBody>
      </p:sp>
      <p:sp>
        <p:nvSpPr>
          <p:cNvPr id="25" name="內容_7_用設備狀態累積能耗">
            <a:extLst xmlns:a="http://schemas.openxmlformats.org/drawingml/2006/main">
              <a:ext uri="{FF2B5EF4-FFF2-40B4-BE49-F238E27FC236}">
                <a16:creationId xmlns:a16="http://schemas.microsoft.com/office/drawing/2014/main" id="{3C60D0B2-2C2E-43E9-9D5E-9A49EA94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用設備狀態累積能耗</a:t>
            </a:r>
          </a:p>
        </p:txBody>
      </p:sp>
      <p:sp>
        <p:nvSpPr>
          <p:cNvPr id="26" name="內容_7_清洗機">
            <a:extLst xmlns:a="http://schemas.openxmlformats.org/drawingml/2006/main">
              <a:ext uri="{FF2B5EF4-FFF2-40B4-BE49-F238E27FC236}">
                <a16:creationId xmlns:a16="http://schemas.microsoft.com/office/drawing/2014/main" id="{E2FD325F-9ADD-4B22-AA6E-891CE0E6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381500"/>
            <a:ext cx="619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7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7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7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7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7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7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7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7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7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7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7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75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清洗機</a:t>
            </a:r>
          </a:p>
        </p:txBody>
      </p:sp>
      <p:sp>
        <p:nvSpPr>
          <p:cNvPr id="27" name="內容_7_加工18kW；待機3kW&#10;加">
            <a:extLst xmlns:a="http://schemas.openxmlformats.org/drawingml/2006/main">
              <a:ext uri="{FF2B5EF4-FFF2-40B4-BE49-F238E27FC236}">
                <a16:creationId xmlns:a16="http://schemas.microsoft.com/office/drawing/2014/main" id="{C9F1572A-E4DC-47E1-8BF6-D0C508BDE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86375"/>
            <a:ext cx="6191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加工18kW；待機3kW</a:t>
            </a:r>
          </a:p>
          <a:p xmlns:a="http://schemas.openxmlformats.org/drawingml/2006/main">
            <a: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加工、待機、停機時間分開統計</a:t>
            </a:r>
          </a:p>
          <a:p xmlns:a="http://schemas.openxmlformats.org/drawingml/2006/main">
            <a: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第二台清洗機另計能耗</a:t>
            </a:r>
          </a:p>
        </p:txBody>
      </p:sp>
      <p:sp>
        <p:nvSpPr>
          <p:cNvPr id="28" name="內容_7_完整淨減碳">
            <a:extLst xmlns:a="http://schemas.openxmlformats.org/drawingml/2006/main">
              <a:ext uri="{FF2B5EF4-FFF2-40B4-BE49-F238E27FC236}">
                <a16:creationId xmlns:a16="http://schemas.microsoft.com/office/drawing/2014/main" id="{04CF1724-D1A1-49B7-89D8-58046F90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381500"/>
            <a:ext cx="619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7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7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7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7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7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7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7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7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7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7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7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75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完整淨減碳</a:t>
            </a:r>
          </a:p>
        </p:txBody>
      </p:sp>
      <p:sp>
        <p:nvSpPr>
          <p:cNvPr id="29" name="內容_7_退貨量 × 0.35&#10;扣除清">
            <a:extLst xmlns:a="http://schemas.openxmlformats.org/drawingml/2006/main">
              <a:ext uri="{FF2B5EF4-FFF2-40B4-BE49-F238E27FC236}">
                <a16:creationId xmlns:a16="http://schemas.microsoft.com/office/drawing/2014/main" id="{6B4C1C77-CCE6-47F7-B4E9-8CF17E8E7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286375"/>
            <a:ext cx="6191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退貨量 × 0.35</a:t>
            </a:r>
          </a:p>
          <a:p xmlns:a="http://schemas.openxmlformats.org/drawingml/2006/main">
            <a: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扣除清洗與輸送電力 × 0.495</a:t>
            </a:r>
          </a:p>
          <a:p xmlns:a="http://schemas.openxmlformats.org/drawingml/2006/main">
            <a:pPr>
              <a:def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再扣外包箱數 × 0.05 kgCO₂e</a:t>
            </a:r>
          </a:p>
        </p:txBody>
      </p:sp>
      <p:sp>
        <p:nvSpPr>
          <p:cNvPr id="30" name="內容_7_40欄原生Dashboard">
            <a:extLst xmlns:a="http://schemas.openxmlformats.org/drawingml/2006/main">
              <a:ext uri="{FF2B5EF4-FFF2-40B4-BE49-F238E27FC236}">
                <a16:creationId xmlns:a16="http://schemas.microsoft.com/office/drawing/2014/main" id="{3FF1B564-9D5B-43EA-95D5-A78D0A72A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40欄原生Dashboard每0.5秒讀值；ESG_KPI每600秒實算，40欄含作業／設備／人力／ESG，另附原生WIP與清洗狀態圖。</a:t>
            </a:r>
          </a:p>
        </p:txBody>
      </p:sp>
    </p:spTree>
    <p:extLst>
      <p:ext uri="{BB962C8B-B14F-4D97-AF65-F5344CB8AC3E}">
        <p14:creationId xmlns:p14="http://schemas.microsoft.com/office/powerpoint/2010/main" val="14574591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151726F3-7D3B-488D-8A2C-3336BF8E2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18364f660aae41c4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1E582901-FFE4-4002-A318-7C1F82E4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37C6B242-8547-4AC9-AA46-5A42BFEC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D5FB8986-2999-4EC0-996B-050ECE1E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196cf511d464a73"/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6861F9B1-36BF-4915-B7E6-98B687E1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281da728f4f4900">
              <a:extLst>
                <a:ext uri="{96DAC541-7B7A-43D3-8B79-37D633B846F1}">
                  <asvg:svgBlip xmlns:asvg="http://schemas.microsoft.com/office/drawing/2016/SVG/main" r:embed="R25822218eb484a3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E4453898-4D4A-4FF9-8C03-ABE74D525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281da728f4f4900">
              <a:extLst>
                <a:ext uri="{96DAC541-7B7A-43D3-8B79-37D633B846F1}">
                  <asvg:svgBlip xmlns:asvg="http://schemas.microsoft.com/office/drawing/2016/SVG/main" r:embed="R25822218eb484a3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E61BD6C0-A8C2-4DB1-9B00-192FAF0DC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9831279" h="8229600">
                <a:moveTo>
                  <a:pt x="0" y="0"/>
                </a:moveTo>
                <a:lnTo>
                  <a:pt x="9831280" y="0"/>
                </a:lnTo>
                <a:lnTo>
                  <a:pt x="983128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CC52D9E7-86AE-4944-9CF5-4A2A0AD7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72CE0F36-707C-4BEA-B28E-A0CA5AF3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08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6F0FBDD7-EEF3-4C12-96EB-B85CEFF6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9622" y="3485662"/>
            <a:ext cx="5543293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BBF7E1E3-B141-495B-93EA-0D2D6728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9622" y="2399812"/>
            <a:ext cx="5408227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6F6B0176-03E6-4426-B738-B424D9001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9622" y="4998487"/>
            <a:ext cx="7580052" cy="39420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104"/>
              </a:lnSpc>
              <a:spcBef>
                <a:spcPct val="0"/>
              </a:spcBef>
              <a:buNone/>
            </a:pPr>
            <a:r>
              <a:rPr sz="221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BE0E2B93-D833-497E-9268-F16D5105F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4240473" h="4240473">
                <a:moveTo>
                  <a:pt x="4240473" y="0"/>
                </a:moveTo>
                <a:lnTo>
                  <a:pt x="0" y="0"/>
                </a:lnTo>
                <a:lnTo>
                  <a:pt x="0" y="4240472"/>
                </a:lnTo>
                <a:lnTo>
                  <a:pt x="4240473" y="4240472"/>
                </a:lnTo>
                <a:lnTo>
                  <a:pt x="4240473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6" name="內容_8_信度檢定 V1–V6">
            <a:extLst xmlns:a="http://schemas.openxmlformats.org/drawingml/2006/main">
              <a:ext uri="{FF2B5EF4-FFF2-40B4-BE49-F238E27FC236}">
                <a16:creationId xmlns:a16="http://schemas.microsoft.com/office/drawing/2014/main" id="{06C014C0-3024-4BBC-A8CD-D4094EF8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信度檢定 V1–V6</a:t>
            </a:r>
          </a:p>
        </p:txBody>
      </p:sp>
      <p:sp>
        <p:nvSpPr>
          <p:cNvPr id="17" name="內容_8_驗證必須能攔下錯誤">
            <a:extLst xmlns:a="http://schemas.openxmlformats.org/drawingml/2006/main">
              <a:ext uri="{FF2B5EF4-FFF2-40B4-BE49-F238E27FC236}">
                <a16:creationId xmlns:a16="http://schemas.microsoft.com/office/drawing/2014/main" id="{76A669BE-E4AC-4775-9E52-48A17117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驗證必須能攔下錯誤</a:t>
            </a:r>
          </a:p>
        </p:txBody>
      </p:sp>
      <p:graphicFrame>
        <p:nvGraphicFrame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5796AC-67C0-43C3-B0C7-FE2C8711E677}"/>
              </a:ext>
            </a:extLst>
          </p:cNvPr>
          <p:cNvGraphicFramePr/>
          <p:nvPr/>
        </p:nvGraphicFramePr>
        <p:xfrm>
          <a:off xmlns:a="http://schemas.openxmlformats.org/drawingml/2006/main" x="1581150" y="4333875"/>
          <a:ext xmlns:a="http://schemas.openxmlformats.org/drawingml/2006/main" cx="142875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4762500"/>
                <a:gridCol w="4762500"/>
              </a:tblGrid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檢查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實測證據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判讀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V1 守恆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1350次；每次17項殘差為0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商品、需求、箱資產分帳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V2／V3 穩定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S0：產投CV≤5%；WIP漂移-0.21%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基準整體達標；尖峰Before不穩定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V4 同種子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3組×2次，原生完整讀值相等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GUI原始結果亦逐項一致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V5 估計精度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30次最差18.07%；600次3.47%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原始30次未達；追加樣本達標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V6 分級比例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S0合併卡方 p=0.1514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未拒絕60／30／10設定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</a:tbl>
          </a:graphicData>
        </a:graphic>
      </p:graphicFrame>
      <p:sp>
        <p:nvSpPr>
          <p:cNvPr id="19" name="內容_8_600個基準樣本＝主實驗30">
            <a:extLst xmlns:a="http://schemas.openxmlformats.org/drawingml/2006/main">
              <a:ext uri="{FF2B5EF4-FFF2-40B4-BE49-F238E27FC236}">
                <a16:creationId xmlns:a16="http://schemas.microsoft.com/office/drawing/2014/main" id="{DA3048FA-6EA1-4719-92F0-6DB961212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600個基準樣本＝主實驗30次＋追加570次；沒有挑選種子，也未將30次的失敗改成通過。</a:t>
            </a:r>
          </a:p>
        </p:txBody>
      </p:sp>
    </p:spTree>
    <p:extLst>
      <p:ext uri="{BB962C8B-B14F-4D97-AF65-F5344CB8AC3E}">
        <p14:creationId xmlns:p14="http://schemas.microsoft.com/office/powerpoint/2010/main" val="18089173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DF3627D8-E6D4-453D-A918-8F6CE0DDB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2e4663f901a4bda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25255020-5011-4F8D-8F43-A8A6EA167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F9D1C949-B5A8-49B6-AD67-BA0444861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ED4ED150-EBCE-4C90-BBAC-04E0B202E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cbe49c7ef73f45ce"/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5A3C31AC-FC33-4FA9-A6E6-3FBC57E0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e0b0ace60ee4e5e">
              <a:extLst>
                <a:ext uri="{96DAC541-7B7A-43D3-8B79-37D633B846F1}">
                  <asvg:svgBlip xmlns:asvg="http://schemas.microsoft.com/office/drawing/2016/SVG/main" r:embed="Rbe7dd6ba6dd7445c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71C6BC04-A74D-4A16-B627-D058DEA63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e0b0ace60ee4e5e">
              <a:extLst>
                <a:ext uri="{96DAC541-7B7A-43D3-8B79-37D633B846F1}">
                  <asvg:svgBlip xmlns:asvg="http://schemas.microsoft.com/office/drawing/2016/SVG/main" r:embed="Rbe7dd6ba6dd7445c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E60BA975-0D01-4E85-89F7-2552C869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5314037"/>
            <a:ext cx="4796896" cy="608841"/>
          </a:xfrm>
          <a:custGeom xmlns:a="http://schemas.openxmlformats.org/drawingml/2006/main">
            <a:rect l="l" t="t" r="r" b="b"/>
            <a:pathLst>
              <a:path w="3201916" h="406400">
                <a:moveTo>
                  <a:pt x="2998716" y="0"/>
                </a:moveTo>
                <a:cubicBezTo>
                  <a:pt x="3110941" y="0"/>
                  <a:pt x="3201916" y="90976"/>
                  <a:pt x="3201916" y="203200"/>
                </a:cubicBezTo>
                <a:cubicBezTo>
                  <a:pt x="3201916" y="315424"/>
                  <a:pt x="3110941" y="406400"/>
                  <a:pt x="2998716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F1AE11E2-9033-462F-B45F-1089A999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5385385"/>
            <a:ext cx="4796896" cy="53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945F779A-26D3-4138-869A-6388DF30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45901" y="5427472"/>
            <a:ext cx="320992" cy="320992"/>
          </a:xfrm>
          <a:custGeom xmlns:a="http://schemas.openxmlformats.org/drawingml/2006/main">
            <a:rect l="l" t="t" r="r" b="b"/>
            <a:pathLst>
              <a:path w="320992" h="320992">
                <a:moveTo>
                  <a:pt x="0" y="0"/>
                </a:moveTo>
                <a:lnTo>
                  <a:pt x="320992" y="0"/>
                </a:lnTo>
                <a:lnTo>
                  <a:pt x="320992" y="320992"/>
                </a:lnTo>
                <a:lnTo>
                  <a:pt x="0" y="320992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8D724F68-74E0-4619-BF45-123C7E08D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3495789"/>
            <a:ext cx="8762872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92EBDB77-D3CB-4DDE-A3EB-A3FA03811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2467089"/>
            <a:ext cx="5408227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73E85567-6703-4481-8E4F-402BC11F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C8E012F6-6EE8-4B44-934F-7197EF336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09</a:t>
            </a: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9F1EF63B-884B-4223-9868-14137BA0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14534" y="5377181"/>
            <a:ext cx="2704114" cy="43294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409"/>
              </a:lnSpc>
              <a:spcBef>
                <a:spcPct val="0"/>
              </a:spcBef>
              <a:buNone/>
            </a:pPr>
            <a:r>
              <a:rPr sz="24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8FBE4D57-E1DC-431A-837E-75BB9F65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14534" y="6208628"/>
            <a:ext cx="6294052" cy="37960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989"/>
              </a:lnSpc>
              <a:spcBef>
                <a:spcPct val="0"/>
              </a:spcBef>
              <a:buNone/>
            </a:pPr>
            <a:r>
              <a:rPr sz="21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0" name="Freeform 20">
            <a:extLst xmlns:a="http://schemas.openxmlformats.org/drawingml/2006/main">
              <a:ext uri="{FF2B5EF4-FFF2-40B4-BE49-F238E27FC236}">
                <a16:creationId xmlns:a16="http://schemas.microsoft.com/office/drawing/2014/main" id="{847A7AA8-90A0-4A3B-8630-30994D38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478579" y="5314037"/>
            <a:ext cx="4796896" cy="608841"/>
          </a:xfrm>
          <a:custGeom xmlns:a="http://schemas.openxmlformats.org/drawingml/2006/main">
            <a:rect l="l" t="t" r="r" b="b"/>
            <a:pathLst>
              <a:path w="3201916" h="406400">
                <a:moveTo>
                  <a:pt x="2998716" y="0"/>
                </a:moveTo>
                <a:cubicBezTo>
                  <a:pt x="3110941" y="0"/>
                  <a:pt x="3201916" y="90976"/>
                  <a:pt x="3201916" y="203200"/>
                </a:cubicBezTo>
                <a:cubicBezTo>
                  <a:pt x="3201916" y="315424"/>
                  <a:pt x="3110941" y="406400"/>
                  <a:pt x="2998716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511305E4-D5F1-4393-9F51-62C5A6E8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478579" y="5385385"/>
            <a:ext cx="4796896" cy="53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22" name="Freeform 22">
            <a:extLst xmlns:a="http://schemas.openxmlformats.org/drawingml/2006/main">
              <a:ext uri="{FF2B5EF4-FFF2-40B4-BE49-F238E27FC236}">
                <a16:creationId xmlns:a16="http://schemas.microsoft.com/office/drawing/2014/main" id="{C993C38C-7E1F-4CF2-9398-089C5AA4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691615" y="5460539"/>
            <a:ext cx="320993" cy="320992"/>
          </a:xfrm>
          <a:custGeom xmlns:a="http://schemas.openxmlformats.org/drawingml/2006/main">
            <a:rect l="l" t="t" r="r" b="b"/>
            <a:pathLst>
              <a:path w="320993" h="320992">
                <a:moveTo>
                  <a:pt x="0" y="0"/>
                </a:moveTo>
                <a:lnTo>
                  <a:pt x="320993" y="0"/>
                </a:lnTo>
                <a:lnTo>
                  <a:pt x="320993" y="320992"/>
                </a:lnTo>
                <a:lnTo>
                  <a:pt x="0" y="320992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49CC0AEF-928C-46AC-987C-6CCAFA9B2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35767" y="5377181"/>
            <a:ext cx="2704114" cy="43294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409"/>
              </a:lnSpc>
              <a:spcBef>
                <a:spcPct val="0"/>
              </a:spcBef>
              <a:buNone/>
            </a:pPr>
            <a:r>
              <a:rPr sz="24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7A983DA2-C63C-46E2-AC91-331EF8F55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707179" y="6208628"/>
            <a:ext cx="6479790" cy="37960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989"/>
              </a:lnSpc>
              <a:spcBef>
                <a:spcPct val="0"/>
              </a:spcBef>
              <a:buNone/>
            </a:pPr>
            <a:r>
              <a:rPr sz="21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5" name="Freeform 25">
            <a:extLst xmlns:a="http://schemas.openxmlformats.org/drawingml/2006/main">
              <a:ext uri="{FF2B5EF4-FFF2-40B4-BE49-F238E27FC236}">
                <a16:creationId xmlns:a16="http://schemas.microsoft.com/office/drawing/2014/main" id="{EC098FD8-D3C0-4855-821C-C18E2530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4240473" h="4240473">
                <a:moveTo>
                  <a:pt x="4240473" y="0"/>
                </a:moveTo>
                <a:lnTo>
                  <a:pt x="0" y="0"/>
                </a:lnTo>
                <a:lnTo>
                  <a:pt x="0" y="4240473"/>
                </a:lnTo>
                <a:lnTo>
                  <a:pt x="4240473" y="4240473"/>
                </a:lnTo>
                <a:lnTo>
                  <a:pt x="4240473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6" name="Freeform 26">
            <a:extLst xmlns:a="http://schemas.openxmlformats.org/drawingml/2006/main">
              <a:ext uri="{FF2B5EF4-FFF2-40B4-BE49-F238E27FC236}">
                <a16:creationId xmlns:a16="http://schemas.microsoft.com/office/drawing/2014/main" id="{A01DF939-F7E4-4983-BE68-2A29DA779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4240473" h="4240473">
                <a:moveTo>
                  <a:pt x="4240473" y="0"/>
                </a:moveTo>
                <a:lnTo>
                  <a:pt x="0" y="0"/>
                </a:lnTo>
                <a:lnTo>
                  <a:pt x="0" y="4240473"/>
                </a:lnTo>
                <a:lnTo>
                  <a:pt x="4240473" y="4240473"/>
                </a:lnTo>
                <a:lnTo>
                  <a:pt x="4240473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7" name="內容_9_效度檢定 V7–V11">
            <a:extLst xmlns:a="http://schemas.openxmlformats.org/drawingml/2006/main">
              <a:ext uri="{FF2B5EF4-FFF2-40B4-BE49-F238E27FC236}">
                <a16:creationId xmlns:a16="http://schemas.microsoft.com/office/drawing/2014/main" id="{62A987CA-7B4A-4F59-A337-1666A01FE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效度檢定 V7–V11</a:t>
            </a:r>
          </a:p>
        </p:txBody>
      </p:sp>
      <p:sp>
        <p:nvSpPr>
          <p:cNvPr id="28" name="內容_9_將模型對回物理與排隊">
            <a:extLst xmlns:a="http://schemas.openxmlformats.org/drawingml/2006/main">
              <a:ext uri="{FF2B5EF4-FFF2-40B4-BE49-F238E27FC236}">
                <a16:creationId xmlns:a16="http://schemas.microsoft.com/office/drawing/2014/main" id="{0BA45CA7-7BFF-43C4-B186-10C4EF98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將模型對回物理與排隊</a:t>
            </a:r>
          </a:p>
        </p:txBody>
      </p:sp>
      <p:graphicFrame>
        <p:nvGraphicFrame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9BB515-43AA-4252-B669-3FC8DBB5834A}"/>
              </a:ext>
            </a:extLst>
          </p:cNvPr>
          <p:cNvGraphicFramePr/>
          <p:nvPr/>
        </p:nvGraphicFramePr>
        <p:xfrm>
          <a:off xmlns:a="http://schemas.openxmlformats.org/drawingml/2006/main" x="1581150" y="4333875"/>
          <a:ext xmlns:a="http://schemas.openxmlformats.org/drawingml/2006/main" cx="142875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4762500"/>
                <a:gridCol w="4762500"/>
              </a:tblGrid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檢查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標準／實測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判讀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V7 清洗產能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30s／箱；未超過實現可用產能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條件利用率與ρ差≤1.37pp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V8 停機占比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S0均值3.80%；理論4%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整體差0.20pp，個別診斷另列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V9 Little’s Law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90組獨立時間戳；最大誤差2.32%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有限觀察窗修正亦一致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V10 五倍壓力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300件/h ×7日；保留外部積壓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QA先超載，清洗近飽和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03250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V11 無長時停滯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1350次最長零出庫1h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未出現連續4h零出庫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</a:tbl>
          </a:graphicData>
        </a:graphic>
      </p:graphicFrame>
      <p:sp>
        <p:nvSpPr>
          <p:cNvPr id="30" name="內容_9_1920次不重複原生運行；1">
            <a:extLst xmlns:a="http://schemas.openxmlformats.org/drawingml/2006/main">
              <a:ext uri="{FF2B5EF4-FFF2-40B4-BE49-F238E27FC236}">
                <a16:creationId xmlns:a16="http://schemas.microsoft.com/office/drawing/2014/main" id="{221AB716-74B3-4E06-83C6-5D29310D7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1920次不重複原生運行；15,360筆功能性KPI響應與原始計數重算差異為0。</a:t>
            </a:r>
          </a:p>
        </p:txBody>
      </p:sp>
    </p:spTree>
    <p:extLst>
      <p:ext uri="{BB962C8B-B14F-4D97-AF65-F5344CB8AC3E}">
        <p14:creationId xmlns:p14="http://schemas.microsoft.com/office/powerpoint/2010/main" val="59611219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39E3FE14-E906-43E5-B03D-78CBF069D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d22db9576b14724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CF40901E-219C-47F5-97D8-6F5111DF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2DE09B49-A9F6-40ED-8979-95BA0D13D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C0B38389-E974-46B7-9F10-63B402CB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cf2fa21da6204906"/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6C1B3FC4-8222-4AD2-B365-AA469C78B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0236b92f54d47af">
              <a:extLst>
                <a:ext uri="{96DAC541-7B7A-43D3-8B79-37D633B846F1}">
                  <asvg:svgBlip xmlns:asvg="http://schemas.microsoft.com/office/drawing/2016/SVG/main" r:embed="R63a462fea688496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6FBA18CB-344B-41A4-8C04-6B3AAAB42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0236b92f54d47af">
              <a:extLst>
                <a:ext uri="{96DAC541-7B7A-43D3-8B79-37D633B846F1}">
                  <asvg:svgBlip xmlns:asvg="http://schemas.microsoft.com/office/drawing/2016/SVG/main" r:embed="R63a462fea688496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626DB452-C62A-4717-8108-9CAA086B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2232516"/>
            <a:ext cx="5199669" cy="6244144"/>
          </a:xfrm>
          <a:custGeom xmlns:a="http://schemas.openxmlformats.org/drawingml/2006/main">
            <a:rect l="l" t="t" r="r" b="b"/>
            <a:pathLst>
              <a:path w="5199669" h="6244144">
                <a:moveTo>
                  <a:pt x="0" y="0"/>
                </a:moveTo>
                <a:lnTo>
                  <a:pt x="5199669" y="0"/>
                </a:lnTo>
                <a:lnTo>
                  <a:pt x="5199669" y="6244144"/>
                </a:lnTo>
                <a:lnTo>
                  <a:pt x="0" y="6244144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1A045B00-6425-4DA7-8B58-E7A0FC297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03026" y="3267189"/>
            <a:ext cx="7580571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903225C4-3E6F-4942-A638-81AD98C0C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03026" y="2209914"/>
            <a:ext cx="5408227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DDBE0A0C-1FC5-4957-9107-9F9F39268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ED874C90-DE5A-4D09-B397-7C9B6C12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2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10</a:t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27002A41-02B9-4B4D-9493-5EC87966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21422" y="4811246"/>
            <a:ext cx="7822954" cy="39954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146"/>
              </a:lnSpc>
              <a:spcBef>
                <a:spcPct val="0"/>
              </a:spcBef>
              <a:buNone/>
            </a:pPr>
            <a:r>
              <a:rPr sz="224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5D9C5747-DE5E-4F9D-AFD3-B413AA4C7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2675" y="2949940"/>
            <a:ext cx="4012721" cy="4636258"/>
          </a:xfrm>
          <a:custGeom xmlns:a="http://schemas.openxmlformats.org/drawingml/2006/main">
            <a:rect l="l" t="t" r="r" b="b"/>
            <a:pathLst>
              <a:path w="812800" h="939101">
                <a:moveTo>
                  <a:pt x="0" y="0"/>
                </a:moveTo>
                <a:lnTo>
                  <a:pt x="812800" y="0"/>
                </a:lnTo>
                <a:lnTo>
                  <a:pt x="812800" y="939101"/>
                </a:lnTo>
                <a:lnTo>
                  <a:pt x="0" y="939101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7" name="內容_10_Before：辨識雙重瓶頸">
            <a:extLst xmlns:a="http://schemas.openxmlformats.org/drawingml/2006/main">
              <a:ext uri="{FF2B5EF4-FFF2-40B4-BE49-F238E27FC236}">
                <a16:creationId xmlns:a16="http://schemas.microsoft.com/office/drawing/2014/main" id="{21FE4012-AF4B-4821-A686-4143812C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Before：辨識雙重瓶頸</a:t>
            </a:r>
          </a:p>
        </p:txBody>
      </p:sp>
      <p:sp>
        <p:nvSpPr>
          <p:cNvPr id="18" name="內容_10_只添清洗機，QA仍會排隊">
            <a:extLst xmlns:a="http://schemas.openxmlformats.org/drawingml/2006/main">
              <a:ext uri="{FF2B5EF4-FFF2-40B4-BE49-F238E27FC236}">
                <a16:creationId xmlns:a16="http://schemas.microsoft.com/office/drawing/2014/main" id="{3945B69F-1E1A-498C-8F58-15DDBDB7C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只添清洗機，QA仍會排隊</a:t>
            </a:r>
          </a:p>
        </p:txBody>
      </p:sp>
      <p:graphicFrame>
        <p:nvGraphicFramePr>
          <p:cNvPr id="19" name="Chart">
            <a:extLst xmlns:a="http://schemas.openxmlformats.org/drawingml/2006/main">
              <a:ext uri="{FF2B5EF4-FFF2-40B4-BE49-F238E27FC236}">
                <a16:creationId xmlns:a16="http://schemas.microsoft.com/office/drawing/2014/main" id="{39CDB96D-D490-4C93-B2FD-0A23E843401B}"/>
              </a:ext>
            </a:extLst>
          </p:cNvPr>
          <p:cNvGraphicFramePr/>
          <p:nvPr/>
        </p:nvGraphicFramePr>
        <p:xfrm>
          <a:off xmlns:a="http://schemas.openxmlformats.org/drawingml/2006/main" x="1581150" y="4286250"/>
          <a:ext xmlns:a="http://schemas.openxmlformats.org/drawingml/2006/main" cx="68580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d95de5f8b234b66"/>
          </a:graphicData>
        </a:graphic>
      </p:graphicFrame>
      <p:graphicFrame>
        <p:nvGraphicFramePr>
          <p:cNvPr id="20" name="Chart">
            <a:extLst xmlns:a="http://schemas.openxmlformats.org/drawingml/2006/main">
              <a:ext uri="{FF2B5EF4-FFF2-40B4-BE49-F238E27FC236}">
                <a16:creationId xmlns:a16="http://schemas.microsoft.com/office/drawing/2014/main" id="{0B06CF43-7B7B-46BD-90E3-A37466514B87}"/>
              </a:ext>
            </a:extLst>
          </p:cNvPr>
          <p:cNvGraphicFramePr/>
          <p:nvPr/>
        </p:nvGraphicFramePr>
        <p:xfrm>
          <a:off xmlns:a="http://schemas.openxmlformats.org/drawingml/2006/main" x="9144000" y="4286250"/>
          <a:ext xmlns:a="http://schemas.openxmlformats.org/drawingml/2006/main" cx="68580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d02b401df26461a"/>
          </a:graphicData>
        </a:graphic>
      </p:graphicFrame>
      <p:sp>
        <p:nvSpPr>
          <p:cNvPr id="21" name="內容_10_S1、30次平均；P4 12">
            <a:extLst xmlns:a="http://schemas.openxmlformats.org/drawingml/2006/main">
              <a:ext uri="{FF2B5EF4-FFF2-40B4-BE49-F238E27FC236}">
                <a16:creationId xmlns:a16="http://schemas.microsoft.com/office/drawing/2014/main" id="{43FEFEBF-5823-4D24-827C-E3B93B4D9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S1、30次平均；P4 12m阻塞 0.71 [0.57, 0.86]%，平均Q-Time 5.01分鐘。</a:t>
            </a:r>
          </a:p>
        </p:txBody>
      </p:sp>
    </p:spTree>
    <p:extLst>
      <p:ext uri="{BB962C8B-B14F-4D97-AF65-F5344CB8AC3E}">
        <p14:creationId xmlns:p14="http://schemas.microsoft.com/office/powerpoint/2010/main" val="114535394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D309DAC8-8ADB-4426-8FA1-2313D17A3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baba12ef225424a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D2A607DC-7C2C-43B4-BC86-037111C3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29762F45-41DE-49CA-9782-83DBFF57F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3278E86D-0FED-4DC2-8363-D9B635209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a5a3186d3cb464c"/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220B4CCE-81B7-4EBA-B8D5-A1C8E85D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65525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4" y="0"/>
                </a:moveTo>
                <a:lnTo>
                  <a:pt x="0" y="0"/>
                </a:lnTo>
                <a:lnTo>
                  <a:pt x="0" y="558571"/>
                </a:lnTo>
                <a:lnTo>
                  <a:pt x="555524" y="558571"/>
                </a:lnTo>
                <a:lnTo>
                  <a:pt x="555524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7fb33f5789f24f53">
              <a:extLst>
                <a:ext uri="{96DAC541-7B7A-43D3-8B79-37D633B846F1}">
                  <asvg:svgBlip xmlns:asvg="http://schemas.microsoft.com/office/drawing/2016/SVG/main" r:embed="R909075d8445d464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565B298E-82B3-4993-B977-05C6150C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17105700" y="7306913"/>
            <a:ext cx="555524" cy="558571"/>
          </a:xfrm>
          <a:custGeom xmlns:a="http://schemas.openxmlformats.org/drawingml/2006/main">
            <a:rect l="l" t="t" r="r" b="b"/>
            <a:pathLst>
              <a:path w="555524" h="558571">
                <a:moveTo>
                  <a:pt x="555523" y="0"/>
                </a:moveTo>
                <a:lnTo>
                  <a:pt x="0" y="0"/>
                </a:lnTo>
                <a:lnTo>
                  <a:pt x="0" y="558571"/>
                </a:lnTo>
                <a:lnTo>
                  <a:pt x="555523" y="558571"/>
                </a:lnTo>
                <a:lnTo>
                  <a:pt x="555523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7fb33f5789f24f53">
              <a:extLst>
                <a:ext uri="{96DAC541-7B7A-43D3-8B79-37D633B846F1}">
                  <asvg:svgBlip xmlns:asvg="http://schemas.microsoft.com/office/drawing/2016/SVG/main" r:embed="R909075d8445d464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AF1E8E33-DE82-413E-A831-B6AFEDB6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11733" y="4329430"/>
            <a:ext cx="3813204" cy="3796227"/>
          </a:xfrm>
          <a:custGeom xmlns:a="http://schemas.openxmlformats.org/drawingml/2006/main">
            <a:rect l="l" t="t" r="r" b="b"/>
            <a:pathLst>
              <a:path w="14906544" h="14840178">
                <a:moveTo>
                  <a:pt x="7453273" y="75"/>
                </a:moveTo>
                <a:cubicBezTo>
                  <a:pt x="4794451" y="-11816"/>
                  <a:pt x="2332496" y="1399825"/>
                  <a:pt x="999642" y="3700470"/>
                </a:cubicBezTo>
                <a:cubicBezTo>
                  <a:pt x="-333213" y="6001115"/>
                  <a:pt x="-333213" y="8839064"/>
                  <a:pt x="999642" y="11139709"/>
                </a:cubicBezTo>
                <a:cubicBezTo>
                  <a:pt x="2332496" y="13440354"/>
                  <a:pt x="4794451" y="14851995"/>
                  <a:pt x="7453273" y="14840104"/>
                </a:cubicBezTo>
                <a:cubicBezTo>
                  <a:pt x="10112093" y="14851995"/>
                  <a:pt x="12574049" y="13440354"/>
                  <a:pt x="13906904" y="11139709"/>
                </a:cubicBezTo>
                <a:cubicBezTo>
                  <a:pt x="15239758" y="8839064"/>
                  <a:pt x="15239758" y="6001115"/>
                  <a:pt x="13906904" y="3700470"/>
                </a:cubicBezTo>
                <a:cubicBezTo>
                  <a:pt x="12574049" y="1399825"/>
                  <a:pt x="10112093" y="-11816"/>
                  <a:pt x="7453273" y="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61DD53DD-4132-4EBF-BA29-FBE961D0C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63221" y="4380689"/>
            <a:ext cx="3710226" cy="3693707"/>
          </a:xfrm>
          <a:custGeom xmlns:a="http://schemas.openxmlformats.org/drawingml/2006/main">
            <a:rect l="l" t="t" r="r" b="b"/>
            <a:pathLst>
              <a:path w="14503985" h="14439411">
                <a:moveTo>
                  <a:pt x="7251993" y="73"/>
                </a:moveTo>
                <a:cubicBezTo>
                  <a:pt x="4664974" y="-11497"/>
                  <a:pt x="2269506" y="1362022"/>
                  <a:pt x="972645" y="3600537"/>
                </a:cubicBezTo>
                <a:cubicBezTo>
                  <a:pt x="-324215" y="5839051"/>
                  <a:pt x="-324215" y="8600360"/>
                  <a:pt x="972645" y="10838875"/>
                </a:cubicBezTo>
                <a:cubicBezTo>
                  <a:pt x="2269506" y="13077389"/>
                  <a:pt x="4664974" y="14450908"/>
                  <a:pt x="7251993" y="14439338"/>
                </a:cubicBezTo>
                <a:cubicBezTo>
                  <a:pt x="9839011" y="14450908"/>
                  <a:pt x="12234479" y="13077389"/>
                  <a:pt x="13531340" y="10838875"/>
                </a:cubicBezTo>
                <a:cubicBezTo>
                  <a:pt x="14828201" y="8600360"/>
                  <a:pt x="14828201" y="5839051"/>
                  <a:pt x="13531340" y="3600537"/>
                </a:cubicBezTo>
                <a:cubicBezTo>
                  <a:pt x="12234479" y="1362022"/>
                  <a:pt x="9839011" y="-11497"/>
                  <a:pt x="7251993" y="73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DCC59520-576E-4869-95F3-3F9A71920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56144" y="4473198"/>
            <a:ext cx="3524380" cy="3508689"/>
          </a:xfrm>
          <a:custGeom xmlns:a="http://schemas.openxmlformats.org/drawingml/2006/main">
            <a:rect l="l" t="t" r="r" b="b"/>
            <a:pathLst>
              <a:path w="13777477" h="13716137">
                <a:moveTo>
                  <a:pt x="6888739" y="68"/>
                </a:moveTo>
                <a:cubicBezTo>
                  <a:pt x="4431305" y="-10922"/>
                  <a:pt x="2155826" y="1293797"/>
                  <a:pt x="923925" y="3420184"/>
                </a:cubicBezTo>
                <a:cubicBezTo>
                  <a:pt x="-307975" y="5546571"/>
                  <a:pt x="-307975" y="8169565"/>
                  <a:pt x="923925" y="10295952"/>
                </a:cubicBezTo>
                <a:cubicBezTo>
                  <a:pt x="2155826" y="12422339"/>
                  <a:pt x="4431305" y="13727058"/>
                  <a:pt x="6888739" y="13716068"/>
                </a:cubicBezTo>
                <a:cubicBezTo>
                  <a:pt x="9346172" y="13727058"/>
                  <a:pt x="11621651" y="12422339"/>
                  <a:pt x="12853552" y="10295952"/>
                </a:cubicBezTo>
                <a:cubicBezTo>
                  <a:pt x="14085452" y="8169565"/>
                  <a:pt x="14085452" y="5546571"/>
                  <a:pt x="12853552" y="3420184"/>
                </a:cubicBezTo>
                <a:cubicBezTo>
                  <a:pt x="11621651" y="1293797"/>
                  <a:pt x="9346172" y="-10922"/>
                  <a:pt x="6888739" y="68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4" name="Freeform 14">
            <a:extLst xmlns:a="http://schemas.openxmlformats.org/drawingml/2006/main">
              <a:ext uri="{FF2B5EF4-FFF2-40B4-BE49-F238E27FC236}">
                <a16:creationId xmlns:a16="http://schemas.microsoft.com/office/drawing/2014/main" id="{6F110BED-1A62-49FC-90D5-B25BAB3B1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40157" y="4329430"/>
            <a:ext cx="3813204" cy="3796227"/>
          </a:xfrm>
          <a:custGeom xmlns:a="http://schemas.openxmlformats.org/drawingml/2006/main">
            <a:rect l="l" t="t" r="r" b="b"/>
            <a:pathLst>
              <a:path w="14906544" h="14840178">
                <a:moveTo>
                  <a:pt x="7453273" y="75"/>
                </a:moveTo>
                <a:cubicBezTo>
                  <a:pt x="4794451" y="-11816"/>
                  <a:pt x="2332496" y="1399825"/>
                  <a:pt x="999642" y="3700470"/>
                </a:cubicBezTo>
                <a:cubicBezTo>
                  <a:pt x="-333213" y="6001115"/>
                  <a:pt x="-333213" y="8839064"/>
                  <a:pt x="999642" y="11139709"/>
                </a:cubicBezTo>
                <a:cubicBezTo>
                  <a:pt x="2332496" y="13440354"/>
                  <a:pt x="4794451" y="14851995"/>
                  <a:pt x="7453273" y="14840104"/>
                </a:cubicBezTo>
                <a:cubicBezTo>
                  <a:pt x="10112093" y="14851995"/>
                  <a:pt x="12574049" y="13440354"/>
                  <a:pt x="13906904" y="11139709"/>
                </a:cubicBezTo>
                <a:cubicBezTo>
                  <a:pt x="15239758" y="8839064"/>
                  <a:pt x="15239758" y="6001115"/>
                  <a:pt x="13906904" y="3700470"/>
                </a:cubicBezTo>
                <a:cubicBezTo>
                  <a:pt x="12574049" y="1399825"/>
                  <a:pt x="10112093" y="-11816"/>
                  <a:pt x="7453273" y="75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F5AC5DA3-FB9A-4225-A5B5-FD66F9A3B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91645" y="4380689"/>
            <a:ext cx="3710226" cy="3693707"/>
          </a:xfrm>
          <a:custGeom xmlns:a="http://schemas.openxmlformats.org/drawingml/2006/main">
            <a:rect l="l" t="t" r="r" b="b"/>
            <a:pathLst>
              <a:path w="14503985" h="14439411">
                <a:moveTo>
                  <a:pt x="7251993" y="73"/>
                </a:moveTo>
                <a:cubicBezTo>
                  <a:pt x="4664974" y="-11497"/>
                  <a:pt x="2269506" y="1362022"/>
                  <a:pt x="972645" y="3600537"/>
                </a:cubicBezTo>
                <a:cubicBezTo>
                  <a:pt x="-324215" y="5839051"/>
                  <a:pt x="-324215" y="8600360"/>
                  <a:pt x="972645" y="10838875"/>
                </a:cubicBezTo>
                <a:cubicBezTo>
                  <a:pt x="2269506" y="13077389"/>
                  <a:pt x="4664974" y="14450908"/>
                  <a:pt x="7251993" y="14439338"/>
                </a:cubicBezTo>
                <a:cubicBezTo>
                  <a:pt x="9839011" y="14450908"/>
                  <a:pt x="12234479" y="13077389"/>
                  <a:pt x="13531340" y="10838875"/>
                </a:cubicBezTo>
                <a:cubicBezTo>
                  <a:pt x="14828201" y="8600360"/>
                  <a:pt x="14828201" y="5839051"/>
                  <a:pt x="13531340" y="3600537"/>
                </a:cubicBezTo>
                <a:cubicBezTo>
                  <a:pt x="12234479" y="1362022"/>
                  <a:pt x="9839011" y="-11497"/>
                  <a:pt x="7251993" y="73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E823BD7A-3E3F-4289-9AB6-5D49DFC25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484568" y="4473198"/>
            <a:ext cx="3524380" cy="3508689"/>
          </a:xfrm>
          <a:custGeom xmlns:a="http://schemas.openxmlformats.org/drawingml/2006/main">
            <a:rect l="l" t="t" r="r" b="b"/>
            <a:pathLst>
              <a:path w="13777477" h="13716137">
                <a:moveTo>
                  <a:pt x="6888739" y="68"/>
                </a:moveTo>
                <a:cubicBezTo>
                  <a:pt x="4431305" y="-10922"/>
                  <a:pt x="2155826" y="1293797"/>
                  <a:pt x="923925" y="3420184"/>
                </a:cubicBezTo>
                <a:cubicBezTo>
                  <a:pt x="-307975" y="5546571"/>
                  <a:pt x="-307975" y="8169565"/>
                  <a:pt x="923925" y="10295952"/>
                </a:cubicBezTo>
                <a:cubicBezTo>
                  <a:pt x="2155826" y="12422339"/>
                  <a:pt x="4431305" y="13727058"/>
                  <a:pt x="6888739" y="13716068"/>
                </a:cubicBezTo>
                <a:cubicBezTo>
                  <a:pt x="9346172" y="13727058"/>
                  <a:pt x="11621651" y="12422339"/>
                  <a:pt x="12853552" y="10295952"/>
                </a:cubicBezTo>
                <a:cubicBezTo>
                  <a:pt x="14085452" y="8169565"/>
                  <a:pt x="14085452" y="5546571"/>
                  <a:pt x="12853552" y="3420184"/>
                </a:cubicBezTo>
                <a:cubicBezTo>
                  <a:pt x="11621651" y="1293797"/>
                  <a:pt x="9346172" y="-10922"/>
                  <a:pt x="6888739" y="68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8" name="Freeform 18">
            <a:extLst xmlns:a="http://schemas.openxmlformats.org/drawingml/2006/main">
              <a:ext uri="{FF2B5EF4-FFF2-40B4-BE49-F238E27FC236}">
                <a16:creationId xmlns:a16="http://schemas.microsoft.com/office/drawing/2014/main" id="{43887D56-684F-4083-922D-95124C123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269914" y="4329449"/>
            <a:ext cx="300038" cy="300038"/>
          </a:xfrm>
          <a:custGeom xmlns:a="http://schemas.openxmlformats.org/drawingml/2006/main">
            <a:rect l="l" t="t" r="r" b="b"/>
            <a:pathLst>
              <a:path w="79022" h="79022">
                <a:moveTo>
                  <a:pt x="0" y="0"/>
                </a:moveTo>
                <a:lnTo>
                  <a:pt x="79022" y="0"/>
                </a:lnTo>
                <a:lnTo>
                  <a:pt x="79022" y="79022"/>
                </a:lnTo>
                <a:lnTo>
                  <a:pt x="0" y="79022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B73DFF56-6874-41D6-A7E9-DB56ADE6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269914" y="4510275"/>
            <a:ext cx="300038" cy="1192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C0E586F6-CD25-46DF-9D11-DEB1413B3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F85B3AB4-8A0C-4FF7-B930-EBBA7943A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11</a:t>
            </a:r>
          </a:p>
        </p:txBody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928B3ECF-C990-4285-8057-9537BD5A1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396381" y="2306473"/>
            <a:ext cx="3400168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76AFF135-0C4E-42EF-926E-6ACA2F60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49979" y="2306473"/>
            <a:ext cx="5922577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24" name="TextBox 24">
            <a:extLst xmlns:a="http://schemas.openxmlformats.org/drawingml/2006/main">
              <a:ext uri="{FF2B5EF4-FFF2-40B4-BE49-F238E27FC236}">
                <a16:creationId xmlns:a16="http://schemas.microsoft.com/office/drawing/2014/main" id="{9A549BF8-D180-4561-A67E-1720D3288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9914" y="4741578"/>
            <a:ext cx="1888248" cy="4541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576"/>
              </a:lnSpc>
              <a:buNone/>
            </a:pPr>
            <a:r>
              <a:rPr sz="2751" b="1">
                <a:solidFill>
                  <a:srgbClr val="C9BBE8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25" name="TextBox 25">
            <a:extLst xmlns:a="http://schemas.openxmlformats.org/drawingml/2006/main">
              <a:ext uri="{FF2B5EF4-FFF2-40B4-BE49-F238E27FC236}">
                <a16:creationId xmlns:a16="http://schemas.microsoft.com/office/drawing/2014/main" id="{C097AFE8-11EA-4ADD-9DAE-3A7D7A2DF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69914" y="5899065"/>
            <a:ext cx="2323967" cy="2830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29"/>
              </a:lnSpc>
              <a:spcBef>
                <a:spcPct val="0"/>
              </a:spcBef>
              <a:buNone/>
            </a:pPr>
            <a:r>
              <a:rPr sz="1592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7" name="Freeform 27">
            <a:extLst xmlns:a="http://schemas.openxmlformats.org/drawingml/2006/main">
              <a:ext uri="{FF2B5EF4-FFF2-40B4-BE49-F238E27FC236}">
                <a16:creationId xmlns:a16="http://schemas.microsoft.com/office/drawing/2014/main" id="{3250DF1A-8D0B-4DE3-8D1D-E26B3224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467937" y="4329449"/>
            <a:ext cx="300038" cy="300038"/>
          </a:xfrm>
          <a:custGeom xmlns:a="http://schemas.openxmlformats.org/drawingml/2006/main">
            <a:rect l="l" t="t" r="r" b="b"/>
            <a:pathLst>
              <a:path w="79022" h="79022">
                <a:moveTo>
                  <a:pt x="0" y="0"/>
                </a:moveTo>
                <a:lnTo>
                  <a:pt x="79022" y="0"/>
                </a:lnTo>
                <a:lnTo>
                  <a:pt x="79022" y="79022"/>
                </a:lnTo>
                <a:lnTo>
                  <a:pt x="0" y="79022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8" name="TextBox 28">
            <a:extLst xmlns:a="http://schemas.openxmlformats.org/drawingml/2006/main">
              <a:ext uri="{FF2B5EF4-FFF2-40B4-BE49-F238E27FC236}">
                <a16:creationId xmlns:a16="http://schemas.microsoft.com/office/drawing/2014/main" id="{6E914FBE-B86F-4650-83A5-D85E3B1EB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467937" y="4510275"/>
            <a:ext cx="300038" cy="1192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29" name="TextBox 29">
            <a:extLst xmlns:a="http://schemas.openxmlformats.org/drawingml/2006/main">
              <a:ext uri="{FF2B5EF4-FFF2-40B4-BE49-F238E27FC236}">
                <a16:creationId xmlns:a16="http://schemas.microsoft.com/office/drawing/2014/main" id="{30474377-21E8-4086-A391-345625F8E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467937" y="4741578"/>
            <a:ext cx="1888248" cy="45415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576"/>
              </a:lnSpc>
              <a:buNone/>
            </a:pPr>
            <a:r>
              <a:rPr sz="2751" b="1">
                <a:solidFill>
                  <a:srgbClr val="C9BBE8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30" name="TextBox 30">
            <a:extLst xmlns:a="http://schemas.openxmlformats.org/drawingml/2006/main">
              <a:ext uri="{FF2B5EF4-FFF2-40B4-BE49-F238E27FC236}">
                <a16:creationId xmlns:a16="http://schemas.microsoft.com/office/drawing/2014/main" id="{0E311228-B5BA-48AA-A93C-A95758AA2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467937" y="5899065"/>
            <a:ext cx="2323967" cy="2830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2229"/>
              </a:lnSpc>
              <a:spcBef>
                <a:spcPct val="0"/>
              </a:spcBef>
              <a:buNone/>
            </a:pPr>
            <a:r>
              <a:rPr sz="1592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31" name="內容_11_處方 DOE">
            <a:extLst xmlns:a="http://schemas.openxmlformats.org/drawingml/2006/main">
              <a:ext uri="{FF2B5EF4-FFF2-40B4-BE49-F238E27FC236}">
                <a16:creationId xmlns:a16="http://schemas.microsoft.com/office/drawing/2014/main" id="{1FD76535-FE71-43A1-B84B-2AFC6514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處方 DOE</a:t>
            </a:r>
          </a:p>
        </p:txBody>
      </p:sp>
      <p:sp>
        <p:nvSpPr>
          <p:cNvPr id="32" name="內容_11_緩衝與調派必須一起評估">
            <a:extLst xmlns:a="http://schemas.openxmlformats.org/drawingml/2006/main">
              <a:ext uri="{FF2B5EF4-FFF2-40B4-BE49-F238E27FC236}">
                <a16:creationId xmlns:a16="http://schemas.microsoft.com/office/drawing/2014/main" id="{24A79952-6A61-41D2-BFFD-3863128FA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緩衝與調派必須一起評估</a:t>
            </a:r>
          </a:p>
        </p:txBody>
      </p:sp>
      <p:graphicFrame>
        <p:nvGraphicFramePr>
          <p:cNvPr id="33" name="Chart">
            <a:extLst xmlns:a="http://schemas.openxmlformats.org/drawingml/2006/main">
              <a:ext uri="{FF2B5EF4-FFF2-40B4-BE49-F238E27FC236}">
                <a16:creationId xmlns:a16="http://schemas.microsoft.com/office/drawing/2014/main" id="{994F6903-72E2-4BAD-A3D3-5A8C967B4F71}"/>
              </a:ext>
            </a:extLst>
          </p:cNvPr>
          <p:cNvGraphicFramePr/>
          <p:nvPr/>
        </p:nvGraphicFramePr>
        <p:xfrm>
          <a:off xmlns:a="http://schemas.openxmlformats.org/drawingml/2006/main" x="1581150" y="4238625"/>
          <a:ext xmlns:a="http://schemas.openxmlformats.org/drawingml/2006/main" cx="14287500" cy="3286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20f3e25192d48d7"/>
          </a:graphicData>
        </a:graphic>
      </p:graphicFrame>
      <p:sp>
        <p:nvSpPr>
          <p:cNvPr id="34" name="內容_11_3種情境 × 15種處方／長">
            <a:extLst xmlns:a="http://schemas.openxmlformats.org/drawingml/2006/main">
              <a:ext uri="{FF2B5EF4-FFF2-40B4-BE49-F238E27FC236}">
                <a16:creationId xmlns:a16="http://schemas.microsoft.com/office/drawing/2014/main" id="{22752CB4-E2F1-4242-85A4-7969037C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3種情境 × 15種處方／長度 × 30次；各跑7日、暖機24h。0m採實際旁路，非隱藏容量。</a:t>
            </a:r>
          </a:p>
        </p:txBody>
      </p:sp>
    </p:spTree>
    <p:extLst>
      <p:ext uri="{BB962C8B-B14F-4D97-AF65-F5344CB8AC3E}">
        <p14:creationId xmlns:p14="http://schemas.microsoft.com/office/powerpoint/2010/main" val="121216982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8FF6D074-0330-4AD4-B6DA-85D11AEE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33f05b859434b0f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1C5498AB-A052-4A30-92DB-7BF76B9C3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18E935B1-AAFB-4DCE-A228-FC5274FA0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4E81D909-FF63-44E6-BBE8-DEB08998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394eabbf1aa34d48"/>
            <a:stretch>
              <a:fillRect l="0" t="0" r="0" b="0"/>
            </a:stretch>
          </a:blipFill>
        </p:spPr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1D08E2D3-9376-4AAB-96FD-A304C3CA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45285" y="2066012"/>
            <a:ext cx="4796896" cy="608841"/>
          </a:xfrm>
          <a:custGeom xmlns:a="http://schemas.openxmlformats.org/drawingml/2006/main">
            <a:rect l="l" t="t" r="r" b="b"/>
            <a:pathLst>
              <a:path w="3201916" h="406400">
                <a:moveTo>
                  <a:pt x="2998716" y="0"/>
                </a:moveTo>
                <a:cubicBezTo>
                  <a:pt x="3110941" y="0"/>
                  <a:pt x="3201916" y="90976"/>
                  <a:pt x="3201916" y="203200"/>
                </a:cubicBezTo>
                <a:cubicBezTo>
                  <a:pt x="3201916" y="315424"/>
                  <a:pt x="3110941" y="406400"/>
                  <a:pt x="2998716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95F6824A-811E-437F-BA77-4516527A0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45285" y="2137360"/>
            <a:ext cx="4796896" cy="53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10" name="Freeform 10">
            <a:extLst xmlns:a="http://schemas.openxmlformats.org/drawingml/2006/main">
              <a:ext uri="{FF2B5EF4-FFF2-40B4-BE49-F238E27FC236}">
                <a16:creationId xmlns:a16="http://schemas.microsoft.com/office/drawing/2014/main" id="{482C68DD-2AB8-4AA9-9E21-487CE17D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33839" y="2179447"/>
            <a:ext cx="320992" cy="320993"/>
          </a:xfrm>
          <a:custGeom xmlns:a="http://schemas.openxmlformats.org/drawingml/2006/main">
            <a:rect l="l" t="t" r="r" b="b"/>
            <a:pathLst>
              <a:path w="320992" h="320993">
                <a:moveTo>
                  <a:pt x="0" y="0"/>
                </a:moveTo>
                <a:lnTo>
                  <a:pt x="320993" y="0"/>
                </a:lnTo>
                <a:lnTo>
                  <a:pt x="320993" y="320992"/>
                </a:lnTo>
                <a:lnTo>
                  <a:pt x="0" y="320992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A1A3C43E-AAE9-4926-B7FF-54397FAD9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45285" y="5228195"/>
            <a:ext cx="4796896" cy="608841"/>
          </a:xfrm>
          <a:custGeom xmlns:a="http://schemas.openxmlformats.org/drawingml/2006/main">
            <a:rect l="l" t="t" r="r" b="b"/>
            <a:pathLst>
              <a:path w="3201916" h="406400">
                <a:moveTo>
                  <a:pt x="2998716" y="0"/>
                </a:moveTo>
                <a:cubicBezTo>
                  <a:pt x="3110941" y="0"/>
                  <a:pt x="3201916" y="90976"/>
                  <a:pt x="3201916" y="203200"/>
                </a:cubicBezTo>
                <a:cubicBezTo>
                  <a:pt x="3201916" y="315424"/>
                  <a:pt x="3110941" y="406400"/>
                  <a:pt x="2998716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277AC806-53CD-4A71-8B2D-86BCDD87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945285" y="5299543"/>
            <a:ext cx="4796896" cy="537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14" name="Freeform 14">
            <a:extLst xmlns:a="http://schemas.openxmlformats.org/drawingml/2006/main">
              <a:ext uri="{FF2B5EF4-FFF2-40B4-BE49-F238E27FC236}">
                <a16:creationId xmlns:a16="http://schemas.microsoft.com/office/drawing/2014/main" id="{213BBF3E-2B8F-42FD-ABD3-C92D48F17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33839" y="5384737"/>
            <a:ext cx="320992" cy="320992"/>
          </a:xfrm>
          <a:custGeom xmlns:a="http://schemas.openxmlformats.org/drawingml/2006/main">
            <a:rect l="l" t="t" r="r" b="b"/>
            <a:pathLst>
              <a:path w="320992" h="320992">
                <a:moveTo>
                  <a:pt x="0" y="0"/>
                </a:moveTo>
                <a:lnTo>
                  <a:pt x="320993" y="0"/>
                </a:lnTo>
                <a:lnTo>
                  <a:pt x="320993" y="320993"/>
                </a:lnTo>
                <a:lnTo>
                  <a:pt x="0" y="320993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2147C28A-FE43-4D0A-968B-D6D8766A2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98862" y="5143500"/>
            <a:ext cx="4734156" cy="3535291"/>
          </a:xfrm>
          <a:custGeom xmlns:a="http://schemas.openxmlformats.org/drawingml/2006/main">
            <a:rect l="l" t="t" r="r" b="b"/>
            <a:pathLst>
              <a:path w="4734156" h="3535291">
                <a:moveTo>
                  <a:pt x="0" y="0"/>
                </a:moveTo>
                <a:lnTo>
                  <a:pt x="4734157" y="0"/>
                </a:lnTo>
                <a:lnTo>
                  <a:pt x="4734157" y="3535291"/>
                </a:lnTo>
                <a:lnTo>
                  <a:pt x="0" y="3535291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97CE5357-7231-4464-BA50-C2B61F46F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40376" y="3448422"/>
            <a:ext cx="7580571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91F4ADD6-DA5F-47A2-A2CD-AFD102F6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1AF89B18-8B1E-4353-8B1D-31244D4BB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12</a:t>
            </a:r>
          </a:p>
        </p:txBody>
      </p:sp>
      <p:sp>
        <p:nvSpPr>
          <p:cNvPr id="19" name="TextBox 19">
            <a:extLst xmlns:a="http://schemas.openxmlformats.org/drawingml/2006/main">
              <a:ext uri="{FF2B5EF4-FFF2-40B4-BE49-F238E27FC236}">
                <a16:creationId xmlns:a16="http://schemas.microsoft.com/office/drawing/2014/main" id="{6E7BCB67-5539-4126-8D02-9FE08E242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40376" y="2391147"/>
            <a:ext cx="5408227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ECD9DA3C-C452-4AE0-8772-E4F94C31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22362" y="2911009"/>
            <a:ext cx="7822954" cy="3817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006"/>
              </a:lnSpc>
              <a:spcBef>
                <a:spcPct val="0"/>
              </a:spcBef>
              <a:buNone/>
            </a:pPr>
            <a:r>
              <a:rPr sz="214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8EE09EDA-AB4E-4D75-B879-1CCD8D993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02472" y="2129156"/>
            <a:ext cx="3554290" cy="43294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409"/>
              </a:lnSpc>
              <a:spcBef>
                <a:spcPct val="0"/>
              </a:spcBef>
              <a:buNone/>
            </a:pPr>
            <a:r>
              <a:rPr sz="24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3BF22034-E07F-4209-9FCA-F78D51CE1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22362" y="6073192"/>
            <a:ext cx="7822954" cy="3817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006"/>
              </a:lnSpc>
              <a:spcBef>
                <a:spcPct val="0"/>
              </a:spcBef>
              <a:buNone/>
            </a:pPr>
            <a:r>
              <a:rPr sz="214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3" name="TextBox 23">
            <a:extLst xmlns:a="http://schemas.openxmlformats.org/drawingml/2006/main">
              <a:ext uri="{FF2B5EF4-FFF2-40B4-BE49-F238E27FC236}">
                <a16:creationId xmlns:a16="http://schemas.microsoft.com/office/drawing/2014/main" id="{1920C8D3-61C6-4709-B585-9882E095E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02472" y="5291339"/>
            <a:ext cx="3554290" cy="43294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409"/>
              </a:lnSpc>
              <a:spcBef>
                <a:spcPct val="0"/>
              </a:spcBef>
              <a:buNone/>
            </a:pPr>
            <a:r>
              <a:rPr sz="2435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24" name="內容_12_After：兩種風險門檻">
            <a:extLst xmlns:a="http://schemas.openxmlformats.org/drawingml/2006/main">
              <a:ext uri="{FF2B5EF4-FFF2-40B4-BE49-F238E27FC236}">
                <a16:creationId xmlns:a16="http://schemas.microsoft.com/office/drawing/2014/main" id="{C648686D-24AE-4FCA-A15D-C38B00312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After：兩種風險門檻</a:t>
            </a:r>
          </a:p>
        </p:txBody>
      </p:sp>
      <p:sp>
        <p:nvSpPr>
          <p:cNvPr id="25" name="內容_12_8m看均值，12m看信賴上界">
            <a:extLst xmlns:a="http://schemas.openxmlformats.org/drawingml/2006/main">
              <a:ext uri="{FF2B5EF4-FFF2-40B4-BE49-F238E27FC236}">
                <a16:creationId xmlns:a16="http://schemas.microsoft.com/office/drawing/2014/main" id="{E6454D0A-4EE0-42A9-AE53-711AAE1E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8m看均值，12m看信賴上界</a:t>
            </a:r>
          </a:p>
        </p:txBody>
      </p:sp>
      <p:graphicFrame>
        <p:nvGraphicFrame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356ED5-85B3-407B-903A-0F62E78E8AE7}"/>
              </a:ext>
            </a:extLst>
          </p:cNvPr>
          <p:cNvGraphicFramePr/>
          <p:nvPr/>
        </p:nvGraphicFramePr>
        <p:xfrm>
          <a:off xmlns:a="http://schemas.openxmlformats.org/drawingml/2006/main" x="1581150" y="4333875"/>
          <a:ext xmlns:a="http://schemas.openxmlformats.org/drawingml/2006/main" cx="142875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71875"/>
                <a:gridCol w="3571875"/>
                <a:gridCol w="3571875"/>
                <a:gridCol w="3571875"/>
              </a:tblGrid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S1 指標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Before P0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均值最低：P4 8m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穩健候選：P4 12m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</a:tr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Blocked %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12.22 [11.37, 13.07]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0.95 [0.78, 1.12]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0.71 [0.57, 0.86]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平均Q-Time min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19.71 [17.79, 21.63]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5.52 [5.25, 5.78]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5.01 [4.77, 5.26]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結案率下界 %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99.82 [99.76, 99.88]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99.94 [99.93, 99.95]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99.94 [99.93, 99.95]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資本支出 NT$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80,000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1875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120,000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</a:tbl>
          </a:graphicData>
        </a:graphic>
      </p:graphicFrame>
      <p:sp>
        <p:nvSpPr>
          <p:cNvPr id="27" name="內容_12_方括號為95% CI。課程均">
            <a:extLst xmlns:a="http://schemas.openxmlformats.org/drawingml/2006/main">
              <a:ext uri="{FF2B5EF4-FFF2-40B4-BE49-F238E27FC236}">
                <a16:creationId xmlns:a16="http://schemas.microsoft.com/office/drawing/2014/main" id="{16974E7E-5B75-4269-8D46-46CD1654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方括號為95% CI。課程均值規則選8m；增加「Blocked CI上界&lt;1%」的風險約束後，最低為12m。</a:t>
            </a:r>
          </a:p>
        </p:txBody>
      </p:sp>
    </p:spTree>
    <p:extLst>
      <p:ext uri="{BB962C8B-B14F-4D97-AF65-F5344CB8AC3E}">
        <p14:creationId xmlns:p14="http://schemas.microsoft.com/office/powerpoint/2010/main" val="64151688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C13FA97E-56EE-4744-94E0-FCA46EAA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14b83c2b7904c3e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E611ABFB-2E8E-4342-8B26-C3095CEC3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29D061F6-853E-4E00-84F1-807654B2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17D4A7C3-D5CC-40B2-A2BD-6F78DADCF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932cdfd01494f77"/>
            <a:stretch>
              <a:fillRect l="0" t="0" r="0" b="0"/>
            </a:stretch>
          </a:blipFill>
        </p:spPr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C807E1A7-2FBD-4A97-9382-9484D7FAB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5B0F8326-EC15-4833-A6E6-0F459F750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13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5E8F1203-65DC-4328-BDF6-7618584C2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3491085"/>
            <a:ext cx="8762872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109C1112-830F-44A0-AF19-2DB53F1F0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2462385"/>
            <a:ext cx="4108065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ACBF9BFC-AF15-4F48-9CD3-D0DBF4C62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57346" y="4932854"/>
            <a:ext cx="8494452" cy="4119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244"/>
              </a:lnSpc>
              <a:spcBef>
                <a:spcPct val="0"/>
              </a:spcBef>
              <a:buNone/>
            </a:pPr>
            <a:r>
              <a:rPr sz="231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D9D59DCF-FF12-4C8F-AA41-FC5DD60A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612502" y="1456474"/>
            <a:ext cx="3246603" cy="3246603"/>
          </a:xfrm>
          <a:custGeom xmlns:a="http://schemas.openxmlformats.org/drawingml/2006/main">
            <a:rect l="l" t="t" r="r" b="b"/>
            <a:pathLst>
              <a:path w="3246603" h="3246603">
                <a:moveTo>
                  <a:pt x="0" y="0"/>
                </a:moveTo>
                <a:lnTo>
                  <a:pt x="3246603" y="0"/>
                </a:lnTo>
                <a:lnTo>
                  <a:pt x="3246603" y="3246602"/>
                </a:lnTo>
                <a:lnTo>
                  <a:pt x="0" y="3246602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4" name="Freeform 14">
            <a:extLst xmlns:a="http://schemas.openxmlformats.org/drawingml/2006/main">
              <a:ext uri="{FF2B5EF4-FFF2-40B4-BE49-F238E27FC236}">
                <a16:creationId xmlns:a16="http://schemas.microsoft.com/office/drawing/2014/main" id="{BB30DE1E-975E-4CFA-92AC-E9CBBFCF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049013" y="1924868"/>
            <a:ext cx="2575779" cy="2309814"/>
          </a:xfrm>
          <a:custGeom xmlns:a="http://schemas.openxmlformats.org/drawingml/2006/main">
            <a:rect l="l" t="t" r="r" b="b"/>
            <a:pathLst>
              <a:path w="812800" h="728874">
                <a:moveTo>
                  <a:pt x="0" y="0"/>
                </a:moveTo>
                <a:lnTo>
                  <a:pt x="812800" y="0"/>
                </a:lnTo>
                <a:lnTo>
                  <a:pt x="812800" y="728874"/>
                </a:lnTo>
                <a:lnTo>
                  <a:pt x="0" y="728874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5" name="Freeform 15">
            <a:extLst xmlns:a="http://schemas.openxmlformats.org/drawingml/2006/main">
              <a:ext uri="{FF2B5EF4-FFF2-40B4-BE49-F238E27FC236}">
                <a16:creationId xmlns:a16="http://schemas.microsoft.com/office/drawing/2014/main" id="{EC82A741-0B48-4855-895D-CC37AEFF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713601" y="4934397"/>
            <a:ext cx="3246603" cy="3246603"/>
          </a:xfrm>
          <a:custGeom xmlns:a="http://schemas.openxmlformats.org/drawingml/2006/main">
            <a:rect l="l" t="t" r="r" b="b"/>
            <a:pathLst>
              <a:path w="3246603" h="3246603">
                <a:moveTo>
                  <a:pt x="0" y="0"/>
                </a:moveTo>
                <a:lnTo>
                  <a:pt x="3246602" y="0"/>
                </a:lnTo>
                <a:lnTo>
                  <a:pt x="3246602" y="3246603"/>
                </a:lnTo>
                <a:lnTo>
                  <a:pt x="0" y="3246603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7" name="Freeform 17">
            <a:extLst xmlns:a="http://schemas.openxmlformats.org/drawingml/2006/main">
              <a:ext uri="{FF2B5EF4-FFF2-40B4-BE49-F238E27FC236}">
                <a16:creationId xmlns:a16="http://schemas.microsoft.com/office/drawing/2014/main" id="{B1783444-BAF5-460E-9B34-96D20BB25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150111" y="5402791"/>
            <a:ext cx="2575779" cy="2309814"/>
          </a:xfrm>
          <a:custGeom xmlns:a="http://schemas.openxmlformats.org/drawingml/2006/main">
            <a:rect l="l" t="t" r="r" b="b"/>
            <a:pathLst>
              <a:path w="812800" h="728874">
                <a:moveTo>
                  <a:pt x="0" y="0"/>
                </a:moveTo>
                <a:lnTo>
                  <a:pt x="812800" y="0"/>
                </a:lnTo>
                <a:lnTo>
                  <a:pt x="812800" y="728874"/>
                </a:lnTo>
                <a:lnTo>
                  <a:pt x="0" y="728874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8" name="內容_13_財務：投資與營運分開">
            <a:extLst xmlns:a="http://schemas.openxmlformats.org/drawingml/2006/main">
              <a:ext uri="{FF2B5EF4-FFF2-40B4-BE49-F238E27FC236}">
                <a16:creationId xmlns:a16="http://schemas.microsoft.com/office/drawing/2014/main" id="{298F1847-486B-432E-BC17-A4519EC8B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財務：投資與營運分開</a:t>
            </a:r>
          </a:p>
        </p:txBody>
      </p:sp>
      <p:sp>
        <p:nvSpPr>
          <p:cNvPr id="19" name="內容_13_服務改善，仍無正向回收期">
            <a:extLst xmlns:a="http://schemas.openxmlformats.org/drawingml/2006/main">
              <a:ext uri="{FF2B5EF4-FFF2-40B4-BE49-F238E27FC236}">
                <a16:creationId xmlns:a16="http://schemas.microsoft.com/office/drawing/2014/main" id="{34477242-4D17-4AC4-95BF-7F430D3CB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服務改善，仍無正向回收期</a:t>
            </a:r>
          </a:p>
        </p:txBody>
      </p:sp>
      <p:graphicFrame>
        <p:nvGraphicFrame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4379D6-C871-4302-B076-06C62DCA77D9}"/>
              </a:ext>
            </a:extLst>
          </p:cNvPr>
          <p:cNvGraphicFramePr/>
          <p:nvPr/>
        </p:nvGraphicFramePr>
        <p:xfrm>
          <a:off xmlns:a="http://schemas.openxmlformats.org/drawingml/2006/main" x="1581150" y="4333875"/>
          <a:ext xmlns:a="http://schemas.openxmlformats.org/drawingml/2006/main" cx="142875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4762500"/>
                <a:gridCol w="4762500"/>
              </a:tblGrid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財務指標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P4 8m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1">
                          <a:solidFill>
                            <a:srgbClr val="DF96D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P4 12m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T w="6668">
                      <a:solidFill>
                        <a:srgbClr val="654A79"/>
                      </a:solidFill>
                      <a:prstDash val="solid"/>
                    </a:lnT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352547"/>
                    </a:solidFill>
                  </a:tcPr>
                </a:tc>
              </a:tr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初始投資 NT$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80,000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120,000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相較P1少投資 NT$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1,420,000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1,380,000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相較P0年淨效益 NT$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-64,374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-50,937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  <a:tr h="695325"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ROI／正回收期</a:t>
                      </a:r>
                    </a:p>
                  </a:txBody>
                  <a:tcPr marL="91440" marR="91440" marT="45720" marB="45720">
                    <a:lnL w="6668">
                      <a:solidFill>
                        <a:srgbClr val="654A79"/>
                      </a:solidFill>
                      <a:prstDash val="solid"/>
                    </a:lnL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-80.47%／無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  <a:tc>
                  <a:txBody>
                    <a:bodyPr wrap="square" lIns="152400" tIns="85725" rIns="114300" bIns="76200"/>
                    <a:lstStyle/>
                    <a:p>
                      <a:r>
                        <a:rPr sz="2100" b="0">
                          <a:solidFill>
                            <a:srgbClr val="F6E0F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-42.45%／無</a:t>
                      </a:r>
                    </a:p>
                  </a:txBody>
                  <a:tcPr marL="91440" marR="91440" marT="45720" marB="45720">
                    <a:lnR w="6668">
                      <a:solidFill>
                        <a:srgbClr val="654A79"/>
                      </a:solidFill>
                      <a:prstDash val="solid"/>
                    </a:lnR>
                    <a:lnB w="6668">
                      <a:solidFill>
                        <a:srgbClr val="654A79"/>
                      </a:solidFill>
                      <a:prstDash val="solid"/>
                    </a:lnB>
                    <a:solidFill>
                      <a:srgbClr val="0D0912"/>
                    </a:solidFill>
                  </a:tcPr>
                </a:tc>
              </a:tr>
            </a:tbl>
          </a:graphicData>
        </a:graphic>
      </p:graphicFrame>
      <p:sp>
        <p:nvSpPr>
          <p:cNvPr id="21" name="內容_13_12m包材節約 39.17%">
            <a:extLst xmlns:a="http://schemas.openxmlformats.org/drawingml/2006/main">
              <a:ext uri="{FF2B5EF4-FFF2-40B4-BE49-F238E27FC236}">
                <a16:creationId xmlns:a16="http://schemas.microsoft.com/office/drawing/2014/main" id="{D1B4F08F-5B65-4596-BDCB-DB87AD09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12m包材節約 39.17% 未達65%；理想穩態上限約47.89%，關鍵是每次2%報廢。</a:t>
            </a:r>
          </a:p>
        </p:txBody>
      </p:sp>
    </p:spTree>
    <p:extLst>
      <p:ext uri="{BB962C8B-B14F-4D97-AF65-F5344CB8AC3E}">
        <p14:creationId xmlns:p14="http://schemas.microsoft.com/office/powerpoint/2010/main" val="129548909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63FEF413-DC03-4593-9BED-981FE352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bc49ba1bbeb4c7a"/>
            <a:stretch>
              <a:fillRect l="-35258" t="-5555" r="-24931" b="-72434"/>
            </a:stretch>
          </a:blipFill>
        </p:spPr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0D6032ED-D4AF-4C1F-B935-074279392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A0BAF6EF-0877-4ACC-8A7D-5669AA26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57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C7BBEBAD-D33B-4324-9835-C64E1932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15f0be9e2ce43ee"/>
            <a:stretch>
              <a:fillRect l="0" t="0" r="0" b="0"/>
            </a:stretch>
          </a:blipFill>
        </p:spPr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DFF859DF-7C46-4D2A-99D7-A60900EDA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3967673" h="8229600">
                <a:moveTo>
                  <a:pt x="0" y="0"/>
                </a:moveTo>
                <a:lnTo>
                  <a:pt x="3967673" y="0"/>
                </a:lnTo>
                <a:lnTo>
                  <a:pt x="3967673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10786C7E-D214-4753-8E26-1F231EFDF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207D6EA3-D9B6-4AD7-91F7-71132BE6D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14</a:t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681D311D-0DF0-4331-B4D0-3BBD8AD1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60897" y="3485662"/>
            <a:ext cx="5543293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9C801BB0-558B-42EA-8655-972946BF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60897" y="2399812"/>
            <a:ext cx="6951277" cy="13743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10822"/>
              </a:lnSpc>
              <a:spcBef>
                <a:spcPct val="0"/>
              </a:spcBef>
              <a:buNone/>
            </a:pPr>
            <a:r>
              <a:rPr sz="7730" b="1">
                <a:solidFill>
                  <a:srgbClr val="A280EC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0996611E-DDB1-4602-BDC6-2A6F3738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60897" y="4932854"/>
            <a:ext cx="8494452" cy="4119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3244"/>
              </a:lnSpc>
              <a:spcBef>
                <a:spcPct val="0"/>
              </a:spcBef>
              <a:buNone/>
            </a:pPr>
            <a:r>
              <a:rPr sz="2317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3" name="Freeform 13">
            <a:extLst xmlns:a="http://schemas.openxmlformats.org/drawingml/2006/main">
              <a:ext uri="{FF2B5EF4-FFF2-40B4-BE49-F238E27FC236}">
                <a16:creationId xmlns:a16="http://schemas.microsoft.com/office/drawing/2014/main" id="{809E96F8-D76E-4865-B7EA-32D303DDD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2122125" y="2693077"/>
            <a:ext cx="4240473" cy="4240473"/>
          </a:xfrm>
          <a:custGeom xmlns:a="http://schemas.openxmlformats.org/drawingml/2006/main">
            <a:rect l="l" t="t" r="r" b="b"/>
            <a:pathLst>
              <a:path w="4240473" h="4240473">
                <a:moveTo>
                  <a:pt x="4240473" y="0"/>
                </a:moveTo>
                <a:lnTo>
                  <a:pt x="0" y="0"/>
                </a:lnTo>
                <a:lnTo>
                  <a:pt x="0" y="4240473"/>
                </a:lnTo>
                <a:lnTo>
                  <a:pt x="4240473" y="4240473"/>
                </a:lnTo>
                <a:lnTo>
                  <a:pt x="4240473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4" name="內容_14_現場 Demo">
            <a:extLst xmlns:a="http://schemas.openxmlformats.org/drawingml/2006/main">
              <a:ext uri="{FF2B5EF4-FFF2-40B4-BE49-F238E27FC236}">
                <a16:creationId xmlns:a16="http://schemas.microsoft.com/office/drawing/2014/main" id="{D6DB8FF5-9356-4C54-82B7-188E00E8F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30505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現場 Demo</a:t>
            </a:r>
          </a:p>
        </p:txBody>
      </p:sp>
      <p:sp>
        <p:nvSpPr>
          <p:cNvPr id="15" name="內容_14_實際3D、儀表與原始計數">
            <a:extLst xmlns:a="http://schemas.openxmlformats.org/drawingml/2006/main">
              <a:ext uri="{FF2B5EF4-FFF2-40B4-BE49-F238E27FC236}">
                <a16:creationId xmlns:a16="http://schemas.microsoft.com/office/drawing/2014/main" id="{39C87B26-ED23-48AC-B0F6-63D73B88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52750"/>
            <a:ext cx="1428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實際3D、儀表與原始計數</a:t>
            </a:r>
          </a:p>
        </p:txBody>
      </p:sp>
      <p:sp>
        <p:nvSpPr>
          <p:cNvPr id="16" name="內容_14_Before P0">
            <a:extLst xmlns:a="http://schemas.openxmlformats.org/drawingml/2006/main">
              <a:ext uri="{FF2B5EF4-FFF2-40B4-BE49-F238E27FC236}">
                <a16:creationId xmlns:a16="http://schemas.microsoft.com/office/drawing/2014/main" id="{1419ACEA-E854-432D-AF3B-FE541C5B5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048125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Before P0</a:t>
            </a:r>
          </a:p>
        </p:txBody>
      </p:sp>
      <p:sp>
        <p:nvSpPr>
          <p:cNvPr id="17" name="內容_14_After P4 12m">
            <a:extLst xmlns:a="http://schemas.openxmlformats.org/drawingml/2006/main">
              <a:ext uri="{FF2B5EF4-FFF2-40B4-BE49-F238E27FC236}">
                <a16:creationId xmlns:a16="http://schemas.microsoft.com/office/drawing/2014/main" id="{BABED8DA-C406-48D7-96EF-5712B2D4D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9055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75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75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75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75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75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75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75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75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75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A280EC"/>
                </a:solidFill>
                <a:latin typeface="Microsoft JhengHei"/>
                <a:ea typeface="Microsoft JhengHei"/>
                <a:cs typeface="Microsoft JhengHei"/>
              </a:rPr>
              <a:t>After P4 12m</a:t>
            </a:r>
          </a:p>
        </p:txBody>
      </p:sp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2425BE-72EC-4CD3-984A-9CFE5CDE083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fb4405a274189"/>
          <a:srcRect xmlns:a="http://schemas.openxmlformats.org/drawingml/2006/main" l="0" t="20000" r="0" b="15000"/>
          <a:stretch xmlns:a="http://schemas.openxmlformats.org/drawingml/2006/main"/>
        </p:blipFill>
        <p:spPr>
          <a:xfrm xmlns:a="http://schemas.openxmlformats.org/drawingml/2006/main">
            <a:off x="1581150" y="4381500"/>
            <a:ext cx="4857750" cy="1476375"/>
          </a:xfrm>
          <a:prstGeom xmlns:a="http://schemas.openxmlformats.org/drawingml/2006/main" prst="rect">
            <a:avLst/>
          </a:prstGeom>
        </p:spPr>
      </p:pic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5C449C-2D83-4830-9F2E-109EB8CE40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84c1a2855a486b"/>
          <a:srcRect xmlns:a="http://schemas.openxmlformats.org/drawingml/2006/main" l="0" t="20000" r="0" b="15000"/>
          <a:stretch xmlns:a="http://schemas.openxmlformats.org/drawingml/2006/main"/>
        </p:blipFill>
        <p:spPr>
          <a:xfrm xmlns:a="http://schemas.openxmlformats.org/drawingml/2006/main">
            <a:off x="1581150" y="6286500"/>
            <a:ext cx="4857750" cy="1333500"/>
          </a:xfrm>
          <a:prstGeom xmlns:a="http://schemas.openxmlformats.org/drawingml/2006/main" prst="rect">
            <a:avLst/>
          </a:prstGeom>
        </p:spPr>
      </p:pic>
      <p:sp>
        <p:nvSpPr>
          <p:cNvPr id="20" name="內容_14_原生Dashboard：WI">
            <a:extLst xmlns:a="http://schemas.openxmlformats.org/drawingml/2006/main">
              <a:ext uri="{FF2B5EF4-FFF2-40B4-BE49-F238E27FC236}">
                <a16:creationId xmlns:a16="http://schemas.microsoft.com/office/drawing/2014/main" id="{DE848E93-5B15-458E-ACE3-4D11CF031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048125"/>
            <a:ext cx="904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原生Dashboard：WIP趨勢與清洗狀態</a:t>
            </a:r>
          </a:p>
        </p:txBody>
      </p:sp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9F84BC-3656-420D-9335-02ADE419CB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e9f0a4a885487c"/>
          <a:srcRect xmlns:a="http://schemas.openxmlformats.org/drawingml/2006/main" l="0" t="53500" r="10000" b="7000"/>
          <a:stretch xmlns:a="http://schemas.openxmlformats.org/drawingml/2006/main"/>
        </p:blipFill>
        <p:spPr>
          <a:xfrm xmlns:a="http://schemas.openxmlformats.org/drawingml/2006/main">
            <a:off x="6953250" y="4476750"/>
            <a:ext cx="9048750" cy="3143250"/>
          </a:xfrm>
          <a:prstGeom xmlns:a="http://schemas.openxmlformats.org/drawingml/2006/main" prst="rect">
            <a:avLst/>
          </a:prstGeom>
        </p:spPr>
      </p:pic>
      <p:sp>
        <p:nvSpPr>
          <p:cNvPr id="22" name="內容_14_40欄儀表、兩張原生統計圖、">
            <a:extLst xmlns:a="http://schemas.openxmlformats.org/drawingml/2006/main">
              <a:ext uri="{FF2B5EF4-FFF2-40B4-BE49-F238E27FC236}">
                <a16:creationId xmlns:a16="http://schemas.microsoft.com/office/drawing/2014/main" id="{E44358F9-340A-4B2C-8BF9-4290313A2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239125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92A6DD"/>
                </a:solidFill>
                <a:latin typeface="Microsoft JhengHei"/>
                <a:ea typeface="Microsoft JhengHei"/>
                <a:cs typeface="Microsoft JhengHei"/>
              </a:rPr>
              <a:t>40欄儀表、兩張原生統計圖、ABC比例；備援影片330.75秒，3600張實際3D影格均附時間。</a:t>
            </a:r>
          </a:p>
        </p:txBody>
      </p:sp>
    </p:spTree>
    <p:extLst>
      <p:ext uri="{BB962C8B-B14F-4D97-AF65-F5344CB8AC3E}">
        <p14:creationId xmlns:p14="http://schemas.microsoft.com/office/powerpoint/2010/main" val="192948766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B7CE8B02-AE33-4389-B9F9-BDE20FD5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8288000" cy="10287000"/>
          </a:xfrm>
          <a:custGeom xmlns:a="http://schemas.openxmlformats.org/drawingml/2006/main"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2e8be4ba9034f42"/>
            <a:stretch>
              <a:fillRect l="-4156" t="0" r="-2479" b="-18484"/>
            </a:stretch>
          </a:blipFill>
        </p:spPr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FA456827-91CC-4E46-AEF9-76C7BFC2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015874" y="830098"/>
            <a:ext cx="1628775" cy="1628775"/>
          </a:xfrm>
          <a:custGeom xmlns:a="http://schemas.openxmlformats.org/drawingml/2006/main">
            <a:rect l="l" t="t" r="r" b="b"/>
            <a:pathLst>
              <a:path w="1628775" h="1628775">
                <a:moveTo>
                  <a:pt x="0" y="0"/>
                </a:moveTo>
                <a:lnTo>
                  <a:pt x="1628775" y="0"/>
                </a:lnTo>
                <a:lnTo>
                  <a:pt x="1628775" y="1628775"/>
                </a:lnTo>
                <a:lnTo>
                  <a:pt x="0" y="1628775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0b5860fa0294ce9"/>
            <a:stretch>
              <a:fillRect l="0" t="0" r="0" b="0"/>
            </a:stretch>
          </a:blipFill>
        </p:spPr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7672A64E-2E98-4E57-BDC1-BC188CDEB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653346" y="1320942"/>
            <a:ext cx="2410884" cy="608841"/>
          </a:xfrm>
          <a:custGeom xmlns:a="http://schemas.openxmlformats.org/drawingml/2006/main">
            <a:rect l="l" t="t" r="r" b="b"/>
            <a:pathLst>
              <a:path w="1609259" h="406400">
                <a:moveTo>
                  <a:pt x="1406059" y="0"/>
                </a:moveTo>
                <a:cubicBezTo>
                  <a:pt x="1518283" y="0"/>
                  <a:pt x="1609259" y="90976"/>
                  <a:pt x="1609259" y="203200"/>
                </a:cubicBezTo>
                <a:cubicBezTo>
                  <a:pt x="1609259" y="315424"/>
                  <a:pt x="1518283" y="406400"/>
                  <a:pt x="1406059" y="406400"/>
                </a:cubicBezTo>
                <a:lnTo>
                  <a:pt x="203200" y="406400"/>
                </a:ln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lose/>
              </a:path>
            </a:pathLst>
          </a:custGeom>
          <a:ln xmlns:a="http://schemas.openxmlformats.org/drawingml/2006/main" w="19050" cap="sq">
            <a:gradFill>
              <a:gsLst>
                <a:gs pos="0">
                  <a:srgbClr val="92A6DD">
                    <a:alpha val="100000"/>
                  </a:srgbClr>
                </a:gs>
                <a:gs pos="100000">
                  <a:srgbClr val="DF96DA">
                    <a:alpha val="100000"/>
                  </a:srgbClr>
                </a:gs>
              </a:gsLst>
              <a:lin ang="0"/>
            </a:gradFill>
            <a:prstDash val="solid"/>
            <a:miter/>
          </a:ln>
        </p:spPr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50B9BCFE-D981-40D4-9135-034DDB46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653346" y="1392290"/>
            <a:ext cx="2410884" cy="5374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425"/>
              </a:lnSpc>
              <a:buNone/>
            </a:pPr>
          </a:p>
        </p:txBody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D164EC8A-F968-4A17-B89F-23E2A7F4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4240473" h="4240473">
                <a:moveTo>
                  <a:pt x="0" y="0"/>
                </a:moveTo>
                <a:lnTo>
                  <a:pt x="4240472" y="0"/>
                </a:lnTo>
                <a:lnTo>
                  <a:pt x="4240472" y="4240472"/>
                </a:lnTo>
                <a:lnTo>
                  <a:pt x="0" y="4240472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3FCD65FC-D881-4534-A17E-EB6024C29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913351" y="5492193"/>
            <a:ext cx="1281112" cy="25768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029"/>
              </a:lnSpc>
              <a:spcBef>
                <a:spcPct val="0"/>
              </a:spcBef>
              <a:buNone/>
            </a:pPr>
            <a:r>
              <a:rPr sz="1449">
                <a:solidFill>
                  <a:srgbClr val="FEF0E1">
                    <a:alpha val="78824"/>
                  </a:srgbClr>
                </a:solidFill>
                <a:latin typeface="Poppins"/>
                <a:ea typeface="Poppins"/>
                <a:cs typeface="Poppins"/>
              </a:rPr>
              <a:t>page 15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7BE250ED-A01E-4448-8D8F-D494D086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99650" y="3188938"/>
            <a:ext cx="13102912" cy="252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19900"/>
              </a:lnSpc>
              <a:spcBef>
                <a:spcPct val="0"/>
              </a:spcBef>
              <a:buNone/>
            </a:pPr>
            <a:r>
              <a:rPr sz="14214" b="1">
                <a:solidFill>
                  <a:srgbClr val="F6E0F5"/>
                </a:solidFill>
                <a:latin typeface="Garet Bold"/>
                <a:ea typeface="Garet Bold"/>
                <a:cs typeface="Garet Bold"/>
              </a:rPr>
              <a:t/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150636B9-C948-4F9B-9FBF-A380640C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77827" y="1507692"/>
            <a:ext cx="2386403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defPPr>
            <a:lvl1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1pPr>
            <a:lvl2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2pPr>
            <a:lvl3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3pPr>
            <a:lvl4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4pPr>
            <a:lvl5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5pPr>
            <a:lvl6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6pPr>
            <a:lvl7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7pPr>
            <a:lvl8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8pPr>
            <a:lvl9pPr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lvl9pPr>
          </a:lstStyle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  <a:defRPr sz="1800">
                <a:solidFill>
                  <a:srgbClr val="F6E0F5"/>
                </a:solidFill>
                <a:latin typeface="Garet"/>
                <a:ea typeface="Garet"/>
                <a:cs typeface="Garet"/>
              </a:defRPr>
            </a:pPr>
            <a:r>
              <a:rPr sz="1800">
                <a:solidFill>
                  <a:srgbClr val="F6E0F5"/>
                </a:solidFill>
                <a:latin typeface="Garet"/>
                <a:ea typeface="Garet"/>
                <a:cs typeface="Garet"/>
              </a:rPr>
              <a:t>FLEXSIM 2027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71B8FF3F-7782-4C43-9A90-B9C9169C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87040" y="5601985"/>
            <a:ext cx="7601340" cy="285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2245"/>
              </a:lnSpc>
              <a:spcBef>
                <a:spcPct val="0"/>
              </a:spcBef>
              <a:buNone/>
            </a:pPr>
            <a:r>
              <a:rPr sz="1603" spc="266">
                <a:solidFill>
                  <a:srgbClr val="F6E0F5"/>
                </a:solidFill>
                <a:latin typeface="Garet"/>
                <a:ea typeface="Garet"/>
                <a:cs typeface="Garet"/>
              </a:rPr>
              <a:t/>
            </a:r>
          </a:p>
        </p:txBody>
      </p:sp>
      <p:sp>
        <p:nvSpPr>
          <p:cNvPr id="12" name="Freeform 12">
            <a:extLst xmlns:a="http://schemas.openxmlformats.org/drawingml/2006/main">
              <a:ext uri="{FF2B5EF4-FFF2-40B4-BE49-F238E27FC236}">
                <a16:creationId xmlns:a16="http://schemas.microsoft.com/office/drawing/2014/main" id="{1625AD43-BA7A-40FA-9565-34C72747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9525" cy="9525"/>
          </a:xfrm>
          <a:custGeom xmlns:a="http://schemas.openxmlformats.org/drawingml/2006/main">
            <a:rect l="l" t="t" r="r" b="b"/>
            <a:pathLst>
              <a:path w="4240473" h="4240473">
                <a:moveTo>
                  <a:pt x="0" y="0"/>
                </a:moveTo>
                <a:lnTo>
                  <a:pt x="4240472" y="0"/>
                </a:lnTo>
                <a:lnTo>
                  <a:pt x="4240472" y="4240473"/>
                </a:lnTo>
                <a:lnTo>
                  <a:pt x="0" y="4240473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C0697F-292F-475F-AAEC-24681ED437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56cd858dce4483"/>
          <a:srcRect xmlns:a="http://schemas.openxmlformats.org/drawingml/2006/main" l="21025" t="21025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3348895" cy="3348895"/>
          </a:xfrm>
          <a:prstGeom xmlns:a="http://schemas.openxmlformats.org/drawingml/2006/main" prst="rect">
            <a:avLst/>
          </a:prstGeom>
        </p:spPr>
      </p:pic>
      <p:sp>
        <p:nvSpPr>
          <p:cNvPr id="14" name="內容_15_以服務門檻選處方">
            <a:extLst xmlns:a="http://schemas.openxmlformats.org/drawingml/2006/main">
              <a:ext uri="{FF2B5EF4-FFF2-40B4-BE49-F238E27FC236}">
                <a16:creationId xmlns:a16="http://schemas.microsoft.com/office/drawing/2014/main" id="{3DD0E5F3-F290-4A53-9385-4134CD5C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190875"/>
            <a:ext cx="14097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8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8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8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8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8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8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8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8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8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8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8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400" b="1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以服務門檻選處方</a:t>
            </a:r>
          </a:p>
        </p:txBody>
      </p:sp>
      <p:sp>
        <p:nvSpPr>
          <p:cNvPr id="15" name="內容_15_12m降低阻塞；直接成本不足">
            <a:extLst xmlns:a="http://schemas.openxmlformats.org/drawingml/2006/main">
              <a:ext uri="{FF2B5EF4-FFF2-40B4-BE49-F238E27FC236}">
                <a16:creationId xmlns:a16="http://schemas.microsoft.com/office/drawing/2014/main" id="{877B7A15-4135-4A92-A181-2C35CF2D4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53000"/>
            <a:ext cx="1371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DF96DA"/>
                </a:solidFill>
                <a:latin typeface="Microsoft JhengHei"/>
                <a:ea typeface="Microsoft JhengHei"/>
                <a:cs typeface="Microsoft JhengHei"/>
              </a:rPr>
              <a:t>12m降低阻塞；直接成本不足以支持回收</a:t>
            </a:r>
          </a:p>
        </p:txBody>
      </p:sp>
      <p:sp>
        <p:nvSpPr>
          <p:cNvPr id="16" name="內容_15_保留失敗結果、追加精度驗證，">
            <a:extLst xmlns:a="http://schemas.openxmlformats.org/drawingml/2006/main">
              <a:ext uri="{FF2B5EF4-FFF2-40B4-BE49-F238E27FC236}">
                <a16:creationId xmlns:a16="http://schemas.microsoft.com/office/drawing/2014/main" id="{E2326479-3E4B-4122-AA0F-DF8CE54C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905500"/>
            <a:ext cx="1371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保留失敗結果、追加精度驗證，讓每項結論能追溯</a:t>
            </a:r>
          </a:p>
        </p:txBody>
      </p:sp>
      <p:sp>
        <p:nvSpPr>
          <p:cNvPr id="17" name="內容_15_Q&amp;A　原生模型、資料庫、逐">
            <a:extLst xmlns:a="http://schemas.openxmlformats.org/drawingml/2006/main">
              <a:ext uri="{FF2B5EF4-FFF2-40B4-BE49-F238E27FC236}">
                <a16:creationId xmlns:a16="http://schemas.microsoft.com/office/drawing/2014/main" id="{07873BD9-BB9D-4EB9-A7D7-45408C1E9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096375"/>
            <a:ext cx="1600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F6E0F5"/>
                </a:solidFill>
                <a:latin typeface="Microsoft JhengHei"/>
                <a:ea typeface="Microsoft JhengHei"/>
                <a:cs typeface="Microsoft JhengHei"/>
              </a:rPr>
              <a:t>Q&amp;A　原生模型、資料庫、逐次原始數據與展示素材隨附</a:t>
            </a:r>
          </a:p>
        </p:txBody>
      </p:sp>
    </p:spTree>
    <p:extLst>
      <p:ext uri="{BB962C8B-B14F-4D97-AF65-F5344CB8AC3E}">
        <p14:creationId xmlns:p14="http://schemas.microsoft.com/office/powerpoint/2010/main" val="41653537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Project contributors</dc:creator>
  <lastModifiedBy>Walnut Exporter</lastModifiedBy>
  <dc:title>Presentation</dc:title>
  <dcterms:created xsi:type="dcterms:W3CDTF">2026-10-29T09:49:14.0850000Z</dcterms:created>
  <dcterms:modified xsi:type="dcterms:W3CDTF">2026-10-29T09:49:14.0850000Z</dcterms:modified>
</coreProperties>
</file>