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a21aab6b0c4656" /><Relationship Type="http://schemas.openxmlformats.org/officeDocument/2006/relationships/extended-properties" Target="/docProps/app.xml" Id="R6a1717d582684410" /><Relationship Type="http://schemas.openxmlformats.org/officeDocument/2006/relationships/officeDocument" Target="/ppt/presentation.xml" Id="R41e9be034ac94d6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8579d5630a74d69"/>
  </p:sldMasterIdLst>
  <p:notesMasterIdLst>
    <p:notesMasterId xmlns:r="http://schemas.openxmlformats.org/officeDocument/2006/relationships" r:id="Rf475f33c754447c2"/>
  </p:notesMasterIdLst>
  <p:sldIdLst>
    <p:sldId xmlns:r="http://schemas.openxmlformats.org/officeDocument/2006/relationships" id="256" r:id="Rc7f94b4e688d4f7c"/>
    <p:sldId xmlns:r="http://schemas.openxmlformats.org/officeDocument/2006/relationships" id="257" r:id="R219732119e634ab6"/>
    <p:sldId xmlns:r="http://schemas.openxmlformats.org/officeDocument/2006/relationships" id="258" r:id="R1af259136fd6480b"/>
    <p:sldId xmlns:r="http://schemas.openxmlformats.org/officeDocument/2006/relationships" id="259" r:id="R453aed756d4b42a4"/>
    <p:sldId xmlns:r="http://schemas.openxmlformats.org/officeDocument/2006/relationships" id="260" r:id="Ra1cb325cf01748b7"/>
    <p:sldId xmlns:r="http://schemas.openxmlformats.org/officeDocument/2006/relationships" id="261" r:id="Rbcb00b8689c54e23"/>
    <p:sldId xmlns:r="http://schemas.openxmlformats.org/officeDocument/2006/relationships" id="262" r:id="R0ba58f01f54043c4"/>
    <p:sldId xmlns:r="http://schemas.openxmlformats.org/officeDocument/2006/relationships" id="263" r:id="Rd86cdc9744274e11"/>
    <p:sldId xmlns:r="http://schemas.openxmlformats.org/officeDocument/2006/relationships" id="264" r:id="R1651043e0b74485d"/>
    <p:sldId xmlns:r="http://schemas.openxmlformats.org/officeDocument/2006/relationships" id="265" r:id="Ra1be592f4ff04f2f"/>
    <p:sldId xmlns:r="http://schemas.openxmlformats.org/officeDocument/2006/relationships" id="266" r:id="R80310bc39b4d4afa"/>
    <p:sldId xmlns:r="http://schemas.openxmlformats.org/officeDocument/2006/relationships" id="267" r:id="R974da358a60d4aa2"/>
    <p:sldId xmlns:r="http://schemas.openxmlformats.org/officeDocument/2006/relationships" id="268" r:id="R0875ab855c594c37"/>
    <p:sldId xmlns:r="http://schemas.openxmlformats.org/officeDocument/2006/relationships" id="269" r:id="Rf6f539424202482c"/>
    <p:sldId xmlns:r="http://schemas.openxmlformats.org/officeDocument/2006/relationships" id="270" r:id="Rd9c234f7c8ad4e07"/>
  </p:sldIdLst>
  <p:sldSz cx="18288000" cy="10287000"/>
  <p:notesSz cx="6858000" cy="9144000"/>
  <p:embeddedFontLst>
    <p:embeddedFont>
      <p:font typeface="Garet Bold"/>
      <p:regular xmlns:r="http://schemas.openxmlformats.org/officeDocument/2006/relationships" r:id="R533b04373fe9473e"/>
    </p:embeddedFont>
    <p:embeddedFont>
      <p:font typeface="Garet"/>
      <p:regular xmlns:r="http://schemas.openxmlformats.org/officeDocument/2006/relationships" r:id="R39b39ebb40e44600"/>
    </p:embeddedFont>
    <p:embeddedFont>
      <p:font typeface="Poppins"/>
      <p:regular xmlns:r="http://schemas.openxmlformats.org/officeDocument/2006/relationships" r:id="R40a9e10f629a4f3c"/>
    </p:embeddedFont>
  </p:embeddedFontLst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a93ff119c144cf" /><Relationship Type="http://schemas.openxmlformats.org/officeDocument/2006/relationships/slideMaster" Target="/ppt/slideMasters/slideMaster1.xml" Id="R18579d5630a74d69" /><Relationship Type="http://schemas.openxmlformats.org/officeDocument/2006/relationships/notesMaster" Target="/ppt/notesMasters/notesMaster1.xml" Id="Rf475f33c754447c2" /><Relationship Type="http://schemas.openxmlformats.org/officeDocument/2006/relationships/presProps" Target="/ppt/presProps.xml" Id="Rd05e2d095fa84966" /><Relationship Type="http://schemas.openxmlformats.org/officeDocument/2006/relationships/viewProps" Target="/ppt/viewProps.xml" Id="R109a85488d904556" /><Relationship Type="http://schemas.openxmlformats.org/officeDocument/2006/relationships/tableStyles" Target="/ppt/tableStyles.xml" Id="Rfbb35cf6308544e6" /><Relationship Type="http://schemas.openxmlformats.org/officeDocument/2006/relationships/font" Target="/ppt/fonts/font.dat" Id="R533b04373fe9473e" /><Relationship Type="http://schemas.openxmlformats.org/officeDocument/2006/relationships/font" Target="/ppt/fonts/font2.dat" Id="R39b39ebb40e44600" /><Relationship Type="http://schemas.openxmlformats.org/officeDocument/2006/relationships/font" Target="/ppt/fonts/font3.dat" Id="R40a9e10f629a4f3c" /><Relationship Type="http://schemas.openxmlformats.org/officeDocument/2006/relationships/slide" Target="/ppt/slides/slide1.xml" Id="Rc7f94b4e688d4f7c" /><Relationship Type="http://schemas.openxmlformats.org/officeDocument/2006/relationships/slide" Target="/ppt/slides/slide2.xml" Id="R219732119e634ab6" /><Relationship Type="http://schemas.openxmlformats.org/officeDocument/2006/relationships/slide" Target="/ppt/slides/slide3.xml" Id="R1af259136fd6480b" /><Relationship Type="http://schemas.openxmlformats.org/officeDocument/2006/relationships/slide" Target="/ppt/slides/slide4.xml" Id="R453aed756d4b42a4" /><Relationship Type="http://schemas.openxmlformats.org/officeDocument/2006/relationships/slide" Target="/ppt/slides/slide5.xml" Id="Ra1cb325cf01748b7" /><Relationship Type="http://schemas.openxmlformats.org/officeDocument/2006/relationships/slide" Target="/ppt/slides/slide6.xml" Id="Rbcb00b8689c54e23" /><Relationship Type="http://schemas.openxmlformats.org/officeDocument/2006/relationships/slide" Target="/ppt/slides/slide7.xml" Id="R0ba58f01f54043c4" /><Relationship Type="http://schemas.openxmlformats.org/officeDocument/2006/relationships/slide" Target="/ppt/slides/slide8.xml" Id="Rd86cdc9744274e11" /><Relationship Type="http://schemas.openxmlformats.org/officeDocument/2006/relationships/slide" Target="/ppt/slides/slide9.xml" Id="R1651043e0b74485d" /><Relationship Type="http://schemas.openxmlformats.org/officeDocument/2006/relationships/slide" Target="/ppt/slides/slide10.xml" Id="Ra1be592f4ff04f2f" /><Relationship Type="http://schemas.openxmlformats.org/officeDocument/2006/relationships/slide" Target="/ppt/slides/slide11.xml" Id="R80310bc39b4d4afa" /><Relationship Type="http://schemas.openxmlformats.org/officeDocument/2006/relationships/slide" Target="/ppt/slides/slide12.xml" Id="R974da358a60d4aa2" /><Relationship Type="http://schemas.openxmlformats.org/officeDocument/2006/relationships/slide" Target="/ppt/slides/slide13.xml" Id="R0875ab855c594c37" /><Relationship Type="http://schemas.openxmlformats.org/officeDocument/2006/relationships/slide" Target="/ppt/slides/slide14.xml" Id="Rf6f539424202482c" /><Relationship Type="http://schemas.openxmlformats.org/officeDocument/2006/relationships/slide" Target="/ppt/slides/slide15.xml" Id="Rd9c234f7c8ad4e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18384f04594e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d96d308e8645fa" /><Relationship Type="http://schemas.openxmlformats.org/officeDocument/2006/relationships/notesMaster" Target="/ppt/notesMasters/notesMaster1.xml" Id="R5cf0297b1f2a41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6604ef6d3e468a" /><Relationship Type="http://schemas.openxmlformats.org/officeDocument/2006/relationships/notesMaster" Target="/ppt/notesMasters/notesMaster1.xml" Id="Rd613b2bee3f04c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c83bb9637a43bd" /><Relationship Type="http://schemas.openxmlformats.org/officeDocument/2006/relationships/notesMaster" Target="/ppt/notesMasters/notesMaster1.xml" Id="R96ae0499a9ca49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e5a87739dc4a67" /><Relationship Type="http://schemas.openxmlformats.org/officeDocument/2006/relationships/notesMaster" Target="/ppt/notesMasters/notesMaster1.xml" Id="R77a32244845847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4bb59a44754a4e" /><Relationship Type="http://schemas.openxmlformats.org/officeDocument/2006/relationships/notesMaster" Target="/ppt/notesMasters/notesMaster1.xml" Id="Ra75a9c7335fe41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54e37d7cab4131" /><Relationship Type="http://schemas.openxmlformats.org/officeDocument/2006/relationships/notesMaster" Target="/ppt/notesMasters/notesMaster1.xml" Id="R94f4fec7555041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5638891418a4941" /><Relationship Type="http://schemas.openxmlformats.org/officeDocument/2006/relationships/notesMaster" Target="/ppt/notesMasters/notesMaster1.xml" Id="R87f0dd1d972b49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da54f0f71148e8" /><Relationship Type="http://schemas.openxmlformats.org/officeDocument/2006/relationships/notesMaster" Target="/ppt/notesMasters/notesMaster1.xml" Id="R03286980b06546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4b6e6743eae46a4" /><Relationship Type="http://schemas.openxmlformats.org/officeDocument/2006/relationships/notesMaster" Target="/ppt/notesMasters/notesMaster1.xml" Id="R06439402ec19419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d8f13e81cd4d5a" /><Relationship Type="http://schemas.openxmlformats.org/officeDocument/2006/relationships/notesMaster" Target="/ppt/notesMasters/notesMaster1.xml" Id="R3af538f3d43741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6fd256e1ea449a4" /><Relationship Type="http://schemas.openxmlformats.org/officeDocument/2006/relationships/notesMaster" Target="/ppt/notesMasters/notesMaster1.xml" Id="Re17a4360046a4e2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354ed3665544f5d" /><Relationship Type="http://schemas.openxmlformats.org/officeDocument/2006/relationships/notesMaster" Target="/ppt/notesMasters/notesMaster1.xml" Id="R17d770a06e5c4b2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038931597d4985" /><Relationship Type="http://schemas.openxmlformats.org/officeDocument/2006/relationships/notesMaster" Target="/ppt/notesMasters/notesMaster1.xml" Id="Rab6048b01e3b4b5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6c04230b67f4620" /><Relationship Type="http://schemas.openxmlformats.org/officeDocument/2006/relationships/notesMaster" Target="/ppt/notesMasters/notesMaster1.xml" Id="R2a18a5a913ca430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8daae1ded5467a" /><Relationship Type="http://schemas.openxmlformats.org/officeDocument/2006/relationships/notesMaster" Target="/ppt/notesMasters/notesMaster1.xml" Id="R16f7d955a06f49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責任分工建議：商業與假設、建模與調度、驗證與統計、財務與展示。未提供姓名，因此未虛構組員。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所有方案使用同一模型的原生實驗比較。P4的效果不可全部歸因於人員支援，因為它也包含外包。三波各20分鐘，六日觀察需求量約為平日1.43倍；不是整週3.5倍。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例如0.711 [0.565,0.856] %：平均阻塞占比0.711%，平均估計的95%信賴區間是0.565%到0.856%，不是所有單次運行必在區間內。主推方案另要求信賴上界低於1%；8公尺方案只有平均值符合。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流程圖為可編輯架構。原生Process Flow CustomCode已實際接收並完成ESG更新及品質檢查支援事件Token。完整DFD見01_SA；外部未入庫需求與倉內500箱資產分帳，實體箱池由入庫閘控限制。B級雙站各120秒，兩站各需作業員。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畫面為v8真實幾何模型。3,600張原生影格、逐格時間紀錄及五分鐘WebM備援另附。模型包含即時埠轉移，各長度轉接點已同步；清洗及檢驗設備外形採明示的2公尺×2公尺假設。這是課程輸入下的原生模型，尚無實倉CAD與現地運輸校準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證據：DispatchLog、AStarNavigator members與Operator移動。單行以原生TravelPatterns限制方向；200段往返到站距離為工作站邊緣0.5公尺。待命人員採官方讓位假設，互斥檢查針對活動行走者。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S1/P0無外包，按每次能耗/退貨量計算再取平均，0.184875145度電/件。1−E×0.495/0.35=73.853%。同口徑若剛好42%，E約0.410101度電/件；差異來自給定係數、能耗與基準。P4 12公尺的完整減碳信賴區間[73.966,74.023]%，下界亦大於42%；包含平均84.7箱外包及相應排放，不能只套電力公式。0.35與0.495為課程係數，未涵蓋完整箱製造與逆物流LCA。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V3依批次前固定計畫，使用30次平均在製量時間剖面的迴歸，並完整保留個別重複的絕對漂移。S0 pooled漂移−0.20755%，S1 改善前為9.84335%，P4 12公尺為1.86592%。V5包含12項主要作業與財務績效指標；原始30次的精度不足仍是正式發現。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獨立飽和測試：無故障119.994箱／小時；故障均值115.156箱／小時，信賴區間涵蓋115.2。主模型V7另以每次實現停機時間對標，不能把每次可用率固定成96%。V8個別重複最大偏差2.46百分點，未隱藏。五倍測試7日期末外部待入庫需求34185，實體箱資產最大71，未超過500；縮小5箱池的停機恢復測試則實際觸發了硬上限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S1、各30次。P4 8公尺平均外包110.8箱，12m84.7箱，現有實驗不是支援/外包的獨立消融。P4 8公尺阻塞0.951% [0.783,1.118]；12m0.711% [0.565,0.856]。品質檢查單人40秒能力90/h，低於清洗期望115.2/h，單加第二台清洗P1仍阻塞3.944%。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每次動態佈局都同步入口、出口及斜帶實際距離。早期未同步出口的測試被守恆檢查攔下並作廢；本頁僅使用重新凍結後的protocol9正式資料。Source外部需求與實體箱池分帳，500箱入庫閘控經縮小池停機測試驗證。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兩種選法明確區分，沒有暗中修改課程門檻。兩者超24小時均為0；12公尺在270件／小時尖峰敏感度亦檢查。結案下界把期末退貨商品在製量全部視為觀察期未完成，不能解讀成100%精確履約。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本含箱攤提、剩餘帳面價值沖銷、清洗耗材、電力、外包與檢查前等待損失。365日年化以6日觀察推估，另列250日敏感度；不是實際年度帳務。12公尺五年8%NPV為-323,376元。若必須改善SLA，P4比P1少投資且營運成本較低，但與維持P0相比，直接財務效益不足以支持回收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左側為可編輯數值熱圖，原生狀態時間讀回，非連續空間熱力圖。兩種指標採不同色階，不可跨尺度以顏色比較；加工和阻塞也不相加視為全部狀態。原3D紅色來自加工≥90%或阻塞≥1%的累計門檻，非當下狀態。Dashboard仍為40文字卡加兩圖，本次沒有改寫原生視窗介面。影片330.752秒為3600張原生3D影格，非全桌面錄影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交付依課程輸入完成原生模擬、實驗及驗證判讀。原始30次V5仍未達精度門檻，600次補充已達；65%包材節約及100%通過不得宣稱達成。實倉CAD、訂單、故障與行走紀錄是部署前校準條件。課程ESG按需求到達計算，在大量未完成需求的極端情境會高估效益，因此另附以已履約箱數計算的稽核口徑，不能以節流／不履約美化減碳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秒；95%信賴區間使用t分布（29個自由度），臨界值2.04523。S為需求情境，P為改善方案；m是公尺，min是分鐘。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a968543ce74f4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4aba5535f0417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4e8fd20776437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6db302ed034e9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8db01b7227422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156a76122a4b1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9d308953bd4b2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a448a5758f4fa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1978ce64e4443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d36c2da6fd460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9310a021cd450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AAF07D-6364-4DBB-849C-D3D6E7FB2AE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96BAB8-8DF6-4363-B7EB-6357AC0755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D1DFAB8-B381-4365-8BA9-AADDB5BCAC6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CFE6B8-D071-42C0-B3DA-51E3AB0D2F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AEE314B-925E-46C3-BFFE-5D17713F49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28A8B1-B652-43B3-AA1D-A0621EB9F5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356AFC3-E8D0-4603-AD83-3FE3EFE7639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DB1F090-2363-4E5B-8CC8-1988C71892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618B71B-A2BB-41C6-828C-CD44E0424B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229217-2BE8-4969-83DF-91BDA058BA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01247E-6265-46EB-B042-D7DF871124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2B9AEF6-9C03-40C5-A2EE-4197EEB4FC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0D16052-FC48-4A04-8568-57416ECBC6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9435F90-D516-4918-8DA1-456727A4C6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C6E7816-B282-450F-AD26-2C74920E18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626077-D5E5-410C-8707-A822563047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9A06E95-659D-4C50-A044-5617BBCEA64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1639AA-00D3-49DA-BB35-D47DF77BBF9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8DFB4E3-D13A-44F5-997C-31AE3785E0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A70DE5-AF91-4859-981B-98C7641BE9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EA5517-7091-4147-A924-8D7722E2B20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E42FEF-8782-407E-A41E-DE7F66A670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59AA7F3-E402-44AC-A604-D63C4E1AF9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DEFD273-B834-42E3-894E-5AB626C693F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64744B3-EDE8-4677-9194-01ABA99F207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7A14389-6008-44CC-ADFA-77E7C8B950C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BFCDD00-E976-4CA3-BFE2-C6D534FF03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6B1B905-033A-498A-AB50-19C7B99A2C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918A968-4724-42BB-B78A-EAA98F6697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E382995-18B2-4930-A43E-E48DBDF646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ED2F28E-2D96-44BE-AF71-892C45C91B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7A273F3-350F-4CA7-9802-A4B0AC1342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FF307C5-96D7-4D26-8815-F0F8FDD0C4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499E12C-9480-4A90-8A35-FD88ED29E9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41E59A9-02D9-49C5-A850-BF5DE06459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76A17DF-7A42-460F-ACB4-60813DA8E5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0DFFD5-5685-43C7-A397-4B82920847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0896747-69B8-490F-AE06-568E978B860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E35F372-2BFC-4007-9C66-DC142A3784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B080BD-7DD9-43A7-81C0-D8FF6DAFE8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9052CD8-E69C-462E-9426-43E5906E91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DAC0015-F48F-4708-8960-7D36EC7451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5CF778-DE2E-40E4-8FCE-4BA5554DC4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716F194-B4CD-40FA-B689-53AC6A6C358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D425812-31AD-4815-A3F0-1205F69DEE1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8D318DA-A50C-4E60-9249-13C0848DB62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D2EB50-363D-467D-9ACB-F168CD0383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3BE029D-B684-4013-8721-2043B0CE28B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2AEE945-C4F4-429A-BB77-8E9F444CCC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B9FB5EF-2779-449A-92A6-C26F06A61F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D26E671-CDE6-4284-B2AD-4C4A45A0BF5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9FA5C33-375F-406F-B194-93D4A51252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729844A-CB12-436B-ABF2-945E281869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DED8826-D2D4-4561-85CD-8DB8E16E94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97CD4E-49FC-47DD-8AFD-84FD08565A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07040ED-AD0F-4299-8F57-2F45AF0AC3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BBBB6DE-D8BD-4029-B1C9-AA6128C1D9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34859B-E781-41B0-8498-7B1306E378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dd3be276a44e5b" /><Relationship Type="http://schemas.openxmlformats.org/officeDocument/2006/relationships/slideLayout" Target="/ppt/slideLayouts/slideLayout1.xml" Id="R0f228906f2274515" /><Relationship Type="http://schemas.openxmlformats.org/officeDocument/2006/relationships/slideLayout" Target="/ppt/slideLayouts/slideLayout2.xml" Id="R81d44deb74d94a16" /><Relationship Type="http://schemas.openxmlformats.org/officeDocument/2006/relationships/slideLayout" Target="/ppt/slideLayouts/slideLayout3.xml" Id="R693338acdb9d432c" /><Relationship Type="http://schemas.openxmlformats.org/officeDocument/2006/relationships/slideLayout" Target="/ppt/slideLayouts/slideLayout4.xml" Id="R011bd35c68f444e8" /><Relationship Type="http://schemas.openxmlformats.org/officeDocument/2006/relationships/slideLayout" Target="/ppt/slideLayouts/slideLayout5.xml" Id="R17defdd7eed1420b" /><Relationship Type="http://schemas.openxmlformats.org/officeDocument/2006/relationships/slideLayout" Target="/ppt/slideLayouts/slideLayout6.xml" Id="R7328ba6ebebb49a1" /><Relationship Type="http://schemas.openxmlformats.org/officeDocument/2006/relationships/slideLayout" Target="/ppt/slideLayouts/slideLayout7.xml" Id="Re5463081fb97497d" /><Relationship Type="http://schemas.openxmlformats.org/officeDocument/2006/relationships/slideLayout" Target="/ppt/slideLayouts/slideLayout8.xml" Id="Rebe586ffc6914a4e" /><Relationship Type="http://schemas.openxmlformats.org/officeDocument/2006/relationships/slideLayout" Target="/ppt/slideLayouts/slideLayout9.xml" Id="Rc7018df7736c4e7c" /><Relationship Type="http://schemas.openxmlformats.org/officeDocument/2006/relationships/slideLayout" Target="/ppt/slideLayouts/slideLayout10.xml" Id="R76395670f4af437f" /><Relationship Type="http://schemas.openxmlformats.org/officeDocument/2006/relationships/slideLayout" Target="/ppt/slideLayouts/slideLayout11.xml" Id="R9d4259d793824e1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0EEEC88-DBAE-449B-9002-4B4C91875C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F47AD5-4482-4BD2-A519-DC1075F317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0C5D670-763E-4153-8469-01D9A4D6E91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04C9047-3EE5-49A4-A542-D07CCC35642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A21E6D0-0FC2-4B20-ABD5-07AD60CEFCA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228906f2274515"/>
    <p:sldLayoutId xmlns:r="http://schemas.openxmlformats.org/officeDocument/2006/relationships" id="2147483650" r:id="R81d44deb74d94a16"/>
    <p:sldLayoutId xmlns:r="http://schemas.openxmlformats.org/officeDocument/2006/relationships" id="2147483651" r:id="R693338acdb9d432c"/>
    <p:sldLayoutId xmlns:r="http://schemas.openxmlformats.org/officeDocument/2006/relationships" id="2147483652" r:id="R011bd35c68f444e8"/>
    <p:sldLayoutId xmlns:r="http://schemas.openxmlformats.org/officeDocument/2006/relationships" id="2147483653" r:id="R17defdd7eed1420b"/>
    <p:sldLayoutId xmlns:r="http://schemas.openxmlformats.org/officeDocument/2006/relationships" id="2147483654" r:id="R7328ba6ebebb49a1"/>
    <p:sldLayoutId xmlns:r="http://schemas.openxmlformats.org/officeDocument/2006/relationships" id="2147483655" r:id="Re5463081fb97497d"/>
    <p:sldLayoutId xmlns:r="http://schemas.openxmlformats.org/officeDocument/2006/relationships" id="2147483656" r:id="Rebe586ffc6914a4e"/>
    <p:sldLayoutId xmlns:r="http://schemas.openxmlformats.org/officeDocument/2006/relationships" id="2147483657" r:id="Rc7018df7736c4e7c"/>
    <p:sldLayoutId xmlns:r="http://schemas.openxmlformats.org/officeDocument/2006/relationships" id="2147483658" r:id="R76395670f4af437f"/>
    <p:sldLayoutId xmlns:r="http://schemas.openxmlformats.org/officeDocument/2006/relationships" id="2147483659" r:id="R9d4259d793824e1d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e621f2567046db" /><Relationship Type="http://schemas.openxmlformats.org/officeDocument/2006/relationships/image" Target="/ppt/media/image.jpeg" Id="Rfe27aea067ea4bb4" /><Relationship Type="http://schemas.openxmlformats.org/officeDocument/2006/relationships/image" Target="/ppt/media/image.png" Id="Reb83d089010a41fd" /><Relationship Type="http://schemas.openxmlformats.org/officeDocument/2006/relationships/image" Target="/ppt/media/image.svg" Id="Rb4a8cc89b8ee4c74" /><Relationship Type="http://schemas.openxmlformats.org/officeDocument/2006/relationships/image" Target="/ppt/media/image2.png" Id="Raed7de2da3b44ad6" /><Relationship Type="http://schemas.openxmlformats.org/officeDocument/2006/relationships/image" Target="/ppt/media/image3.png" Id="Raf79b6a7549a4316" /><Relationship Type="http://schemas.openxmlformats.org/officeDocument/2006/relationships/notesSlide" Target="/ppt/notesSlides/notesSlide1.xml" Id="Rb4ecbe6182b04a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52d55c3c2b4cf3" /><Relationship Type="http://schemas.openxmlformats.org/officeDocument/2006/relationships/image" Target="/ppt/media/image.jpeg" Id="R18d5b0636136425a" /><Relationship Type="http://schemas.openxmlformats.org/officeDocument/2006/relationships/image" Target="/ppt/media/image.png" Id="Rb4c94726c68c48d4" /><Relationship Type="http://schemas.openxmlformats.org/officeDocument/2006/relationships/image" Target="/ppt/media/image.svg" Id="R45c99dde17f147de" /><Relationship Type="http://schemas.openxmlformats.org/officeDocument/2006/relationships/image" Target="/ppt/media/image4.png" Id="R59385007c52042e0" /><Relationship Type="http://schemas.openxmlformats.org/officeDocument/2006/relationships/notesSlide" Target="/ppt/notesSlides/notesSlide2.xml" Id="Rd3c775baa64f4c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afe3b26fbf4370" /><Relationship Type="http://schemas.openxmlformats.org/officeDocument/2006/relationships/image" Target="/ppt/media/image.jpeg" Id="R05322418d767471d" /><Relationship Type="http://schemas.openxmlformats.org/officeDocument/2006/relationships/image" Target="/ppt/media/image.png" Id="Rb00df977399b4d86" /><Relationship Type="http://schemas.openxmlformats.org/officeDocument/2006/relationships/image" Target="/ppt/media/image.svg" Id="Raf5d50fd734e4e00" /><Relationship Type="http://schemas.openxmlformats.org/officeDocument/2006/relationships/image" Target="/ppt/media/image4.png" Id="R1f7da8c8f7de45c2" /><Relationship Type="http://schemas.openxmlformats.org/officeDocument/2006/relationships/notesSlide" Target="/ppt/notesSlides/notesSlide3.xml" Id="R2343008622544f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6e4249cc6a47ff" /><Relationship Type="http://schemas.openxmlformats.org/officeDocument/2006/relationships/image" Target="/ppt/media/image.jpeg" Id="Rcc1dbbdeedbf427e" /><Relationship Type="http://schemas.openxmlformats.org/officeDocument/2006/relationships/image" Target="/ppt/media/image4.png" Id="Rb103b94aad3e4714" /><Relationship Type="http://schemas.openxmlformats.org/officeDocument/2006/relationships/image" Target="/ppt/media/image.png" Id="R08f2abfc398e4ab4" /><Relationship Type="http://schemas.openxmlformats.org/officeDocument/2006/relationships/image" Target="/ppt/media/image.svg" Id="Re0e342745b224f03" /><Relationship Type="http://schemas.openxmlformats.org/officeDocument/2006/relationships/image" Target="/ppt/media/image5.png" Id="R5c618ce79824412f" /><Relationship Type="http://schemas.openxmlformats.org/officeDocument/2006/relationships/notesSlide" Target="/ppt/notesSlides/notesSlide4.xml" Id="R9689425fc18444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f2ab251a5e48d4" /><Relationship Type="http://schemas.openxmlformats.org/officeDocument/2006/relationships/image" Target="/ppt/media/image.jpeg" Id="Rff56e7321da24d7d" /><Relationship Type="http://schemas.openxmlformats.org/officeDocument/2006/relationships/image" Target="/ppt/media/image4.png" Id="R886a694ff6ef4c59" /><Relationship Type="http://schemas.openxmlformats.org/officeDocument/2006/relationships/image" Target="/ppt/media/image.png" Id="R654f1d4f1a3746ba" /><Relationship Type="http://schemas.openxmlformats.org/officeDocument/2006/relationships/image" Target="/ppt/media/image.svg" Id="Ra215b423f1ff4f97" /><Relationship Type="http://schemas.openxmlformats.org/officeDocument/2006/relationships/image" Target="/ppt/media/image6.png" Id="R4998c41aa2f848d2" /><Relationship Type="http://schemas.openxmlformats.org/officeDocument/2006/relationships/notesSlide" Target="/ppt/notesSlides/notesSlide5.xml" Id="R76a69dff428046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c91a6a9e254eb8" /><Relationship Type="http://schemas.openxmlformats.org/officeDocument/2006/relationships/image" Target="/ppt/media/image.jpeg" Id="R47c5b041d70a4c3c" /><Relationship Type="http://schemas.openxmlformats.org/officeDocument/2006/relationships/image" Target="/ppt/media/image4.png" Id="R9ddda592e5214dbc" /><Relationship Type="http://schemas.openxmlformats.org/officeDocument/2006/relationships/image" Target="/ppt/media/image.png" Id="R4b3212d8313f4f2d" /><Relationship Type="http://schemas.openxmlformats.org/officeDocument/2006/relationships/image" Target="/ppt/media/image.svg" Id="Rcc05ea273b8f4564" /><Relationship Type="http://schemas.openxmlformats.org/officeDocument/2006/relationships/notesSlide" Target="/ppt/notesSlides/notesSlide6.xml" Id="R34d9d7d95b8548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d2b85dfec44371" /><Relationship Type="http://schemas.openxmlformats.org/officeDocument/2006/relationships/image" Target="/ppt/media/image.jpeg" Id="R1267652d75c44adb" /><Relationship Type="http://schemas.openxmlformats.org/officeDocument/2006/relationships/image" Target="/ppt/media/image4.png" Id="R52ac1ba4dfc145ec" /><Relationship Type="http://schemas.openxmlformats.org/officeDocument/2006/relationships/image" Target="/ppt/media/image.png" Id="R169b15a1f3274d33" /><Relationship Type="http://schemas.openxmlformats.org/officeDocument/2006/relationships/image" Target="/ppt/media/image.svg" Id="R20cb77a1c271421e" /><Relationship Type="http://schemas.openxmlformats.org/officeDocument/2006/relationships/notesSlide" Target="/ppt/notesSlides/notesSlide7.xml" Id="Rd71bd68bdfcf40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9c10ee3546468c" /><Relationship Type="http://schemas.openxmlformats.org/officeDocument/2006/relationships/image" Target="/ppt/media/image.jpeg" Id="Rc433bf421ed149cc" /><Relationship Type="http://schemas.openxmlformats.org/officeDocument/2006/relationships/image" Target="/ppt/media/image4.png" Id="R78b8576c3748433d" /><Relationship Type="http://schemas.openxmlformats.org/officeDocument/2006/relationships/image" Target="/ppt/media/image.png" Id="R7853de9decc540e2" /><Relationship Type="http://schemas.openxmlformats.org/officeDocument/2006/relationships/image" Target="/ppt/media/image.svg" Id="R5b481e93b54e46b5" /><Relationship Type="http://schemas.openxmlformats.org/officeDocument/2006/relationships/notesSlide" Target="/ppt/notesSlides/notesSlide8.xml" Id="R7aa8cf219ed44c4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e7a5ce9bcc4cd5" /><Relationship Type="http://schemas.openxmlformats.org/officeDocument/2006/relationships/image" Target="/ppt/media/image.jpeg" Id="R5334ff5f9aae4649" /><Relationship Type="http://schemas.openxmlformats.org/officeDocument/2006/relationships/image" Target="/ppt/media/image4.png" Id="R3d864407df184c72" /><Relationship Type="http://schemas.openxmlformats.org/officeDocument/2006/relationships/image" Target="/ppt/media/image.png" Id="R9a634155974c49ef" /><Relationship Type="http://schemas.openxmlformats.org/officeDocument/2006/relationships/image" Target="/ppt/media/image.svg" Id="R857cf036bf894848" /><Relationship Type="http://schemas.openxmlformats.org/officeDocument/2006/relationships/notesSlide" Target="/ppt/notesSlides/notesSlide9.xml" Id="Rfb5d8be110ea467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de0cd5782234800" /><Relationship Type="http://schemas.openxmlformats.org/officeDocument/2006/relationships/image" Target="/ppt/media/image.jpeg" Id="Rb7c416bf8c564aa0" /><Relationship Type="http://schemas.openxmlformats.org/officeDocument/2006/relationships/image" Target="/ppt/media/image4.png" Id="Rb1c8c3ab76ed40a9" /><Relationship Type="http://schemas.openxmlformats.org/officeDocument/2006/relationships/image" Target="/ppt/media/image.png" Id="Rf27ff6fc921a41ba" /><Relationship Type="http://schemas.openxmlformats.org/officeDocument/2006/relationships/image" Target="/ppt/media/image.svg" Id="R942c72dd1bd34581" /><Relationship Type="http://schemas.openxmlformats.org/officeDocument/2006/relationships/chart" Target="/ppt/slides/charts/chart1.xml" Id="Rf5b93fd8da2e489c" /><Relationship Type="http://schemas.openxmlformats.org/officeDocument/2006/relationships/chart" Target="/ppt/slides/charts/chart2.xml" Id="R6cf185952f324630" /><Relationship Type="http://schemas.openxmlformats.org/officeDocument/2006/relationships/notesSlide" Target="/ppt/notesSlides/notesSlide10.xml" Id="Rcc07d57bfda846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244b0ba657468a" /><Relationship Type="http://schemas.openxmlformats.org/officeDocument/2006/relationships/image" Target="/ppt/media/image.jpeg" Id="R9a4aa51d6db747e0" /><Relationship Type="http://schemas.openxmlformats.org/officeDocument/2006/relationships/image" Target="/ppt/media/image4.png" Id="R92728691a5914c66" /><Relationship Type="http://schemas.openxmlformats.org/officeDocument/2006/relationships/image" Target="/ppt/media/image.png" Id="Re3384580e27d4b33" /><Relationship Type="http://schemas.openxmlformats.org/officeDocument/2006/relationships/image" Target="/ppt/media/image.svg" Id="R9ec6d6a4a57d498f" /><Relationship Type="http://schemas.openxmlformats.org/officeDocument/2006/relationships/chart" Target="/ppt/slides/charts/chart3.xml" Id="R5e1833d6ebaf405f" /><Relationship Type="http://schemas.openxmlformats.org/officeDocument/2006/relationships/notesSlide" Target="/ppt/notesSlides/notesSlide11.xml" Id="Rd85e0ea094384a0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6548e249fd4068" /><Relationship Type="http://schemas.openxmlformats.org/officeDocument/2006/relationships/image" Target="/ppt/media/image.jpeg" Id="R596c2b27dc304ef0" /><Relationship Type="http://schemas.openxmlformats.org/officeDocument/2006/relationships/image" Target="/ppt/media/image4.png" Id="Rd83dfc26769046e8" /><Relationship Type="http://schemas.openxmlformats.org/officeDocument/2006/relationships/notesSlide" Target="/ppt/notesSlides/notesSlide12.xml" Id="R84c4e47bfb9e42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4563dbf3bb44c6f" /><Relationship Type="http://schemas.openxmlformats.org/officeDocument/2006/relationships/image" Target="/ppt/media/image.jpeg" Id="R91ff395e48d148bb" /><Relationship Type="http://schemas.openxmlformats.org/officeDocument/2006/relationships/image" Target="/ppt/media/image4.png" Id="R374163514b3244fb" /><Relationship Type="http://schemas.openxmlformats.org/officeDocument/2006/relationships/notesSlide" Target="/ppt/notesSlides/notesSlide13.xml" Id="R84a16fc94f78422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944737af9848b8" /><Relationship Type="http://schemas.openxmlformats.org/officeDocument/2006/relationships/image" Target="/ppt/media/image.jpeg" Id="R184db7cb9690440f" /><Relationship Type="http://schemas.openxmlformats.org/officeDocument/2006/relationships/image" Target="/ppt/media/image4.png" Id="R8349cc93021648d4" /><Relationship Type="http://schemas.openxmlformats.org/officeDocument/2006/relationships/image" Target="/ppt/media/image7.png" Id="R7a6d87b3ac9b414d" /><Relationship Type="http://schemas.openxmlformats.org/officeDocument/2006/relationships/notesSlide" Target="/ppt/notesSlides/notesSlide14.xml" Id="Rc4faa3c0ed014a0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351066b13e4cf8" /><Relationship Type="http://schemas.openxmlformats.org/officeDocument/2006/relationships/image" Target="/ppt/media/image.jpeg" Id="Rc72495e3b99b4fb2" /><Relationship Type="http://schemas.openxmlformats.org/officeDocument/2006/relationships/image" Target="/ppt/media/image4.png" Id="R407d394364414af7" /><Relationship Type="http://schemas.openxmlformats.org/officeDocument/2006/relationships/image" Target="/ppt/media/image8.png" Id="Rc98cad8c30f94f68" /><Relationship Type="http://schemas.openxmlformats.org/officeDocument/2006/relationships/notesSlide" Target="/ppt/notesSlides/notesSlide15.xml" Id="R96f8c5c9189048d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阻塞占比（%）</c:v>
          </c:tx>
          <c:spPr>
            <a:solidFill xmlns:a="http://schemas.openxmlformats.org/drawingml/2006/main">
              <a:srgbClr val="A280EC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現況</c:v>
                </c:pt>
                <c:pt idx="1">
                  <c:v>緩衝8公尺</c:v>
                </c:pt>
                <c:pt idx="2">
                  <c:v>聯合8公尺</c:v>
                </c:pt>
                <c:pt idx="3">
                  <c:v>聯合12公尺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12.220632</c:v>
                </c:pt>
                <c:pt idx="1">
                  <c:v>7.60904</c:v>
                </c:pt>
                <c:pt idx="2">
                  <c:v>0.950505</c:v>
                </c:pt>
                <c:pt idx="3">
                  <c:v>0.710506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280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4F3B5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75">
                    <a:solidFill>
                      <a:srgbClr val="F6E0F5"/>
                    </a:solidFill>
                    <a:latin typeface="Microsoft JhengHei"/>
                    <a:ea typeface="Microsoft JhengHei"/>
                    <a:cs typeface="Microsoft JhengHei"/>
                  </a:rPr>
                  <a:t>阻塞占比（%）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檢查前等待（分鐘）</c:v>
          </c:tx>
          <c:spPr>
            <a:solidFill xmlns:a="http://schemas.openxmlformats.org/drawingml/2006/main">
              <a:srgbClr val="DF96DA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現況</c:v>
                </c:pt>
                <c:pt idx="1">
                  <c:v>緩衝8公尺</c:v>
                </c:pt>
                <c:pt idx="2">
                  <c:v>聯合8公尺</c:v>
                </c:pt>
                <c:pt idx="3">
                  <c:v>聯合12公尺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19.71403</c:v>
                </c:pt>
                <c:pt idx="1">
                  <c:v>18.184648</c:v>
                </c:pt>
                <c:pt idx="2">
                  <c:v>5.515898</c:v>
                </c:pt>
                <c:pt idx="3">
                  <c:v>5.013653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280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4F3B5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75">
                    <a:solidFill>
                      <a:srgbClr val="F6E0F5"/>
                    </a:solidFill>
                    <a:latin typeface="Microsoft JhengHei"/>
                    <a:ea typeface="Microsoft JhengHei"/>
                    <a:cs typeface="Microsoft JhengHei"/>
                  </a:rPr>
                  <a:t>檢查前等待（分鐘）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僅加緩衝（方案P2）</c:v>
          </c:tx>
          <c:spPr>
            <a:ln xmlns:a="http://schemas.openxmlformats.org/drawingml/2006/main" w="38100">
              <a:solidFill>
                <a:srgbClr val="A280EC"/>
              </a:solidFill>
            </a:ln>
          </c:spPr>
          <c:marker>
            <c:symbol val="circle"/>
            <c:size val="10"/>
          </c:marker>
          <c:cat>
            <c:strRef>
              <c:f>'Chart Data'!$A$2:$A$7</c:f>
              <c:strCache>
                <c:ptCount val="6"/>
                <c:pt idx="0">
                  <c:v>0公尺</c:v>
                </c:pt>
                <c:pt idx="1">
                  <c:v>4公尺</c:v>
                </c:pt>
                <c:pt idx="2">
                  <c:v>8公尺</c:v>
                </c:pt>
                <c:pt idx="3">
                  <c:v>12公尺</c:v>
                </c:pt>
                <c:pt idx="4">
                  <c:v>16公尺</c:v>
                </c:pt>
                <c:pt idx="5">
                  <c:v>24公尺</c:v>
                </c:pt>
              </c:strCache>
            </c:strRef>
          </c:cat>
          <c:val>
            <c:numRef>
              <c:f>'Chart Data'!$B$2:$B$7</c:f>
              <c:numCache>
                <c:formatCode>0.0</c:formatCode>
                <c:ptCount val="6"/>
                <c:pt idx="0">
                  <c:v>13.226748</c:v>
                </c:pt>
                <c:pt idx="1">
                  <c:v>10.262074</c:v>
                </c:pt>
                <c:pt idx="2">
                  <c:v>7.60904</c:v>
                </c:pt>
                <c:pt idx="3">
                  <c:v>5.3243</c:v>
                </c:pt>
                <c:pt idx="4">
                  <c:v>3.8886</c:v>
                </c:pt>
                <c:pt idx="5">
                  <c:v>1.968272</c:v>
                </c:pt>
              </c:numCache>
            </c:numRef>
          </c:val>
          <c:smooth val="0"/>
        </c:ser>
        <c:ser>
          <c:idx val="1"/>
          <c:order val="1"/>
          <c:tx>
            <c:v>聯合改善（方案P4）</c:v>
          </c:tx>
          <c:spPr>
            <a:ln xmlns:a="http://schemas.openxmlformats.org/drawingml/2006/main" w="38100">
              <a:solidFill>
                <a:srgbClr val="DF96DA"/>
              </a:solidFill>
            </a:ln>
          </c:spPr>
          <c:marker>
            <c:symbol val="circle"/>
            <c:size val="10"/>
          </c:marker>
          <c:cat>
            <c:strRef>
              <c:f>'Chart Data'!$C$2:$C$7</c:f>
              <c:strCache>
                <c:ptCount val="6"/>
                <c:pt idx="0">
                  <c:v>0公尺</c:v>
                </c:pt>
                <c:pt idx="1">
                  <c:v>4公尺</c:v>
                </c:pt>
                <c:pt idx="2">
                  <c:v>8公尺</c:v>
                </c:pt>
                <c:pt idx="3">
                  <c:v>12公尺</c:v>
                </c:pt>
                <c:pt idx="4">
                  <c:v>16公尺</c:v>
                </c:pt>
                <c:pt idx="5">
                  <c:v>24公尺</c:v>
                </c:pt>
              </c:strCache>
            </c:strRef>
          </c:cat>
          <c:val>
            <c:numRef>
              <c:f>'Chart Data'!$D$2:$D$7</c:f>
              <c:numCache>
                <c:formatCode>0.0</c:formatCode>
                <c:ptCount val="6"/>
                <c:pt idx="0">
                  <c:v>13.226748</c:v>
                </c:pt>
                <c:pt idx="1">
                  <c:v>1.228346</c:v>
                </c:pt>
                <c:pt idx="2">
                  <c:v>0.950505</c:v>
                </c:pt>
                <c:pt idx="3">
                  <c:v>0.710506</c:v>
                </c:pt>
                <c:pt idx="4">
                  <c:v>0.556819</c:v>
                </c:pt>
                <c:pt idx="5">
                  <c:v>0.312099</c:v>
                </c:pt>
              </c:numCache>
            </c:numRef>
          </c:val>
          <c:smooth val="0"/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280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4F3B5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75">
                    <a:solidFill>
                      <a:srgbClr val="F6E0F5"/>
                    </a:solidFill>
                    <a:latin typeface="Microsoft JhengHei"/>
                    <a:ea typeface="Microsoft JhengHei"/>
                    <a:cs typeface="Microsoft JhengHei"/>
                  </a:rPr>
                  <a:t>阻塞占比（%）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025">
              <a:solidFill>
                <a:srgbClr val="F6E0F5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04ECE57F-F9E8-4609-BF51-B64E9900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e27aea067ea4bb4"/>
            <a:stretch>
              <a:fillRect l="-4156" t="0" r="-2479" b="-18484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B39B4459-E7EA-4F33-A8F2-869E0443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404437" h="5655778">
                <a:moveTo>
                  <a:pt x="0" y="0"/>
                </a:moveTo>
                <a:lnTo>
                  <a:pt x="4404437" y="0"/>
                </a:lnTo>
                <a:lnTo>
                  <a:pt x="4404437" y="5655778"/>
                </a:lnTo>
                <a:lnTo>
                  <a:pt x="0" y="5655778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DA5EFA2C-08F3-4BBA-9FD3-8F005BAE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3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315A9547-CF70-48D6-8A7A-8096E5FB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3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E2A5536F-652A-4566-A8D5-B6C0467E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5998318" y="9036632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b83d089010a41fd">
              <a:extLst>
                <a:ext uri="{96DAC541-7B7A-43D3-8B79-37D633B846F1}">
                  <asvg:svgBlip xmlns:asvg="http://schemas.microsoft.com/office/drawing/2016/SVG/main" r:embed="Rb4a8cc89b8ee4c7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8C7665B2-0DAF-45F0-B19B-76F4CC18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1518" y="9036632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b83d089010a41fd">
              <a:extLst>
                <a:ext uri="{96DAC541-7B7A-43D3-8B79-37D633B846F1}">
                  <asvg:svgBlip xmlns:asvg="http://schemas.microsoft.com/office/drawing/2016/SVG/main" r:embed="Rb4a8cc89b8ee4c7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6B38FD18-B439-4399-9653-8F246FABC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2613" y="3188938"/>
            <a:ext cx="12002775" cy="252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9900"/>
              </a:lnSpc>
              <a:spcBef>
                <a:spcPct val="0"/>
              </a:spcBef>
              <a:buNone/>
            </a:pPr>
            <a:r>
              <a:rPr sz="14214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96E36E80-AFCF-4D09-9E99-10E0B073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3898" y="5373864"/>
            <a:ext cx="6648304" cy="4733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727"/>
              </a:lnSpc>
              <a:spcBef>
                <a:spcPct val="0"/>
              </a:spcBef>
              <a:buNone/>
            </a:pPr>
            <a:r>
              <a:rPr sz="2662" spc="2130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5957D054-BBBC-4459-B7DA-0F580BD8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5309C0A9-6EDC-48CD-B1CA-568C588F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6459" y="9210675"/>
            <a:ext cx="1131703" cy="4079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12"/>
              </a:lnSpc>
              <a:spcBef>
                <a:spcPct val="0"/>
              </a:spcBef>
              <a:buNone/>
            </a:pPr>
            <a:r>
              <a:rPr sz="2294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07390AD5-AEC2-4258-8680-573659FE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7384997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404437" h="5655778">
                <a:moveTo>
                  <a:pt x="0" y="0"/>
                </a:moveTo>
                <a:lnTo>
                  <a:pt x="4404437" y="0"/>
                </a:lnTo>
                <a:lnTo>
                  <a:pt x="4404437" y="5655777"/>
                </a:lnTo>
                <a:lnTo>
                  <a:pt x="0" y="5655777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245F346B-A86C-4BCC-9627-55F2FEE1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01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CFB383-7CFD-4BE8-8C0E-D7EE1AC0D1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7de2da3b44ad6"/>
          <a:srcRect xmlns:a="http://schemas.openxmlformats.org/drawingml/2006/main" l="0" t="15880" r="23187" b="0"/>
          <a:stretch xmlns:a="http://schemas.openxmlformats.org/drawingml/2006/main"/>
        </p:blipFill>
        <p:spPr>
          <a:xfrm xmlns:a="http://schemas.openxmlformats.org/drawingml/2006/main">
            <a:off x="14904815" y="0"/>
            <a:ext cx="3383185" cy="4757642"/>
          </a:xfrm>
          <a:prstGeom xmlns:a="http://schemas.openxmlformats.org/drawingml/2006/main" prst="rect">
            <a:avLst/>
          </a:prstGeom>
        </p:spPr>
      </p:pic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13251-659D-4AA5-ABE4-C7799EDA74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79b6a7549a4316"/>
          <a:srcRect xmlns:a="http://schemas.openxmlformats.org/drawingml/2006/main" l="13490" t="35208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3810286" cy="3664458"/>
          </a:xfrm>
          <a:prstGeom xmlns:a="http://schemas.openxmlformats.org/drawingml/2006/main" prst="rect">
            <a:avLst/>
          </a:prstGeom>
        </p:spPr>
      </p:pic>
      <p:sp>
        <p:nvSpPr>
          <p:cNvPr id="17" name="內容_1_循環箱逆向物流">
            <a:extLst xmlns:a="http://schemas.openxmlformats.org/drawingml/2006/main">
              <a:ext uri="{FF2B5EF4-FFF2-40B4-BE49-F238E27FC236}">
                <a16:creationId xmlns:a16="http://schemas.microsoft.com/office/drawing/2014/main" id="{950FA09E-01CB-4583-A363-16D9BEC4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95625"/>
            <a:ext cx="1314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循環箱逆向物流</a:t>
            </a:r>
          </a:p>
        </p:txBody>
      </p:sp>
      <p:sp>
        <p:nvSpPr>
          <p:cNvPr id="18" name="內容_1_倉庫模擬與改善方案實測">
            <a:extLst xmlns:a="http://schemas.openxmlformats.org/drawingml/2006/main">
              <a:ext uri="{FF2B5EF4-FFF2-40B4-BE49-F238E27FC236}">
                <a16:creationId xmlns:a16="http://schemas.microsoft.com/office/drawing/2014/main" id="{B41667CE-8B2B-418C-82E9-F68AE691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10125"/>
            <a:ext cx="1238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倉庫模擬與改善方案實測</a:t>
            </a:r>
          </a:p>
        </p:txBody>
      </p:sp>
      <p:sp>
        <p:nvSpPr>
          <p:cNvPr id="19" name="內容_1_雙層輸送網・五人作業・500">
            <a:extLst xmlns:a="http://schemas.openxmlformats.org/drawingml/2006/main">
              <a:ext uri="{FF2B5EF4-FFF2-40B4-BE49-F238E27FC236}">
                <a16:creationId xmlns:a16="http://schemas.microsoft.com/office/drawing/2014/main" id="{4555EA4B-BDFB-4D53-9635-361EAFE7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029325"/>
            <a:ext cx="1190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雙層輸送網・五人作業・500 箱資產池</a:t>
            </a:r>
          </a:p>
        </p:txBody>
      </p:sp>
      <p:sp>
        <p:nvSpPr>
          <p:cNvPr id="20" name="內容_1_2026.10.29　循環物">
            <a:extLst xmlns:a="http://schemas.openxmlformats.org/drawingml/2006/main">
              <a:ext uri="{FF2B5EF4-FFF2-40B4-BE49-F238E27FC236}">
                <a16:creationId xmlns:a16="http://schemas.microsoft.com/office/drawing/2014/main" id="{31E16F55-2E6A-45F0-B7D9-A37B4192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0"/>
            <a:ext cx="1238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2026.10.29　循環物流數位分身實測</a:t>
            </a:r>
          </a:p>
        </p:txBody>
      </p:sp>
    </p:spTree>
    <p:extLst>
      <p:ext uri="{BB962C8B-B14F-4D97-AF65-F5344CB8AC3E}">
        <p14:creationId xmlns:p14="http://schemas.microsoft.com/office/powerpoint/2010/main" val="16489931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C4333568-05C8-4E28-A7F5-95EDCEF9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8d5b0636136425a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A94D0ED5-FD39-43D0-9BBD-208F4073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39F9FFF6-590B-42AD-B871-782C5000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43124F56-1AEA-4339-BC72-A3AA20A9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0B6720F8-8344-4151-9A1F-93DD80AB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4c94726c68c48d4">
              <a:extLst>
                <a:ext uri="{96DAC541-7B7A-43D3-8B79-37D633B846F1}">
                  <asvg:svgBlip xmlns:asvg="http://schemas.microsoft.com/office/drawing/2016/SVG/main" r:embed="R45c99dde17f147d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A66291FE-8677-4009-8320-A8C7737E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4c94726c68c48d4">
              <a:extLst>
                <a:ext uri="{96DAC541-7B7A-43D3-8B79-37D633B846F1}">
                  <asvg:svgBlip xmlns:asvg="http://schemas.microsoft.com/office/drawing/2016/SVG/main" r:embed="R45c99dde17f147d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124A2024-4370-43B1-BBCC-68E2B1EC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81827" y="3081466"/>
            <a:ext cx="1193201" cy="945883"/>
          </a:xfrm>
          <a:custGeom xmlns:a="http://schemas.openxmlformats.org/drawingml/2006/main">
            <a:rect l="l" t="t" r="r" b="b"/>
            <a:pathLst>
              <a:path w="1193201" h="945883">
                <a:moveTo>
                  <a:pt x="0" y="0"/>
                </a:moveTo>
                <a:lnTo>
                  <a:pt x="1193202" y="0"/>
                </a:lnTo>
                <a:lnTo>
                  <a:pt x="1193202" y="945884"/>
                </a:lnTo>
                <a:lnTo>
                  <a:pt x="0" y="945884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0E3D5AE7-1C2E-4ED7-AFE7-C615DFB3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9385007c52042e0"/>
            <a:stretch>
              <a:fillRect l="0" t="0" r="0" b="0"/>
            </a:stretch>
          </a:blipFill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EDEC774A-5262-4808-8374-C8FB15F4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2808648A-7CAC-440C-91EC-23122EEA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6147" y="2929066"/>
            <a:ext cx="62957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9EF05600-469B-424C-84E5-B66FED65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6147" y="4411178"/>
            <a:ext cx="9037377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725E81B4-BE29-4B55-A86F-56EAA733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406612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02</a:t>
            </a:r>
          </a:p>
        </p:txBody>
      </p:sp>
      <p:sp>
        <p:nvSpPr>
          <p:cNvPr id="15" name="內容_2_先讀代號">
            <a:extLst xmlns:a="http://schemas.openxmlformats.org/drawingml/2006/main">
              <a:ext uri="{FF2B5EF4-FFF2-40B4-BE49-F238E27FC236}">
                <a16:creationId xmlns:a16="http://schemas.microsoft.com/office/drawing/2014/main" id="{B8F32FEA-7208-4CCB-B6B3-8E06669B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先讀代號</a:t>
            </a:r>
          </a:p>
        </p:txBody>
      </p:sp>
      <p:sp>
        <p:nvSpPr>
          <p:cNvPr id="16" name="內容_2_需求情境與改善方案是兩件事">
            <a:extLst xmlns:a="http://schemas.openxmlformats.org/drawingml/2006/main">
              <a:ext uri="{FF2B5EF4-FFF2-40B4-BE49-F238E27FC236}">
                <a16:creationId xmlns:a16="http://schemas.microsoft.com/office/drawing/2014/main" id="{8445254C-67C1-4368-840C-7F453BCE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需求情境與改善方案是兩件事</a:t>
            </a:r>
          </a:p>
        </p:txBody>
      </p:sp>
      <p:graphicFrame>
        <p:nvGraphicFrame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34FB80-4BA8-459A-99F2-904004098B17}"/>
              </a:ext>
            </a:extLst>
          </p:cNvPr>
          <p:cNvGraphicFramePr/>
          <p:nvPr/>
        </p:nvGraphicFramePr>
        <p:xfrm>
          <a:off xmlns:a="http://schemas.openxmlformats.org/drawingml/2006/main" x="1581150" y="4143375"/>
          <a:ext xmlns:a="http://schemas.openxmlformats.org/drawingml/2006/main" cx="142875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代碼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中文名稱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本案設定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S0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平日基準情境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平均每小時60件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S1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短波尖峰情境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波外80件／小時；三波各20分鐘、210件／小時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S1_4.5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較高短波尖峰情境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尖峰270件／小時，是基準的4.5倍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P0（現況）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維持現況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改善前的比較基準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P1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增加第二台清洗機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擴充設備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P2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僅增加緩衝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改緩衝長度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P3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外包清洗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送出後等待4小時回流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4286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P4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聯合改善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6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緩衝＋人員支援＋觸發式外包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18" name="內容_2_S＝需求情境，P＝改善方案；">
            <a:extLst xmlns:a="http://schemas.openxmlformats.org/drawingml/2006/main">
              <a:ext uri="{FF2B5EF4-FFF2-40B4-BE49-F238E27FC236}">
                <a16:creationId xmlns:a16="http://schemas.microsoft.com/office/drawing/2014/main" id="{1560078A-CD04-4B9E-AFF0-F11D3947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S＝需求情境，P＝改善方案；m代表公尺，8公尺是緩衝長度；min代表分鐘，h代表小時。</a:t>
            </a:r>
          </a:p>
        </p:txBody>
      </p:sp>
    </p:spTree>
    <p:extLst>
      <p:ext uri="{BB962C8B-B14F-4D97-AF65-F5344CB8AC3E}">
        <p14:creationId xmlns:p14="http://schemas.microsoft.com/office/powerpoint/2010/main" val="194852663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64830B72-C18E-43E6-BDCE-6164C118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5322418d767471d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317A2325-BFC3-4327-B78A-A57C8EDF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EB82EAF7-A3E2-49B2-A229-8C5C6225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C50331AF-E410-4393-90BD-65EB696E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8229600" h="8229600">
                <a:moveTo>
                  <a:pt x="8229600" y="0"/>
                </a:moveTo>
                <a:lnTo>
                  <a:pt x="0" y="0"/>
                </a:lnTo>
                <a:lnTo>
                  <a:pt x="0" y="8229600"/>
                </a:lnTo>
                <a:lnTo>
                  <a:pt x="8229600" y="8229600"/>
                </a:lnTo>
                <a:lnTo>
                  <a:pt x="822960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A0970212-9BDF-4F0B-AD97-38F4C990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00df977399b4d86">
              <a:extLst>
                <a:ext uri="{96DAC541-7B7A-43D3-8B79-37D633B846F1}">
                  <asvg:svgBlip xmlns:asvg="http://schemas.microsoft.com/office/drawing/2016/SVG/main" r:embed="Raf5d50fd734e4e0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55714828-BFE9-4872-95E6-4D3811E3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00df977399b4d86">
              <a:extLst>
                <a:ext uri="{96DAC541-7B7A-43D3-8B79-37D633B846F1}">
                  <asvg:svgBlip xmlns:asvg="http://schemas.microsoft.com/office/drawing/2016/SVG/main" r:embed="Raf5d50fd734e4e0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485A7F35-5A4C-4603-AC79-34B03970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48521113-1CB7-491D-A151-0EBBC4F3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96116" y="3171098"/>
            <a:ext cx="62957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26C0E5D5-F056-4E31-AD40-41F10450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65322" y="4730410"/>
            <a:ext cx="10408977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166349A9-2574-41E8-ABE9-E09D4C81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1926" y="2209914"/>
            <a:ext cx="62957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5AE00000-B7FF-4033-934E-C0ADD82A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f7da8c8f7de45c2"/>
            <a:stretch>
              <a:fillRect l="0" t="0" r="0" b="0"/>
            </a:stretch>
          </a:blip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BA0B8662-16F0-429B-8344-FFC4BF1F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03</a:t>
            </a:r>
          </a:p>
        </p:txBody>
      </p:sp>
      <p:sp>
        <p:nvSpPr>
          <p:cNvPr id="15" name="內容_3_先讀指標與數字">
            <a:extLst xmlns:a="http://schemas.openxmlformats.org/drawingml/2006/main">
              <a:ext uri="{FF2B5EF4-FFF2-40B4-BE49-F238E27FC236}">
                <a16:creationId xmlns:a16="http://schemas.microsoft.com/office/drawing/2014/main" id="{9D7817FC-53D4-4FAD-9105-796B5853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先讀指標與數字</a:t>
            </a:r>
          </a:p>
        </p:txBody>
      </p:sp>
      <p:sp>
        <p:nvSpPr>
          <p:cNvPr id="16" name="內容_3_表中的方括號是平均估計的範圍">
            <a:extLst xmlns:a="http://schemas.openxmlformats.org/drawingml/2006/main">
              <a:ext uri="{FF2B5EF4-FFF2-40B4-BE49-F238E27FC236}">
                <a16:creationId xmlns:a16="http://schemas.microsoft.com/office/drawing/2014/main" id="{4EF7125F-294D-40E2-8A38-04BEBA08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表中的方括號是平均估計的範圍</a:t>
            </a:r>
          </a:p>
        </p:txBody>
      </p:sp>
      <p:sp>
        <p:nvSpPr>
          <p:cNvPr id="17" name="內容_3_數字格式：平均值 [95%信">
            <a:extLst xmlns:a="http://schemas.openxmlformats.org/drawingml/2006/main">
              <a:ext uri="{FF2B5EF4-FFF2-40B4-BE49-F238E27FC236}">
                <a16:creationId xmlns:a16="http://schemas.microsoft.com/office/drawing/2014/main" id="{CEFB6093-842F-4471-8E96-19427D70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00500"/>
            <a:ext cx="1428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數字格式：平均值 [95%信賴下界, 上界]；不是95%的單次運行結果所在範圍。</a:t>
            </a:r>
          </a:p>
        </p:txBody>
      </p:sp>
      <p:graphicFrame>
        <p:nvGraphicFrame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58F9DE-8F04-4A5C-87F5-984AF22E3293}"/>
              </a:ext>
            </a:extLst>
          </p:cNvPr>
          <p:cNvGraphicFramePr/>
          <p:nvPr/>
        </p:nvGraphicFramePr>
        <p:xfrm>
          <a:off xmlns:a="http://schemas.openxmlformats.org/drawingml/2006/main" x="1581150" y="4524375"/>
          <a:ext xmlns:a="http://schemas.openxmlformats.org/drawingml/2006/main" cx="1428750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6572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績效指標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判定門檻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本案的計算界線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572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退貨結案率保守下界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至少99.5%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1－期末未完成退貨商品／觀察期退貨量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572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拆包設備阻塞占比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低於1%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被下游擋住的時間占比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572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檢查前等待超過24小時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0件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外部到達至開始品質檢查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572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淨減碳／包材節約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42%達標／65%未達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9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12公尺聯合方案：73.995%／39.173%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19" name="內容_3_每方案重複30次，報平均與9">
            <a:extLst xmlns:a="http://schemas.openxmlformats.org/drawingml/2006/main">
              <a:ext uri="{FF2B5EF4-FFF2-40B4-BE49-F238E27FC236}">
                <a16:creationId xmlns:a16="http://schemas.microsoft.com/office/drawing/2014/main" id="{E0758B0A-7413-4573-B5D4-0B37407A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每方案重複30次，報平均與95%信賴區間。百分點是兩個百分比相減；金額單位為新臺幣元。</a:t>
            </a:r>
          </a:p>
        </p:txBody>
      </p:sp>
    </p:spTree>
    <p:extLst>
      <p:ext uri="{BB962C8B-B14F-4D97-AF65-F5344CB8AC3E}">
        <p14:creationId xmlns:p14="http://schemas.microsoft.com/office/powerpoint/2010/main" val="31405952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84316A11-6113-41BD-A4EA-2CAC175E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c1dbbdeedbf427e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457D2A52-F95E-45D7-882C-D0B6BD65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7D0A9266-9E5E-4F04-866D-183829C1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48D35765-942A-40E7-8644-E26CF37A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103b94aad3e4714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18A0130D-C320-4BF4-853D-E9AC8C36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8f2abfc398e4ab4">
              <a:extLst>
                <a:ext uri="{96DAC541-7B7A-43D3-8B79-37D633B846F1}">
                  <asvg:svgBlip xmlns:asvg="http://schemas.microsoft.com/office/drawing/2016/SVG/main" r:embed="Re0e342745b224f0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5933915F-352C-49FA-A347-6B43943D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8f2abfc398e4ab4">
              <a:extLst>
                <a:ext uri="{96DAC541-7B7A-43D3-8B79-37D633B846F1}">
                  <asvg:svgBlip xmlns:asvg="http://schemas.microsoft.com/office/drawing/2016/SVG/main" r:embed="Re0e342745b224f0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D2899B2B-1CF2-440F-9546-628358CC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3291840" h="4114800">
                <a:moveTo>
                  <a:pt x="0" y="0"/>
                </a:moveTo>
                <a:lnTo>
                  <a:pt x="3291840" y="0"/>
                </a:lnTo>
                <a:lnTo>
                  <a:pt x="32918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5C303221-18C6-47E1-B521-875D41DE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3106500"/>
            <a:ext cx="1152525" cy="1152525"/>
          </a:xfrm>
          <a:custGeom xmlns:a="http://schemas.openxmlformats.org/drawingml/2006/main">
            <a:rect l="l" t="t" r="r" b="b"/>
            <a:pathLst>
              <a:path w="1152525" h="1152525">
                <a:moveTo>
                  <a:pt x="0" y="0"/>
                </a:moveTo>
                <a:lnTo>
                  <a:pt x="1152525" y="0"/>
                </a:lnTo>
                <a:lnTo>
                  <a:pt x="1152525" y="1152525"/>
                </a:lnTo>
                <a:lnTo>
                  <a:pt x="0" y="1152525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4FA4B58A-09B9-49E3-9BF6-C2C27EE3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9C5A2443-7873-4F62-82F0-28C68F94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04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4B00BFB9-8D5D-4BAC-88E8-286F7160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0577" y="3323498"/>
            <a:ext cx="703871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4F65D5D6-8147-4CFD-BBB2-59124187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0577" y="2438514"/>
            <a:ext cx="62957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52E1C491-A989-446F-9018-EF0BA129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10577" y="5143500"/>
            <a:ext cx="3415031" cy="766076"/>
          </a:xfrm>
          <a:custGeom xmlns:a="http://schemas.openxmlformats.org/drawingml/2006/main">
            <a:rect l="l" t="t" r="r" b="b"/>
            <a:pathLst>
              <a:path w="1811659" h="406400">
                <a:moveTo>
                  <a:pt x="1608459" y="0"/>
                </a:moveTo>
                <a:cubicBezTo>
                  <a:pt x="1720683" y="0"/>
                  <a:pt x="1811659" y="90976"/>
                  <a:pt x="1811659" y="203200"/>
                </a:cubicBezTo>
                <a:cubicBezTo>
                  <a:pt x="1811659" y="315424"/>
                  <a:pt x="1720683" y="406400"/>
                  <a:pt x="16084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08B9E9-27E8-446A-8FE6-49C8DC0A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10577" y="5233274"/>
            <a:ext cx="3415031" cy="676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FF53A6F3-B1C0-4F7F-A9D4-40339459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01758" y="5347142"/>
            <a:ext cx="3123850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97424E86-E210-4B25-B9FA-1269BFBD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0438" y="5086350"/>
            <a:ext cx="7800718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8F7EE56B-75CB-44BB-BEBB-5AA20B3C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10577" y="6951600"/>
            <a:ext cx="4148386" cy="766076"/>
          </a:xfrm>
          <a:custGeom xmlns:a="http://schemas.openxmlformats.org/drawingml/2006/main">
            <a:rect l="l" t="t" r="r" b="b"/>
            <a:pathLst>
              <a:path w="2200700" h="406400">
                <a:moveTo>
                  <a:pt x="1997500" y="0"/>
                </a:moveTo>
                <a:cubicBezTo>
                  <a:pt x="2109724" y="0"/>
                  <a:pt x="2200700" y="90976"/>
                  <a:pt x="2200700" y="203200"/>
                </a:cubicBezTo>
                <a:cubicBezTo>
                  <a:pt x="2200700" y="315424"/>
                  <a:pt x="2109724" y="406400"/>
                  <a:pt x="1997500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C0E18678-0677-4880-8EA1-3AB5C479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10577" y="7041374"/>
            <a:ext cx="4148385" cy="676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6E5E2061-8449-45E8-A925-0871CE01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01758" y="7155242"/>
            <a:ext cx="3714400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68F7F21E-5686-4D95-94B3-1182E8B7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0438" y="6894450"/>
            <a:ext cx="7800718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BC2096-5958-476F-9E40-B82F450EA3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618ce79824412f"/>
          <a:srcRect xmlns:a="http://schemas.openxmlformats.org/drawingml/2006/main" l="45370" t="1050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798320" cy="3682746"/>
          </a:xfrm>
          <a:prstGeom xmlns:a="http://schemas.openxmlformats.org/drawingml/2006/main" prst="rect">
            <a:avLst/>
          </a:prstGeom>
        </p:spPr>
      </p:pic>
      <p:sp>
        <p:nvSpPr>
          <p:cNvPr id="26" name="內容_4_雙閉環架構">
            <a:extLst xmlns:a="http://schemas.openxmlformats.org/drawingml/2006/main">
              <a:ext uri="{FF2B5EF4-FFF2-40B4-BE49-F238E27FC236}">
                <a16:creationId xmlns:a16="http://schemas.microsoft.com/office/drawing/2014/main" id="{F07BA686-2754-45BE-AD5F-BAB7E52E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雙閉環架構</a:t>
            </a:r>
          </a:p>
        </p:txBody>
      </p:sp>
      <p:sp>
        <p:nvSpPr>
          <p:cNvPr id="27" name="內容_4_商品與循環箱分離後再配對">
            <a:extLst xmlns:a="http://schemas.openxmlformats.org/drawingml/2006/main">
              <a:ext uri="{FF2B5EF4-FFF2-40B4-BE49-F238E27FC236}">
                <a16:creationId xmlns:a16="http://schemas.microsoft.com/office/drawing/2014/main" id="{436A6468-10E9-4AE3-AFBD-BAD5B92F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商品與循環箱分離後再配對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860211-6CAC-46CE-81DC-4B556509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3400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退貨入庫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拆包分離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48385C-D43D-410D-B33A-DFFF38B6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33875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商品：品質檢查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40秒／支援20秒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7ABDD4-95FE-4BA8-8A7D-B7CBBD38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33875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A級15秒／B級120秒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C級60秒報廢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3F3F86-BEC5-40A4-980D-644BE335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57225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空箱：升至4公尺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清洗30秒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4B245C-6DAE-4ED7-9A61-0DE78FA5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57225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風乾段6公尺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檢驗5秒，2%報廢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D6CA7C-DC57-4158-AF48-73E6A60C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33400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商品與箱配對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一箱一件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55D70A-4188-4DD8-B3BB-B1F543D0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8375" y="5334000"/>
            <a:ext cx="2143125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出庫</a:t>
            </a:r>
          </a:p>
          <a:p xmlns:a="http://schemas.openxmlformats.org/drawingml/2006/main">
            <a:pPr algn="ctr"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釋回箱資產</a:t>
            </a:r>
          </a:p>
        </p:txBody>
      </p:sp>
      <p:sp>
        <p:nvSpPr>
          <p:cNvPr id="35" name="內容_4_↗">
            <a:extLst xmlns:a="http://schemas.openxmlformats.org/drawingml/2006/main">
              <a:ext uri="{FF2B5EF4-FFF2-40B4-BE49-F238E27FC236}">
                <a16:creationId xmlns:a16="http://schemas.microsoft.com/office/drawing/2014/main" id="{902B4C31-6504-4301-99B6-A57166A2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62500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↗</a:t>
            </a:r>
          </a:p>
        </p:txBody>
      </p:sp>
      <p:sp>
        <p:nvSpPr>
          <p:cNvPr id="36" name="內容_4_→">
            <a:extLst xmlns:a="http://schemas.openxmlformats.org/drawingml/2006/main">
              <a:ext uri="{FF2B5EF4-FFF2-40B4-BE49-F238E27FC236}">
                <a16:creationId xmlns:a16="http://schemas.microsoft.com/office/drawing/2014/main" id="{0288791D-D715-4099-B1A1-A73EBADA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52437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37" name="內容_4_↘">
            <a:extLst xmlns:a="http://schemas.openxmlformats.org/drawingml/2006/main">
              <a:ext uri="{FF2B5EF4-FFF2-40B4-BE49-F238E27FC236}">
                <a16:creationId xmlns:a16="http://schemas.microsoft.com/office/drawing/2014/main" id="{C5E51052-80A8-4F7A-AB44-223D86F6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762500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↘</a:t>
            </a:r>
          </a:p>
        </p:txBody>
      </p:sp>
      <p:sp>
        <p:nvSpPr>
          <p:cNvPr id="38" name="內容_4_↘">
            <a:extLst xmlns:a="http://schemas.openxmlformats.org/drawingml/2006/main">
              <a:ext uri="{FF2B5EF4-FFF2-40B4-BE49-F238E27FC236}">
                <a16:creationId xmlns:a16="http://schemas.microsoft.com/office/drawing/2014/main" id="{EDD5AC4D-B283-43FE-AA07-AD773359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6191250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↘</a:t>
            </a:r>
          </a:p>
        </p:txBody>
      </p:sp>
      <p:sp>
        <p:nvSpPr>
          <p:cNvPr id="39" name="內容_4_→">
            <a:extLst xmlns:a="http://schemas.openxmlformats.org/drawingml/2006/main">
              <a:ext uri="{FF2B5EF4-FFF2-40B4-BE49-F238E27FC236}">
                <a16:creationId xmlns:a16="http://schemas.microsoft.com/office/drawing/2014/main" id="{EB9B485B-4315-4BE4-8A7D-FD1D8E1D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6762750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40" name="內容_4_↗">
            <a:extLst xmlns:a="http://schemas.openxmlformats.org/drawingml/2006/main">
              <a:ext uri="{FF2B5EF4-FFF2-40B4-BE49-F238E27FC236}">
                <a16:creationId xmlns:a16="http://schemas.microsoft.com/office/drawing/2014/main" id="{B4DA2387-2306-42AA-B18B-CBDB8944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633412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↗</a:t>
            </a:r>
          </a:p>
        </p:txBody>
      </p:sp>
      <p:sp>
        <p:nvSpPr>
          <p:cNvPr id="41" name="內容_4_→">
            <a:extLst xmlns:a="http://schemas.openxmlformats.org/drawingml/2006/main">
              <a:ext uri="{FF2B5EF4-FFF2-40B4-BE49-F238E27FC236}">
                <a16:creationId xmlns:a16="http://schemas.microsoft.com/office/drawing/2014/main" id="{6EA951FD-B63C-4B44-95F1-77EF6C8F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547687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42" name="內容_4_有限500箱資產池，每箱15">
            <a:extLst xmlns:a="http://schemas.openxmlformats.org/drawingml/2006/main">
              <a:ext uri="{FF2B5EF4-FFF2-40B4-BE49-F238E27FC236}">
                <a16:creationId xmlns:a16="http://schemas.microsoft.com/office/drawing/2014/main" id="{123D6470-C58A-41C6-B607-F37E5330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7715250"/>
            <a:ext cx="1428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有限500箱資產池，每箱150次；外包支線延遲4小時並保留系統在製量</a:t>
            </a:r>
          </a:p>
        </p:txBody>
      </p:sp>
      <p:sp>
        <p:nvSpPr>
          <p:cNvPr id="43" name="內容_4_A級做簡單整理，B級需整新，">
            <a:extLst xmlns:a="http://schemas.openxmlformats.org/drawingml/2006/main">
              <a:ext uri="{FF2B5EF4-FFF2-40B4-BE49-F238E27FC236}">
                <a16:creationId xmlns:a16="http://schemas.microsoft.com/office/drawing/2014/main" id="{4AE20F96-9FB2-40F8-B7E8-A73B2431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A級做簡單整理，B級需整新，C級報廢；合格商品與空箱配成一件一箱。0公尺是實際旁路。</a:t>
            </a:r>
          </a:p>
        </p:txBody>
      </p:sp>
    </p:spTree>
    <p:extLst>
      <p:ext uri="{BB962C8B-B14F-4D97-AF65-F5344CB8AC3E}">
        <p14:creationId xmlns:p14="http://schemas.microsoft.com/office/powerpoint/2010/main" val="76523893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3F70B8E4-080C-4FEE-BD09-130F09ED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f56e7321da24d7d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FD27ABE3-05A3-4A5C-BB3D-1F8EE84F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684B43DA-E321-4DEA-927B-49B735EB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311B51E4-9625-4011-A0F1-DA888BD6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86a694ff6ef4c59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A1020F76-AF9C-4880-8857-22BAB291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54f1d4f1a3746ba">
              <a:extLst>
                <a:ext uri="{96DAC541-7B7A-43D3-8B79-37D633B846F1}">
                  <asvg:svgBlip xmlns:asvg="http://schemas.microsoft.com/office/drawing/2016/SVG/main" r:embed="Ra215b423f1ff4f9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2EA81DCC-AF10-4424-9A45-9EDB99B2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54f1d4f1a3746ba">
              <a:extLst>
                <a:ext uri="{96DAC541-7B7A-43D3-8B79-37D633B846F1}">
                  <asvg:svgBlip xmlns:asvg="http://schemas.microsoft.com/office/drawing/2016/SVG/main" r:embed="Ra215b423f1ff4f9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576D18E-69AA-4E69-A70D-F80B00FC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82280" y="4093584"/>
            <a:ext cx="3771900" cy="3771900"/>
          </a:xfrm>
          <a:custGeom xmlns:a="http://schemas.openxmlformats.org/drawingml/2006/main">
            <a:rect l="l" t="t" r="r" b="b"/>
            <a:pathLst>
              <a:path w="3771900" h="3771900">
                <a:moveTo>
                  <a:pt x="0" y="0"/>
                </a:moveTo>
                <a:lnTo>
                  <a:pt x="3771900" y="0"/>
                </a:lnTo>
                <a:lnTo>
                  <a:pt x="3771900" y="3771900"/>
                </a:lnTo>
                <a:lnTo>
                  <a:pt x="0" y="37719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F7519A7D-25C9-409B-BC12-39752192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8564D9-E8E1-48F2-A927-A0EB9D3E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05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1ABEADA7-2635-4490-B6C2-0D879CBC7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25016" y="2209914"/>
            <a:ext cx="414311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243354D3-5DDA-45F9-A367-4A923DAA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17176" y="2209914"/>
            <a:ext cx="2307840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F372BD86-7588-438A-9DD6-D60604B9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58050" y="4093584"/>
            <a:ext cx="3771900" cy="3771900"/>
          </a:xfrm>
          <a:custGeom xmlns:a="http://schemas.openxmlformats.org/drawingml/2006/main">
            <a:rect l="l" t="t" r="r" b="b"/>
            <a:pathLst>
              <a:path w="3771900" h="3771900">
                <a:moveTo>
                  <a:pt x="0" y="0"/>
                </a:moveTo>
                <a:lnTo>
                  <a:pt x="3771900" y="0"/>
                </a:lnTo>
                <a:lnTo>
                  <a:pt x="3771900" y="3771900"/>
                </a:lnTo>
                <a:lnTo>
                  <a:pt x="0" y="37719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C24FC02E-F374-46D0-8B12-9BF645B5A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81875" y="4093584"/>
            <a:ext cx="3771900" cy="3771900"/>
          </a:xfrm>
          <a:custGeom xmlns:a="http://schemas.openxmlformats.org/drawingml/2006/main">
            <a:rect l="l" t="t" r="r" b="b"/>
            <a:pathLst>
              <a:path w="3771900" h="3771900">
                <a:moveTo>
                  <a:pt x="0" y="0"/>
                </a:moveTo>
                <a:lnTo>
                  <a:pt x="3771900" y="0"/>
                </a:lnTo>
                <a:lnTo>
                  <a:pt x="3771900" y="3771900"/>
                </a:lnTo>
                <a:lnTo>
                  <a:pt x="0" y="37719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B1CA8324-0D50-44FD-B000-C3D6D6AB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28856" y="4741578"/>
            <a:ext cx="23454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>
                <a:solidFill>
                  <a:srgbClr val="C9BBE8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BA00C6F7-ABC3-4121-BB5A-A534CD70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29506" y="4741578"/>
            <a:ext cx="23454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>
                <a:solidFill>
                  <a:srgbClr val="C9BBE8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FB684131-2548-4F1C-86B5-1730C00E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54398" y="4741578"/>
            <a:ext cx="23454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>
                <a:solidFill>
                  <a:srgbClr val="C9BBE8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2C3DEC86-1F95-4661-86C1-4D7092E0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62004" y="5941434"/>
            <a:ext cx="3079151" cy="37477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51"/>
              </a:lnSpc>
              <a:spcBef>
                <a:spcPct val="0"/>
              </a:spcBef>
              <a:buNone/>
            </a:pPr>
            <a:r>
              <a:rPr sz="210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47F41C8F-62F2-4918-82BB-B79ACB2E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62654" y="5941434"/>
            <a:ext cx="3079151" cy="37477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51"/>
              </a:lnSpc>
              <a:spcBef>
                <a:spcPct val="0"/>
              </a:spcBef>
              <a:buNone/>
            </a:pPr>
            <a:r>
              <a:rPr sz="210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4AC25130-67DC-48B4-AD86-E719BD0D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649200" y="5941434"/>
            <a:ext cx="3079151" cy="37477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51"/>
              </a:lnSpc>
              <a:spcBef>
                <a:spcPct val="0"/>
              </a:spcBef>
              <a:buNone/>
            </a:pPr>
            <a:r>
              <a:rPr sz="210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2" name="內容_5_三維倉庫佈局">
            <a:extLst xmlns:a="http://schemas.openxmlformats.org/drawingml/2006/main">
              <a:ext uri="{FF2B5EF4-FFF2-40B4-BE49-F238E27FC236}">
                <a16:creationId xmlns:a16="http://schemas.microsoft.com/office/drawing/2014/main" id="{6926D982-AC07-4798-90B3-EBD46D84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三維倉庫佈局</a:t>
            </a:r>
          </a:p>
        </p:txBody>
      </p:sp>
      <p:sp>
        <p:nvSpPr>
          <p:cNvPr id="23" name="內容_5_雙層輸送網的原生運行畫面">
            <a:extLst xmlns:a="http://schemas.openxmlformats.org/drawingml/2006/main">
              <a:ext uri="{FF2B5EF4-FFF2-40B4-BE49-F238E27FC236}">
                <a16:creationId xmlns:a16="http://schemas.microsoft.com/office/drawing/2014/main" id="{2EEBD832-39B3-4604-AC50-DCAAA304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雙層輸送網的原生運行畫面</a:t>
            </a:r>
          </a:p>
        </p:txBody>
      </p:sp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721BD8-DAE5-47F3-9E13-1A5F3D0045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8c41aa2f848d2"/>
          <a:srcRect xmlns:a="http://schemas.openxmlformats.org/drawingml/2006/main" l="0" t="20000" r="0" b="15000"/>
          <a:stretch xmlns:a="http://schemas.openxmlformats.org/drawingml/2006/main"/>
        </p:blipFill>
        <p:spPr>
          <a:xfrm xmlns:a="http://schemas.openxmlformats.org/drawingml/2006/main">
            <a:off x="1581150" y="4048125"/>
            <a:ext cx="14287500" cy="3810000"/>
          </a:xfrm>
          <a:prstGeom xmlns:a="http://schemas.openxmlformats.org/drawingml/2006/main" prst="rect">
            <a:avLst/>
          </a:prstGeom>
        </p:spPr>
      </p:pic>
      <p:sp>
        <p:nvSpPr>
          <p:cNvPr id="25" name="內容_5_短波尖峰、聯合改善、12公尺">
            <a:extLst xmlns:a="http://schemas.openxmlformats.org/drawingml/2006/main">
              <a:ext uri="{FF2B5EF4-FFF2-40B4-BE49-F238E27FC236}">
                <a16:creationId xmlns:a16="http://schemas.microsoft.com/office/drawing/2014/main" id="{331FC24A-BBA7-44F1-8649-7FE34260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短波尖峰、聯合改善、12公尺緩衝；隨機種子101。三維畫面另附，正式統計取自1350次批次實驗。</a:t>
            </a:r>
          </a:p>
        </p:txBody>
      </p:sp>
    </p:spTree>
    <p:extLst>
      <p:ext uri="{BB962C8B-B14F-4D97-AF65-F5344CB8AC3E}">
        <p14:creationId xmlns:p14="http://schemas.microsoft.com/office/powerpoint/2010/main" val="91452136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147E8E21-B0EB-4F83-BAD5-6DEBB682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7c5b041d70a4c3c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A6B6CB35-CF56-4A7E-A248-7AA8026D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85ABF7DB-CEEE-4460-B167-D748C439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7AF0E679-5A01-40B9-B698-9DB84F51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ddda592e5214dbc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368AE9C0-6023-48DA-8120-4FDCD960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b3212d8313f4f2d">
              <a:extLst>
                <a:ext uri="{96DAC541-7B7A-43D3-8B79-37D633B846F1}">
                  <asvg:svgBlip xmlns:asvg="http://schemas.microsoft.com/office/drawing/2016/SVG/main" r:embed="Rcc05ea273b8f456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8A0ED8EE-B9A4-48F6-8CD7-CA81E573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b3212d8313f4f2d">
              <a:extLst>
                <a:ext uri="{96DAC541-7B7A-43D3-8B79-37D633B846F1}">
                  <asvg:svgBlip xmlns:asvg="http://schemas.microsoft.com/office/drawing/2016/SVG/main" r:embed="Rcc05ea273b8f456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92D3CCFE-694F-4B37-96F0-B8FF21F8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2086" y="2590914"/>
            <a:ext cx="703871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048868FD-82B3-4136-B15A-588F053B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43774" y="2451591"/>
            <a:ext cx="5057775" cy="5057775"/>
          </a:xfrm>
          <a:custGeom xmlns:a="http://schemas.openxmlformats.org/drawingml/2006/main">
            <a:rect l="l" t="t" r="r" b="b"/>
            <a:pathLst>
              <a:path w="5057775" h="5057775">
                <a:moveTo>
                  <a:pt x="0" y="0"/>
                </a:moveTo>
                <a:lnTo>
                  <a:pt x="5057775" y="0"/>
                </a:lnTo>
                <a:lnTo>
                  <a:pt x="5057775" y="5057775"/>
                </a:lnTo>
                <a:lnTo>
                  <a:pt x="0" y="5057775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08B49B50-D071-4BAF-8BCD-1BB40D5D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23800" y="3181287"/>
            <a:ext cx="4012721" cy="3598382"/>
          </a:xfrm>
          <a:custGeom xmlns:a="http://schemas.openxmlformats.org/drawingml/2006/main">
            <a:rect l="l" t="t" r="r" b="b"/>
            <a:pathLst>
              <a:path w="812800" h="728874">
                <a:moveTo>
                  <a:pt x="0" y="0"/>
                </a:moveTo>
                <a:lnTo>
                  <a:pt x="812800" y="0"/>
                </a:lnTo>
                <a:lnTo>
                  <a:pt x="812800" y="728874"/>
                </a:lnTo>
                <a:lnTo>
                  <a:pt x="0" y="728874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9FEF6C44-D97B-4C33-9EEC-6F9B790A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B1298442-07EA-4DB7-9277-BD42799B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06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11153EFA-5038-482F-A75B-82B11DC2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2590914"/>
            <a:ext cx="3370259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04D384FE-3D38-4041-A296-E432181A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4081222"/>
            <a:ext cx="8494452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7" name="內容_6_多能工與防呆">
            <a:extLst xmlns:a="http://schemas.openxmlformats.org/drawingml/2006/main">
              <a:ext uri="{FF2B5EF4-FFF2-40B4-BE49-F238E27FC236}">
                <a16:creationId xmlns:a16="http://schemas.microsoft.com/office/drawing/2014/main" id="{ED2E9C38-9B0E-40FD-A48C-B2B11325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多能工與防呆</a:t>
            </a:r>
          </a:p>
        </p:txBody>
      </p:sp>
      <p:sp>
        <p:nvSpPr>
          <p:cNvPr id="18" name="內容_6_五位多能工與A星尋路法">
            <a:extLst xmlns:a="http://schemas.openxmlformats.org/drawingml/2006/main">
              <a:ext uri="{FF2B5EF4-FFF2-40B4-BE49-F238E27FC236}">
                <a16:creationId xmlns:a16="http://schemas.microsoft.com/office/drawing/2014/main" id="{237685AC-7749-4F76-8F39-5E1BB792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五位多能工與A星尋路法</a:t>
            </a:r>
          </a:p>
        </p:txBody>
      </p:sp>
      <p:sp>
        <p:nvSpPr>
          <p:cNvPr id="19" name="內容_6_品質檢查 隊列 &gt;15 件">
            <a:extLst xmlns:a="http://schemas.openxmlformats.org/drawingml/2006/main">
              <a:ext uri="{FF2B5EF4-FFF2-40B4-BE49-F238E27FC236}">
                <a16:creationId xmlns:a16="http://schemas.microsoft.com/office/drawing/2014/main" id="{6F2F3156-0212-4C58-84FF-A37EDB21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8150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品質檢查 隊列 &gt;15 件</a:t>
            </a:r>
          </a:p>
        </p:txBody>
      </p:sp>
      <p:sp>
        <p:nvSpPr>
          <p:cNvPr id="20" name="內容_6_鎖定支援員，等現有整新任務完">
            <a:extLst xmlns:a="http://schemas.openxmlformats.org/drawingml/2006/main">
              <a:ext uri="{FF2B5EF4-FFF2-40B4-BE49-F238E27FC236}">
                <a16:creationId xmlns:a16="http://schemas.microsoft.com/office/drawing/2014/main" id="{D198DB10-4244-42B7-A4BC-06E18669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81625"/>
            <a:ext cx="8191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鎖定支援員，等現有整新任務完成後再移動。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抵達 品質檢查 才將工時從40秒降為20秒。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品質檢查 隊列 ≤5 件，先完成當前任務再歸建。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支援旗標防止重複調派，整新二站暫停接新件。</a:t>
            </a:r>
          </a:p>
        </p:txBody>
      </p:sp>
      <p:sp>
        <p:nvSpPr>
          <p:cNvPr id="21" name="內容_6_5 人">
            <a:extLst xmlns:a="http://schemas.openxmlformats.org/drawingml/2006/main">
              <a:ext uri="{FF2B5EF4-FFF2-40B4-BE49-F238E27FC236}">
                <a16:creationId xmlns:a16="http://schemas.microsoft.com/office/drawing/2014/main" id="{3FC14C9C-388E-4B5E-B178-290AC6CA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4291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5 人</a:t>
            </a:r>
          </a:p>
        </p:txBody>
      </p:sp>
      <p:sp>
        <p:nvSpPr>
          <p:cNvPr id="22" name="內容_6_固定人數&#10;1.4公尺／秒 步">
            <a:extLst xmlns:a="http://schemas.openxmlformats.org/drawingml/2006/main">
              <a:ext uri="{FF2B5EF4-FFF2-40B4-BE49-F238E27FC236}">
                <a16:creationId xmlns:a16="http://schemas.microsoft.com/office/drawing/2014/main" id="{AEDD77DF-7481-4D31-B0C9-DF13FA83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905500"/>
            <a:ext cx="4857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固定人數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1.4公尺／秒 步速假設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A星尋路法規劃實際移動</a:t>
            </a:r>
          </a:p>
        </p:txBody>
      </p:sp>
      <p:sp>
        <p:nvSpPr>
          <p:cNvPr id="23" name="內容_6_A星（A*）是尋路方法；5人">
            <a:extLst xmlns:a="http://schemas.openxmlformats.org/drawingml/2006/main">
              <a:ext uri="{FF2B5EF4-FFF2-40B4-BE49-F238E27FC236}">
                <a16:creationId xmlns:a16="http://schemas.microsoft.com/office/drawing/2014/main" id="{1A811295-95CA-4125-B0E5-3251BC96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A星（A*）是尋路方法；5人各走40段。活動路格與單行檢查無違規，有限測試不等於普遍證明。</a:t>
            </a:r>
          </a:p>
        </p:txBody>
      </p:sp>
    </p:spTree>
    <p:extLst>
      <p:ext uri="{BB962C8B-B14F-4D97-AF65-F5344CB8AC3E}">
        <p14:creationId xmlns:p14="http://schemas.microsoft.com/office/powerpoint/2010/main" val="133735056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5E69468B-0E52-4996-B384-B7921F92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267652d75c44adb"/>
            <a:stretch>
              <a:fillRect l="-35258" t="-5555" r="-24931" b="-72434"/>
            </a:stretch>
          </a:blipFill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5B179D0F-2CBB-4775-8BF9-74333A98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128" y="2209914"/>
            <a:ext cx="5543293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BC6803EE-E9B2-4BEA-927B-4F102EB4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74064" y="2209914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69D02800-B778-40EF-AF90-98408AC2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6C3D12A9-4543-4872-A5D3-B8DD3B29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687318FF-DAF8-40DA-8CFC-44ECEBD2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2292E5E7-8B75-4BA1-9D65-63D60246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2ac1ba4dfc145ec"/>
            <a:stretch>
              <a:fillRect l="0" t="0" r="0" b="0"/>
            </a:stretch>
          </a:blipFill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4EABFB1D-4959-4CA0-A454-C2DEB007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69b15a1f3274d33">
              <a:extLst>
                <a:ext uri="{96DAC541-7B7A-43D3-8B79-37D633B846F1}">
                  <asvg:svgBlip xmlns:asvg="http://schemas.microsoft.com/office/drawing/2016/SVG/main" r:embed="R20cb77a1c27142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EF9A4F52-C17B-4722-B0AB-A9EBC60A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69b15a1f3274d33">
              <a:extLst>
                <a:ext uri="{96DAC541-7B7A-43D3-8B79-37D633B846F1}">
                  <asvg:svgBlip xmlns:asvg="http://schemas.microsoft.com/office/drawing/2016/SVG/main" r:embed="R20cb77a1c27142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E5E11FA6-6D93-489D-81F4-5204655B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07</a:t>
            </a: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6EDFEE28-6B09-495A-ACC1-D55B6E76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96352" y="4308053"/>
            <a:ext cx="3385513" cy="854973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D8E943DE-ABED-452F-BBBF-69774D00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96352" y="4408245"/>
            <a:ext cx="3385513" cy="754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606EA2B7-AE0C-4333-AA40-B3F6B40A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8230" y="4510124"/>
            <a:ext cx="2659773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 b="1">
                <a:solidFill>
                  <a:srgbClr val="C9BBE8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3CD9C22D-BCE0-4B45-8EDF-53B562E0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36225" y="5418881"/>
            <a:ext cx="6248666" cy="36398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just">
              <a:lnSpc>
                <a:spcPts val="2866"/>
              </a:lnSpc>
              <a:spcBef>
                <a:spcPct val="0"/>
              </a:spcBef>
              <a:buNone/>
            </a:pPr>
            <a:r>
              <a:rPr sz="20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9" name="Freeform 19">
            <a:extLst xmlns:a="http://schemas.openxmlformats.org/drawingml/2006/main">
              <a:ext uri="{FF2B5EF4-FFF2-40B4-BE49-F238E27FC236}">
                <a16:creationId xmlns:a16="http://schemas.microsoft.com/office/drawing/2014/main" id="{BA66176D-0EAA-4C01-9C9C-3E8F884D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24604" y="4308053"/>
            <a:ext cx="3599822" cy="854973"/>
          </a:xfrm>
          <a:custGeom xmlns:a="http://schemas.openxmlformats.org/drawingml/2006/main">
            <a:rect l="l" t="t" r="r" b="b"/>
            <a:pathLst>
              <a:path w="1711129" h="406400">
                <a:moveTo>
                  <a:pt x="1507930" y="0"/>
                </a:moveTo>
                <a:cubicBezTo>
                  <a:pt x="1620154" y="0"/>
                  <a:pt x="1711129" y="90976"/>
                  <a:pt x="1711129" y="203200"/>
                </a:cubicBezTo>
                <a:cubicBezTo>
                  <a:pt x="1711129" y="315424"/>
                  <a:pt x="1620154" y="406400"/>
                  <a:pt x="1507930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0D1C9278-980A-4D36-9D0C-EC122837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24604" y="4408245"/>
            <a:ext cx="3599825" cy="754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4783CA58-48FB-426B-97D5-C9ABFBBA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59840" y="4510124"/>
            <a:ext cx="3159836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 b="1">
                <a:solidFill>
                  <a:srgbClr val="C9BBE8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D1F4F77E-B108-46F6-B757-B8C6B430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86875" y="5418881"/>
            <a:ext cx="6248666" cy="36398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just">
              <a:lnSpc>
                <a:spcPts val="2866"/>
              </a:lnSpc>
              <a:spcBef>
                <a:spcPct val="0"/>
              </a:spcBef>
              <a:buNone/>
            </a:pPr>
            <a:r>
              <a:rPr sz="20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3" name="AutoShape 23">
            <a:extLst xmlns:a="http://schemas.openxmlformats.org/drawingml/2006/main">
              <a:ext uri="{FF2B5EF4-FFF2-40B4-BE49-F238E27FC236}">
                <a16:creationId xmlns:a16="http://schemas.microsoft.com/office/drawing/2014/main" id="{70B39103-5C30-4117-A197-1D3CA9B7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81865" y="4754590"/>
            <a:ext cx="354273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headEnd type="oval" w="lg" len="lg"/>
            <a:tailEnd type="oval" w="lg" len="lg"/>
          </a:ln>
        </p:spPr>
      </p:sp>
      <p:sp>
        <p:nvSpPr>
          <p:cNvPr id="24" name="內容_7_環境指標：門檻與增量">
            <a:extLst xmlns:a="http://schemas.openxmlformats.org/drawingml/2006/main">
              <a:ext uri="{FF2B5EF4-FFF2-40B4-BE49-F238E27FC236}">
                <a16:creationId xmlns:a16="http://schemas.microsoft.com/office/drawing/2014/main" id="{30FD7FC6-1185-4E89-9544-FA86C3EA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環境指標：門檻與增量</a:t>
            </a:r>
          </a:p>
        </p:txBody>
      </p:sp>
      <p:sp>
        <p:nvSpPr>
          <p:cNvPr id="25" name="內容_7_74%達標，不等於聯合方案再">
            <a:extLst xmlns:a="http://schemas.openxmlformats.org/drawingml/2006/main">
              <a:ext uri="{FF2B5EF4-FFF2-40B4-BE49-F238E27FC236}">
                <a16:creationId xmlns:a16="http://schemas.microsoft.com/office/drawing/2014/main" id="{E17F1848-7CB6-44C9-AF25-485A89D5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74%達標，不等於聯合方案再省74%</a:t>
            </a:r>
          </a:p>
        </p:txBody>
      </p:sp>
      <p:sp>
        <p:nvSpPr>
          <p:cNvPr id="26" name="內容_7_改善前 73.853%">
            <a:extLst xmlns:a="http://schemas.openxmlformats.org/drawingml/2006/main">
              <a:ext uri="{FF2B5EF4-FFF2-40B4-BE49-F238E27FC236}">
                <a16:creationId xmlns:a16="http://schemas.microsoft.com/office/drawing/2014/main" id="{BC4D5794-3492-48B9-AAA4-D32474B3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33875"/>
            <a:ext cx="742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改善前 73.853%</a:t>
            </a:r>
          </a:p>
        </p:txBody>
      </p:sp>
      <p:sp>
        <p:nvSpPr>
          <p:cNvPr id="27" name="內容_7_每件0.184875 度電&#10;">
            <a:extLst xmlns:a="http://schemas.openxmlformats.org/drawingml/2006/main">
              <a:ext uri="{FF2B5EF4-FFF2-40B4-BE49-F238E27FC236}">
                <a16:creationId xmlns:a16="http://schemas.microsoft.com/office/drawing/2014/main" id="{FE9F89D8-2D7F-4871-A95B-0945560D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476875"/>
            <a:ext cx="7715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每件0.184875 度電</a:t>
            </a:r>
          </a:p>
          <a:p xmlns:a="http://schemas.openxmlformats.org/drawingml/2006/main">
            <a: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1 − 0.184875 × 0.495 ÷ 0.35</a:t>
            </a:r>
          </a:p>
          <a:p xmlns:a="http://schemas.openxmlformats.org/drawingml/2006/main">
            <a: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＝ 73.853%：改善前已超過42%</a:t>
            </a:r>
          </a:p>
        </p:txBody>
      </p:sp>
      <p:sp>
        <p:nvSpPr>
          <p:cNvPr id="28" name="內容_7_12公尺聯合：73.995%">
            <a:extLst xmlns:a="http://schemas.openxmlformats.org/drawingml/2006/main">
              <a:ext uri="{FF2B5EF4-FFF2-40B4-BE49-F238E27FC236}">
                <a16:creationId xmlns:a16="http://schemas.microsoft.com/office/drawing/2014/main" id="{48F64F39-C418-48B8-8242-908EB30B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333875"/>
            <a:ext cx="695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12公尺聯合：73.995%</a:t>
            </a:r>
          </a:p>
        </p:txBody>
      </p:sp>
      <p:sp>
        <p:nvSpPr>
          <p:cNvPr id="29" name="內容_7_相較改善前僅 +0.141百">
            <a:extLst xmlns:a="http://schemas.openxmlformats.org/drawingml/2006/main">
              <a:ext uri="{FF2B5EF4-FFF2-40B4-BE49-F238E27FC236}">
                <a16:creationId xmlns:a16="http://schemas.microsoft.com/office/drawing/2014/main" id="{725FD368-D56A-462A-B293-6FCCDBA8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476875"/>
            <a:ext cx="7048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相較改善前僅 +0.141百分點</a:t>
            </a:r>
          </a:p>
          <a:p xmlns:a="http://schemas.openxmlformats.org/drawingml/2006/main">
            <a: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聯合方案還須扣外包排放</a:t>
            </a:r>
          </a:p>
          <a:p xmlns:a="http://schemas.openxmlformats.org/drawingml/2006/main">
            <a:pPr>
              <a:def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課程口徑；不是完整生命週期盤查</a:t>
            </a:r>
          </a:p>
        </p:txBody>
      </p:sp>
      <p:sp>
        <p:nvSpPr>
          <p:cNvPr id="30" name="內容_7_42%是目標門檻；原始來源未">
            <a:extLst xmlns:a="http://schemas.openxmlformats.org/drawingml/2006/main">
              <a:ext uri="{FF2B5EF4-FFF2-40B4-BE49-F238E27FC236}">
                <a16:creationId xmlns:a16="http://schemas.microsoft.com/office/drawing/2014/main" id="{5A167EEF-657B-4A89-964A-97953236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42%是目標門檻；原始來源未提供相同輸入下42%的推導條件。不能為貼近目標反調參數。</a:t>
            </a:r>
          </a:p>
        </p:txBody>
      </p:sp>
    </p:spTree>
    <p:extLst>
      <p:ext uri="{BB962C8B-B14F-4D97-AF65-F5344CB8AC3E}">
        <p14:creationId xmlns:p14="http://schemas.microsoft.com/office/powerpoint/2010/main" val="148437382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E48E83F6-28D3-49C8-A457-E49598C6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433bf421ed149cc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BFC28C33-AF89-4C55-B1B5-8BDC9AA8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8E82D7BA-238F-49F5-B284-3CEDD54B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A7F7DA1B-5A33-4EB0-B713-AC9340D7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8b8576c3748433d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F055E3B0-9BAD-4305-AB90-4FE82B06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853de9decc540e2">
              <a:extLst>
                <a:ext uri="{96DAC541-7B7A-43D3-8B79-37D633B846F1}">
                  <asvg:svgBlip xmlns:asvg="http://schemas.microsoft.com/office/drawing/2016/SVG/main" r:embed="R5b481e93b54e46b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7E6A03BF-9247-454F-AD6A-8AD4CDB7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853de9decc540e2">
              <a:extLst>
                <a:ext uri="{96DAC541-7B7A-43D3-8B79-37D633B846F1}">
                  <asvg:svgBlip xmlns:asvg="http://schemas.microsoft.com/office/drawing/2016/SVG/main" r:embed="R5b481e93b54e46b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612DD9BD-253C-453E-B3A4-859E5151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9831279" h="8229600">
                <a:moveTo>
                  <a:pt x="0" y="0"/>
                </a:moveTo>
                <a:lnTo>
                  <a:pt x="9831280" y="0"/>
                </a:lnTo>
                <a:lnTo>
                  <a:pt x="983128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DFD60F7A-6337-4B4D-B147-CE1A31E9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B0079C3B-546E-422E-B91C-1A239326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08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DC49AD96-567F-47AB-8815-B0A7B635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9622" y="3485662"/>
            <a:ext cx="5543293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1BC8F89E-17CD-4B16-842C-E03FF9D4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9622" y="2399812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DBA78A24-0C43-411A-8DB4-5465C1C4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9622" y="4998487"/>
            <a:ext cx="7580052" cy="3942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104"/>
              </a:lnSpc>
              <a:spcBef>
                <a:spcPct val="0"/>
              </a:spcBef>
              <a:buNone/>
            </a:pPr>
            <a:r>
              <a:rPr sz="22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08490333-4F31-476B-B4FC-94F7646F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4240473" y="0"/>
                </a:moveTo>
                <a:lnTo>
                  <a:pt x="0" y="0"/>
                </a:lnTo>
                <a:lnTo>
                  <a:pt x="0" y="4240472"/>
                </a:lnTo>
                <a:lnTo>
                  <a:pt x="4240473" y="4240472"/>
                </a:lnTo>
                <a:lnTo>
                  <a:pt x="424047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內容_8_檢查V1–V6：守恆與統計">
            <a:extLst xmlns:a="http://schemas.openxmlformats.org/drawingml/2006/main">
              <a:ext uri="{FF2B5EF4-FFF2-40B4-BE49-F238E27FC236}">
                <a16:creationId xmlns:a16="http://schemas.microsoft.com/office/drawing/2014/main" id="{2B845F95-1FAD-475A-8A12-EA7E850F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檢查V1–V6：守恆與統計</a:t>
            </a:r>
          </a:p>
        </p:txBody>
      </p:sp>
      <p:sp>
        <p:nvSpPr>
          <p:cNvPr id="17" name="內容_8_驗證必須能攔下錯誤">
            <a:extLst xmlns:a="http://schemas.openxmlformats.org/drawingml/2006/main">
              <a:ext uri="{FF2B5EF4-FFF2-40B4-BE49-F238E27FC236}">
                <a16:creationId xmlns:a16="http://schemas.microsoft.com/office/drawing/2014/main" id="{1D052379-B821-4860-9C86-45D66DB7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驗證必須能攔下錯誤</a:t>
            </a:r>
          </a:p>
        </p:txBody>
      </p:sp>
      <p:graphicFrame>
        <p:nvGraphicFrame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40BCE9-7CD0-4177-A8D3-11050AC8523E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實測證據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判讀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V1 守恆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1350次；每次17項殘差為0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商品、需求、箱資產分帳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V2／V3 穩定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平日：流量CV≤5%；在製漂移-0.21%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基準整體達標；尖峰現況不穩定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V4 同種子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3組×2次，原生完整讀值相等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視窗介面原始結果亦逐項一致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V5 估計精度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30次最差18.07%；600次3.47%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原始30次未達；追加樣本達標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V6 分級比例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平日分類檢定 p=0.1514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未拒絕60／30／10設定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19" name="內容_8_V是檢查編號，不是模型版本。">
            <a:extLst xmlns:a="http://schemas.openxmlformats.org/drawingml/2006/main">
              <a:ext uri="{FF2B5EF4-FFF2-40B4-BE49-F238E27FC236}">
                <a16:creationId xmlns:a16="http://schemas.microsoft.com/office/drawing/2014/main" id="{3AD8234C-15BA-465D-AD97-0CF264E1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71925"/>
            <a:ext cx="1428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V是檢查編號，不是模型版本。CV＝相對波動；p值用來檢查分級比例是否相容。</a:t>
            </a:r>
          </a:p>
        </p:txBody>
      </p:sp>
      <p:sp>
        <p:nvSpPr>
          <p:cNvPr id="20" name="內容_8_600個基準樣本＝主實驗30">
            <a:extLst xmlns:a="http://schemas.openxmlformats.org/drawingml/2006/main">
              <a:ext uri="{FF2B5EF4-FFF2-40B4-BE49-F238E27FC236}">
                <a16:creationId xmlns:a16="http://schemas.microsoft.com/office/drawing/2014/main" id="{893D8F59-9048-4B04-A1F6-AF0E53BA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600個基準樣本＝主實驗30次＋追加570次；沒有挑選種子，也未將30次的失敗改成通過。</a:t>
            </a:r>
          </a:p>
        </p:txBody>
      </p:sp>
    </p:spTree>
    <p:extLst>
      <p:ext uri="{BB962C8B-B14F-4D97-AF65-F5344CB8AC3E}">
        <p14:creationId xmlns:p14="http://schemas.microsoft.com/office/powerpoint/2010/main" val="116557738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F99FE5BC-BE58-4952-B28F-62CAF9B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334ff5f9aae4649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F3E65B8D-3A66-40F9-B06C-42C786A92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22FCC330-EC48-45DF-9A7A-4B7EEEB9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85D4C207-C3E2-4119-87FD-64B285E3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d864407df184c72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866AF0D6-E60E-4547-BF20-5E9538E8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a634155974c49ef">
              <a:extLst>
                <a:ext uri="{96DAC541-7B7A-43D3-8B79-37D633B846F1}">
                  <asvg:svgBlip xmlns:asvg="http://schemas.microsoft.com/office/drawing/2016/SVG/main" r:embed="R857cf036bf89484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3215C087-C1F2-44E8-A3A8-F6E8E715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a634155974c49ef">
              <a:extLst>
                <a:ext uri="{96DAC541-7B7A-43D3-8B79-37D633B846F1}">
                  <asvg:svgBlip xmlns:asvg="http://schemas.microsoft.com/office/drawing/2016/SVG/main" r:embed="R857cf036bf89484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47ADDFD4-798A-42D8-A4F9-24CB8A98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5314037"/>
            <a:ext cx="4796896" cy="608841"/>
          </a:xfrm>
          <a:custGeom xmlns:a="http://schemas.openxmlformats.org/drawingml/2006/main">
            <a:rect l="l" t="t" r="r" b="b"/>
            <a:pathLst>
              <a:path w="3201916" h="406400">
                <a:moveTo>
                  <a:pt x="2998716" y="0"/>
                </a:moveTo>
                <a:cubicBezTo>
                  <a:pt x="3110941" y="0"/>
                  <a:pt x="3201916" y="90976"/>
                  <a:pt x="3201916" y="203200"/>
                </a:cubicBezTo>
                <a:cubicBezTo>
                  <a:pt x="3201916" y="315424"/>
                  <a:pt x="3110941" y="406400"/>
                  <a:pt x="2998716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2BC03FF9-0027-4AA2-AF1F-F9E4E94E5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5385385"/>
            <a:ext cx="4796896" cy="53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C6801EF2-4827-4C51-BF07-780EEBC5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45901" y="5427472"/>
            <a:ext cx="320992" cy="320992"/>
          </a:xfrm>
          <a:custGeom xmlns:a="http://schemas.openxmlformats.org/drawingml/2006/main">
            <a:rect l="l" t="t" r="r" b="b"/>
            <a:pathLst>
              <a:path w="320992" h="320992">
                <a:moveTo>
                  <a:pt x="0" y="0"/>
                </a:moveTo>
                <a:lnTo>
                  <a:pt x="320992" y="0"/>
                </a:lnTo>
                <a:lnTo>
                  <a:pt x="320992" y="320992"/>
                </a:lnTo>
                <a:lnTo>
                  <a:pt x="0" y="32099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9E7C1D47-9D76-4713-8406-E310BECA5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3495789"/>
            <a:ext cx="8762872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F6916723-18DA-4188-88AD-0CC7ACBD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2467089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28577912-9902-462E-BC60-D4C1C409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D0114DFC-003F-48B8-8DF5-0FBA13A7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09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29084B8D-54DB-4DB4-92CF-87BA95DC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14534" y="5377181"/>
            <a:ext cx="2704114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C988A1CF-2910-4E79-8034-1F6B6715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14534" y="6208628"/>
            <a:ext cx="6294052" cy="37960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989"/>
              </a:lnSpc>
              <a:spcBef>
                <a:spcPct val="0"/>
              </a:spcBef>
              <a:buNone/>
            </a:pPr>
            <a:r>
              <a:rPr sz="21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0" name="Freeform 20">
            <a:extLst xmlns:a="http://schemas.openxmlformats.org/drawingml/2006/main">
              <a:ext uri="{FF2B5EF4-FFF2-40B4-BE49-F238E27FC236}">
                <a16:creationId xmlns:a16="http://schemas.microsoft.com/office/drawing/2014/main" id="{9E100D11-5138-4D4E-8481-D00CCD46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78579" y="5314037"/>
            <a:ext cx="4796896" cy="608841"/>
          </a:xfrm>
          <a:custGeom xmlns:a="http://schemas.openxmlformats.org/drawingml/2006/main">
            <a:rect l="l" t="t" r="r" b="b"/>
            <a:pathLst>
              <a:path w="3201916" h="406400">
                <a:moveTo>
                  <a:pt x="2998716" y="0"/>
                </a:moveTo>
                <a:cubicBezTo>
                  <a:pt x="3110941" y="0"/>
                  <a:pt x="3201916" y="90976"/>
                  <a:pt x="3201916" y="203200"/>
                </a:cubicBezTo>
                <a:cubicBezTo>
                  <a:pt x="3201916" y="315424"/>
                  <a:pt x="3110941" y="406400"/>
                  <a:pt x="2998716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F82C7D64-C48E-4BA9-82D0-A08E6E63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78579" y="5385385"/>
            <a:ext cx="4796896" cy="53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4D66FC4C-65E8-4048-A199-B690B187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691615" y="5460539"/>
            <a:ext cx="320993" cy="320992"/>
          </a:xfrm>
          <a:custGeom xmlns:a="http://schemas.openxmlformats.org/drawingml/2006/main">
            <a:rect l="l" t="t" r="r" b="b"/>
            <a:pathLst>
              <a:path w="320993" h="320992">
                <a:moveTo>
                  <a:pt x="0" y="0"/>
                </a:moveTo>
                <a:lnTo>
                  <a:pt x="320993" y="0"/>
                </a:lnTo>
                <a:lnTo>
                  <a:pt x="320993" y="320992"/>
                </a:lnTo>
                <a:lnTo>
                  <a:pt x="0" y="32099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723084BD-37B0-4755-AFC7-F1FC68C4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35767" y="5377181"/>
            <a:ext cx="2704114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7E34437A-3390-4FA4-97F1-26BEE2FC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07179" y="6208628"/>
            <a:ext cx="6479790" cy="37960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989"/>
              </a:lnSpc>
              <a:spcBef>
                <a:spcPct val="0"/>
              </a:spcBef>
              <a:buNone/>
            </a:pPr>
            <a:r>
              <a:rPr sz="21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5" name="Freeform 25">
            <a:extLst xmlns:a="http://schemas.openxmlformats.org/drawingml/2006/main">
              <a:ext uri="{FF2B5EF4-FFF2-40B4-BE49-F238E27FC236}">
                <a16:creationId xmlns:a16="http://schemas.microsoft.com/office/drawing/2014/main" id="{C8CCB0F5-D8EE-4B7E-A1E4-CF63CB24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4240473" y="0"/>
                </a:moveTo>
                <a:lnTo>
                  <a:pt x="0" y="0"/>
                </a:lnTo>
                <a:lnTo>
                  <a:pt x="0" y="4240473"/>
                </a:lnTo>
                <a:lnTo>
                  <a:pt x="4240473" y="4240473"/>
                </a:lnTo>
                <a:lnTo>
                  <a:pt x="424047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6C304718-B852-4FB8-B077-1DDD8156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4240473" y="0"/>
                </a:moveTo>
                <a:lnTo>
                  <a:pt x="0" y="0"/>
                </a:lnTo>
                <a:lnTo>
                  <a:pt x="0" y="4240473"/>
                </a:lnTo>
                <a:lnTo>
                  <a:pt x="4240473" y="4240473"/>
                </a:lnTo>
                <a:lnTo>
                  <a:pt x="424047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7" name="內容_9_檢查V7–V11：物理與排隊">
            <a:extLst xmlns:a="http://schemas.openxmlformats.org/drawingml/2006/main">
              <a:ext uri="{FF2B5EF4-FFF2-40B4-BE49-F238E27FC236}">
                <a16:creationId xmlns:a16="http://schemas.microsoft.com/office/drawing/2014/main" id="{DD4AFBEA-4F5E-4FDC-A78B-FC5507C2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檢查V7–V11：物理與排隊</a:t>
            </a:r>
          </a:p>
        </p:txBody>
      </p:sp>
      <p:sp>
        <p:nvSpPr>
          <p:cNvPr id="28" name="內容_9_將模型對回物理與排隊">
            <a:extLst xmlns:a="http://schemas.openxmlformats.org/drawingml/2006/main">
              <a:ext uri="{FF2B5EF4-FFF2-40B4-BE49-F238E27FC236}">
                <a16:creationId xmlns:a16="http://schemas.microsoft.com/office/drawing/2014/main" id="{22A2781B-4B68-42D8-9611-20F5865A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將模型對回物理與排隊</a:t>
            </a:r>
          </a:p>
        </p:txBody>
      </p:sp>
      <p:graphicFrame>
        <p:nvGraphicFrame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31A027-BB66-4FB3-8150-341D1474A357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標準／實測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判讀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V7 清洗產能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30秒／箱；未超過實現可用產能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加工占比與負載差≤1.37百分點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V8 停機占比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S0均值3.80%；理論4%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整體差0.20百分點，個別診斷另列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V9 利特爾定律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90組獨立時間戳；最大誤差2.32%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有限觀察窗修正亦一致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V10 五倍壓力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300件／小時 ×7日；保留外部積壓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品質檢查先超載，清洗近飽和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V11 無長時停滯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1350次最長零出庫1小時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72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未出現連續4小時零出庫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30" name="內容_9_負載比例＝到達率÷處理能力；">
            <a:extLst xmlns:a="http://schemas.openxmlformats.org/drawingml/2006/main">
              <a:ext uri="{FF2B5EF4-FFF2-40B4-BE49-F238E27FC236}">
                <a16:creationId xmlns:a16="http://schemas.microsoft.com/office/drawing/2014/main" id="{FC8C63BC-333A-4C50-9BE1-DA3201A6F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71925"/>
            <a:ext cx="1428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負載比例＝到達率÷處理能力；利特爾定律用流量與等待時間核對平均在製量。</a:t>
            </a:r>
          </a:p>
        </p:txBody>
      </p:sp>
      <p:sp>
        <p:nvSpPr>
          <p:cNvPr id="31" name="內容_9_1920次不重複原生運行；1">
            <a:extLst xmlns:a="http://schemas.openxmlformats.org/drawingml/2006/main">
              <a:ext uri="{FF2B5EF4-FFF2-40B4-BE49-F238E27FC236}">
                <a16:creationId xmlns:a16="http://schemas.microsoft.com/office/drawing/2014/main" id="{5454E7FF-B754-4DA6-979E-61D07E1B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1920次不重複原生運行；15,360筆功能性績效指標響應與原始計數重算差異為0。</a:t>
            </a:r>
          </a:p>
        </p:txBody>
      </p:sp>
    </p:spTree>
    <p:extLst>
      <p:ext uri="{BB962C8B-B14F-4D97-AF65-F5344CB8AC3E}">
        <p14:creationId xmlns:p14="http://schemas.microsoft.com/office/powerpoint/2010/main" val="137502300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B31B2887-690B-4167-A3FD-5B5335A9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7c416bf8c564aa0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4F94845E-43C2-4D36-B952-7B225F0D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4E81984A-83BE-4497-A24F-E5EF3AC1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492A44A8-C7ED-4383-9375-336194A6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1c8c3ab76ed40a9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218B341F-BCF2-4BB5-A3A9-14B513D9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7ff6fc921a41ba">
              <a:extLst>
                <a:ext uri="{96DAC541-7B7A-43D3-8B79-37D633B846F1}">
                  <asvg:svgBlip xmlns:asvg="http://schemas.microsoft.com/office/drawing/2016/SVG/main" r:embed="R942c72dd1bd3458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F60EC4D8-87C6-4BA5-8893-884E2069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7ff6fc921a41ba">
              <a:extLst>
                <a:ext uri="{96DAC541-7B7A-43D3-8B79-37D633B846F1}">
                  <asvg:svgBlip xmlns:asvg="http://schemas.microsoft.com/office/drawing/2016/SVG/main" r:embed="R942c72dd1bd3458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4A61E6FD-F7DE-44AC-A17C-4BDE0445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2232516"/>
            <a:ext cx="5199669" cy="6244144"/>
          </a:xfrm>
          <a:custGeom xmlns:a="http://schemas.openxmlformats.org/drawingml/2006/main">
            <a:rect l="l" t="t" r="r" b="b"/>
            <a:pathLst>
              <a:path w="5199669" h="6244144">
                <a:moveTo>
                  <a:pt x="0" y="0"/>
                </a:moveTo>
                <a:lnTo>
                  <a:pt x="5199669" y="0"/>
                </a:lnTo>
                <a:lnTo>
                  <a:pt x="5199669" y="6244144"/>
                </a:lnTo>
                <a:lnTo>
                  <a:pt x="0" y="6244144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99FC7D0B-5C9B-4317-BB53-112E71EB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03026" y="3267189"/>
            <a:ext cx="7580571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CD5AB63D-EA2E-4DA5-93C2-342369E0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03026" y="2209914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862065D4-7DC3-4D40-9A99-2D3B9C1C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2905857B-A38A-4408-899A-E5EA9755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2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10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B68949A4-ADD8-4225-8107-8001F930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1422" y="4811246"/>
            <a:ext cx="7822954" cy="39954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146"/>
              </a:lnSpc>
              <a:spcBef>
                <a:spcPct val="0"/>
              </a:spcBef>
              <a:buNone/>
            </a:pPr>
            <a:r>
              <a:rPr sz="22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1E9192C2-9767-4458-9F7C-6C92466B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2675" y="2949940"/>
            <a:ext cx="4012721" cy="4636258"/>
          </a:xfrm>
          <a:custGeom xmlns:a="http://schemas.openxmlformats.org/drawingml/2006/main">
            <a:rect l="l" t="t" r="r" b="b"/>
            <a:pathLst>
              <a:path w="812800" h="939101">
                <a:moveTo>
                  <a:pt x="0" y="0"/>
                </a:moveTo>
                <a:lnTo>
                  <a:pt x="812800" y="0"/>
                </a:lnTo>
                <a:lnTo>
                  <a:pt x="812800" y="939101"/>
                </a:lnTo>
                <a:lnTo>
                  <a:pt x="0" y="939101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內容_10_關鍵發現">
            <a:extLst xmlns:a="http://schemas.openxmlformats.org/drawingml/2006/main">
              <a:ext uri="{FF2B5EF4-FFF2-40B4-BE49-F238E27FC236}">
                <a16:creationId xmlns:a16="http://schemas.microsoft.com/office/drawing/2014/main" id="{589A8567-A3E7-40E2-9B71-429DE767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關鍵發現</a:t>
            </a:r>
          </a:p>
        </p:txBody>
      </p:sp>
      <p:sp>
        <p:nvSpPr>
          <p:cNvPr id="18" name="內容_10_只加8公尺不夠，聯合控制才有">
            <a:extLst xmlns:a="http://schemas.openxmlformats.org/drawingml/2006/main">
              <a:ext uri="{FF2B5EF4-FFF2-40B4-BE49-F238E27FC236}">
                <a16:creationId xmlns:a16="http://schemas.microsoft.com/office/drawing/2014/main" id="{03837F55-8F86-4F91-A94D-0C1CA9C6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只加8公尺不夠，聯合控制才有效</a:t>
            </a:r>
          </a:p>
        </p:txBody>
      </p:sp>
      <p:graphicFrame>
        <p:nvGraphicFramePr>
          <p:cNvPr id="19" name="Chart">
            <a:extLst xmlns:a="http://schemas.openxmlformats.org/drawingml/2006/main">
              <a:ext uri="{FF2B5EF4-FFF2-40B4-BE49-F238E27FC236}">
                <a16:creationId xmlns:a16="http://schemas.microsoft.com/office/drawing/2014/main" id="{FEEEE8CD-EF02-4900-910F-1AB0DEC65554}"/>
              </a:ext>
            </a:extLst>
          </p:cNvPr>
          <p:cNvGraphicFramePr/>
          <p:nvPr/>
        </p:nvGraphicFramePr>
        <p:xfrm>
          <a:off xmlns:a="http://schemas.openxmlformats.org/drawingml/2006/main" x="1581150" y="4286250"/>
          <a:ext xmlns:a="http://schemas.openxmlformats.org/drawingml/2006/main" cx="68580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b93fd8da2e489c"/>
          </a:graphicData>
        </a:graphic>
      </p:graphicFrame>
      <p:graphicFrame>
        <p:nvGraphicFramePr>
          <p:cNvPr id="20" name="Chart">
            <a:extLst xmlns:a="http://schemas.openxmlformats.org/drawingml/2006/main">
              <a:ext uri="{FF2B5EF4-FFF2-40B4-BE49-F238E27FC236}">
                <a16:creationId xmlns:a16="http://schemas.microsoft.com/office/drawing/2014/main" id="{88408CE9-D891-4E47-BE43-5D9CCFA60A1D}"/>
              </a:ext>
            </a:extLst>
          </p:cNvPr>
          <p:cNvGraphicFramePr/>
          <p:nvPr/>
        </p:nvGraphicFramePr>
        <p:xfrm>
          <a:off xmlns:a="http://schemas.openxmlformats.org/drawingml/2006/main" x="9144000" y="4286250"/>
          <a:ext xmlns:a="http://schemas.openxmlformats.org/drawingml/2006/main" cx="68580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f185952f324630"/>
          </a:graphicData>
        </a:graphic>
      </p:graphicFrame>
      <p:sp>
        <p:nvSpPr>
          <p:cNvPr id="21" name="內容_10_僅加8公尺緩衝的阻塞仍7.6">
            <a:extLst xmlns:a="http://schemas.openxmlformats.org/drawingml/2006/main">
              <a:ext uri="{FF2B5EF4-FFF2-40B4-BE49-F238E27FC236}">
                <a16:creationId xmlns:a16="http://schemas.microsoft.com/office/drawing/2014/main" id="{B4513D19-B656-4A78-8757-4DF6DF0C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僅加8公尺緩衝的阻塞仍7.609%，未達1%。聯合方案含支援與外包，不能把效果都算成人力。</a:t>
            </a:r>
          </a:p>
        </p:txBody>
      </p:sp>
    </p:spTree>
    <p:extLst>
      <p:ext uri="{BB962C8B-B14F-4D97-AF65-F5344CB8AC3E}">
        <p14:creationId xmlns:p14="http://schemas.microsoft.com/office/powerpoint/2010/main" val="73291481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067CD3AA-CA13-44BE-AB96-78B49AEC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a4aa51d6db747e0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E4ABCDE-D84F-4D48-BF00-3F8EC27C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7C86BB20-4DA7-4A6E-AD36-B92C814C7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DDCFBCA0-EC09-43CA-A67C-38F34A6F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2728691a5914c66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376F8760-E336-408F-A747-098A2E52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3384580e27d4b33">
              <a:extLst>
                <a:ext uri="{96DAC541-7B7A-43D3-8B79-37D633B846F1}">
                  <asvg:svgBlip xmlns:asvg="http://schemas.microsoft.com/office/drawing/2016/SVG/main" r:embed="R9ec6d6a4a57d498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B5E025A3-0F63-48D2-B57F-298AA14A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3384580e27d4b33">
              <a:extLst>
                <a:ext uri="{96DAC541-7B7A-43D3-8B79-37D633B846F1}">
                  <asvg:svgBlip xmlns:asvg="http://schemas.microsoft.com/office/drawing/2016/SVG/main" r:embed="R9ec6d6a4a57d498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C3CF0EC4-C002-4F23-8B7B-6789C139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11733" y="4329430"/>
            <a:ext cx="3813204" cy="3796227"/>
          </a:xfrm>
          <a:custGeom xmlns:a="http://schemas.openxmlformats.org/drawingml/2006/main">
            <a:rect l="l" t="t" r="r" b="b"/>
            <a:pathLst>
              <a:path w="14906544" h="14840178">
                <a:moveTo>
                  <a:pt x="7453273" y="75"/>
                </a:moveTo>
                <a:cubicBezTo>
                  <a:pt x="4794451" y="-11816"/>
                  <a:pt x="2332496" y="1399825"/>
                  <a:pt x="999642" y="3700470"/>
                </a:cubicBezTo>
                <a:cubicBezTo>
                  <a:pt x="-333213" y="6001115"/>
                  <a:pt x="-333213" y="8839064"/>
                  <a:pt x="999642" y="11139709"/>
                </a:cubicBezTo>
                <a:cubicBezTo>
                  <a:pt x="2332496" y="13440354"/>
                  <a:pt x="4794451" y="14851995"/>
                  <a:pt x="7453273" y="14840104"/>
                </a:cubicBezTo>
                <a:cubicBezTo>
                  <a:pt x="10112093" y="14851995"/>
                  <a:pt x="12574049" y="13440354"/>
                  <a:pt x="13906904" y="11139709"/>
                </a:cubicBezTo>
                <a:cubicBezTo>
                  <a:pt x="15239758" y="8839064"/>
                  <a:pt x="15239758" y="6001115"/>
                  <a:pt x="13906904" y="3700470"/>
                </a:cubicBezTo>
                <a:cubicBezTo>
                  <a:pt x="12574049" y="1399825"/>
                  <a:pt x="10112093" y="-11816"/>
                  <a:pt x="7453273" y="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D566D8A1-C9B6-49A4-8862-EFA63A3B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63221" y="4380689"/>
            <a:ext cx="3710226" cy="3693707"/>
          </a:xfrm>
          <a:custGeom xmlns:a="http://schemas.openxmlformats.org/drawingml/2006/main">
            <a:rect l="l" t="t" r="r" b="b"/>
            <a:pathLst>
              <a:path w="14503985" h="14439411">
                <a:moveTo>
                  <a:pt x="7251993" y="73"/>
                </a:moveTo>
                <a:cubicBezTo>
                  <a:pt x="4664974" y="-11497"/>
                  <a:pt x="2269506" y="1362022"/>
                  <a:pt x="972645" y="3600537"/>
                </a:cubicBezTo>
                <a:cubicBezTo>
                  <a:pt x="-324215" y="5839051"/>
                  <a:pt x="-324215" y="8600360"/>
                  <a:pt x="972645" y="10838875"/>
                </a:cubicBezTo>
                <a:cubicBezTo>
                  <a:pt x="2269506" y="13077389"/>
                  <a:pt x="4664974" y="14450908"/>
                  <a:pt x="7251993" y="14439338"/>
                </a:cubicBezTo>
                <a:cubicBezTo>
                  <a:pt x="9839011" y="14450908"/>
                  <a:pt x="12234479" y="13077389"/>
                  <a:pt x="13531340" y="10838875"/>
                </a:cubicBezTo>
                <a:cubicBezTo>
                  <a:pt x="14828201" y="8600360"/>
                  <a:pt x="14828201" y="5839051"/>
                  <a:pt x="13531340" y="3600537"/>
                </a:cubicBezTo>
                <a:cubicBezTo>
                  <a:pt x="12234479" y="1362022"/>
                  <a:pt x="9839011" y="-11497"/>
                  <a:pt x="7251993" y="73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5B90552F-8BEF-43A8-91C2-BE234163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56144" y="4473198"/>
            <a:ext cx="3524380" cy="3508689"/>
          </a:xfrm>
          <a:custGeom xmlns:a="http://schemas.openxmlformats.org/drawingml/2006/main">
            <a:rect l="l" t="t" r="r" b="b"/>
            <a:pathLst>
              <a:path w="13777477" h="13716137">
                <a:moveTo>
                  <a:pt x="6888739" y="68"/>
                </a:moveTo>
                <a:cubicBezTo>
                  <a:pt x="4431305" y="-10922"/>
                  <a:pt x="2155826" y="1293797"/>
                  <a:pt x="923925" y="3420184"/>
                </a:cubicBezTo>
                <a:cubicBezTo>
                  <a:pt x="-307975" y="5546571"/>
                  <a:pt x="-307975" y="8169565"/>
                  <a:pt x="923925" y="10295952"/>
                </a:cubicBezTo>
                <a:cubicBezTo>
                  <a:pt x="2155826" y="12422339"/>
                  <a:pt x="4431305" y="13727058"/>
                  <a:pt x="6888739" y="13716068"/>
                </a:cubicBezTo>
                <a:cubicBezTo>
                  <a:pt x="9346172" y="13727058"/>
                  <a:pt x="11621651" y="12422339"/>
                  <a:pt x="12853552" y="10295952"/>
                </a:cubicBezTo>
                <a:cubicBezTo>
                  <a:pt x="14085452" y="8169565"/>
                  <a:pt x="14085452" y="5546571"/>
                  <a:pt x="12853552" y="3420184"/>
                </a:cubicBezTo>
                <a:cubicBezTo>
                  <a:pt x="11621651" y="1293797"/>
                  <a:pt x="9346172" y="-10922"/>
                  <a:pt x="6888739" y="68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5542C6C3-16DF-4060-96CD-65CCC623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40157" y="4329430"/>
            <a:ext cx="3813204" cy="3796227"/>
          </a:xfrm>
          <a:custGeom xmlns:a="http://schemas.openxmlformats.org/drawingml/2006/main">
            <a:rect l="l" t="t" r="r" b="b"/>
            <a:pathLst>
              <a:path w="14906544" h="14840178">
                <a:moveTo>
                  <a:pt x="7453273" y="75"/>
                </a:moveTo>
                <a:cubicBezTo>
                  <a:pt x="4794451" y="-11816"/>
                  <a:pt x="2332496" y="1399825"/>
                  <a:pt x="999642" y="3700470"/>
                </a:cubicBezTo>
                <a:cubicBezTo>
                  <a:pt x="-333213" y="6001115"/>
                  <a:pt x="-333213" y="8839064"/>
                  <a:pt x="999642" y="11139709"/>
                </a:cubicBezTo>
                <a:cubicBezTo>
                  <a:pt x="2332496" y="13440354"/>
                  <a:pt x="4794451" y="14851995"/>
                  <a:pt x="7453273" y="14840104"/>
                </a:cubicBezTo>
                <a:cubicBezTo>
                  <a:pt x="10112093" y="14851995"/>
                  <a:pt x="12574049" y="13440354"/>
                  <a:pt x="13906904" y="11139709"/>
                </a:cubicBezTo>
                <a:cubicBezTo>
                  <a:pt x="15239758" y="8839064"/>
                  <a:pt x="15239758" y="6001115"/>
                  <a:pt x="13906904" y="3700470"/>
                </a:cubicBezTo>
                <a:cubicBezTo>
                  <a:pt x="12574049" y="1399825"/>
                  <a:pt x="10112093" y="-11816"/>
                  <a:pt x="7453273" y="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5D63043E-B8A8-42A1-B12A-BAC4BDD02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91645" y="4380689"/>
            <a:ext cx="3710226" cy="3693707"/>
          </a:xfrm>
          <a:custGeom xmlns:a="http://schemas.openxmlformats.org/drawingml/2006/main">
            <a:rect l="l" t="t" r="r" b="b"/>
            <a:pathLst>
              <a:path w="14503985" h="14439411">
                <a:moveTo>
                  <a:pt x="7251993" y="73"/>
                </a:moveTo>
                <a:cubicBezTo>
                  <a:pt x="4664974" y="-11497"/>
                  <a:pt x="2269506" y="1362022"/>
                  <a:pt x="972645" y="3600537"/>
                </a:cubicBezTo>
                <a:cubicBezTo>
                  <a:pt x="-324215" y="5839051"/>
                  <a:pt x="-324215" y="8600360"/>
                  <a:pt x="972645" y="10838875"/>
                </a:cubicBezTo>
                <a:cubicBezTo>
                  <a:pt x="2269506" y="13077389"/>
                  <a:pt x="4664974" y="14450908"/>
                  <a:pt x="7251993" y="14439338"/>
                </a:cubicBezTo>
                <a:cubicBezTo>
                  <a:pt x="9839011" y="14450908"/>
                  <a:pt x="12234479" y="13077389"/>
                  <a:pt x="13531340" y="10838875"/>
                </a:cubicBezTo>
                <a:cubicBezTo>
                  <a:pt x="14828201" y="8600360"/>
                  <a:pt x="14828201" y="5839051"/>
                  <a:pt x="13531340" y="3600537"/>
                </a:cubicBezTo>
                <a:cubicBezTo>
                  <a:pt x="12234479" y="1362022"/>
                  <a:pt x="9839011" y="-11497"/>
                  <a:pt x="7251993" y="73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78E50DD1-A963-4800-B359-8A4F860A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84568" y="4473198"/>
            <a:ext cx="3524380" cy="3508689"/>
          </a:xfrm>
          <a:custGeom xmlns:a="http://schemas.openxmlformats.org/drawingml/2006/main">
            <a:rect l="l" t="t" r="r" b="b"/>
            <a:pathLst>
              <a:path w="13777477" h="13716137">
                <a:moveTo>
                  <a:pt x="6888739" y="68"/>
                </a:moveTo>
                <a:cubicBezTo>
                  <a:pt x="4431305" y="-10922"/>
                  <a:pt x="2155826" y="1293797"/>
                  <a:pt x="923925" y="3420184"/>
                </a:cubicBezTo>
                <a:cubicBezTo>
                  <a:pt x="-307975" y="5546571"/>
                  <a:pt x="-307975" y="8169565"/>
                  <a:pt x="923925" y="10295952"/>
                </a:cubicBezTo>
                <a:cubicBezTo>
                  <a:pt x="2155826" y="12422339"/>
                  <a:pt x="4431305" y="13727058"/>
                  <a:pt x="6888739" y="13716068"/>
                </a:cubicBezTo>
                <a:cubicBezTo>
                  <a:pt x="9346172" y="13727058"/>
                  <a:pt x="11621651" y="12422339"/>
                  <a:pt x="12853552" y="10295952"/>
                </a:cubicBezTo>
                <a:cubicBezTo>
                  <a:pt x="14085452" y="8169565"/>
                  <a:pt x="14085452" y="5546571"/>
                  <a:pt x="12853552" y="3420184"/>
                </a:cubicBezTo>
                <a:cubicBezTo>
                  <a:pt x="11621651" y="1293797"/>
                  <a:pt x="9346172" y="-10922"/>
                  <a:pt x="6888739" y="68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8" name="Freeform 18">
            <a:extLst xmlns:a="http://schemas.openxmlformats.org/drawingml/2006/main">
              <a:ext uri="{FF2B5EF4-FFF2-40B4-BE49-F238E27FC236}">
                <a16:creationId xmlns:a16="http://schemas.microsoft.com/office/drawing/2014/main" id="{436CE8BD-5549-437B-9290-10F1F5E6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269914" y="4329449"/>
            <a:ext cx="300038" cy="300038"/>
          </a:xfrm>
          <a:custGeom xmlns:a="http://schemas.openxmlformats.org/drawingml/2006/main">
            <a:rect l="l" t="t" r="r" b="b"/>
            <a:pathLst>
              <a:path w="79022" h="79022">
                <a:moveTo>
                  <a:pt x="0" y="0"/>
                </a:moveTo>
                <a:lnTo>
                  <a:pt x="79022" y="0"/>
                </a:lnTo>
                <a:lnTo>
                  <a:pt x="79022" y="79022"/>
                </a:lnTo>
                <a:lnTo>
                  <a:pt x="0" y="79022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89124E28-569B-4D01-9DB3-F6586B77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269914" y="4510275"/>
            <a:ext cx="300038" cy="1192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B72E7D01-9180-43B9-B566-9D07FCD6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1BB5ED1B-49DC-412E-B2D8-E1BCD249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11</a:t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75DC57AA-8871-4E0A-9F2D-E86CF86F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96381" y="2306473"/>
            <a:ext cx="34001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D677529C-7AE4-4A83-8216-596E6577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9979" y="2306473"/>
            <a:ext cx="592257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D3EBF3A5-5A1F-4A52-BD0F-42748C9FB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9914" y="4741578"/>
            <a:ext cx="18882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76"/>
              </a:lnSpc>
              <a:buNone/>
            </a:pPr>
            <a:r>
              <a:rPr sz="2751" b="1">
                <a:solidFill>
                  <a:srgbClr val="C9BBE8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034DA127-49B7-42F1-AD04-42EC0DC1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9914" y="5899065"/>
            <a:ext cx="2323967" cy="2830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29"/>
              </a:lnSpc>
              <a:spcBef>
                <a:spcPct val="0"/>
              </a:spcBef>
              <a:buNone/>
            </a:pPr>
            <a:r>
              <a:rPr sz="1592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BD085A2E-CD16-4916-9710-D93011E5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467937" y="4329449"/>
            <a:ext cx="300038" cy="300038"/>
          </a:xfrm>
          <a:custGeom xmlns:a="http://schemas.openxmlformats.org/drawingml/2006/main">
            <a:rect l="l" t="t" r="r" b="b"/>
            <a:pathLst>
              <a:path w="79022" h="79022">
                <a:moveTo>
                  <a:pt x="0" y="0"/>
                </a:moveTo>
                <a:lnTo>
                  <a:pt x="79022" y="0"/>
                </a:lnTo>
                <a:lnTo>
                  <a:pt x="79022" y="79022"/>
                </a:lnTo>
                <a:lnTo>
                  <a:pt x="0" y="79022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63F4ADCA-A5B2-4F77-A0CE-AA601FE0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467937" y="4510275"/>
            <a:ext cx="300038" cy="1192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3FF30D5C-37F8-45DF-9421-CFFC7EF3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467937" y="4741578"/>
            <a:ext cx="18882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76"/>
              </a:lnSpc>
              <a:buNone/>
            </a:pPr>
            <a:r>
              <a:rPr sz="2751" b="1">
                <a:solidFill>
                  <a:srgbClr val="C9BBE8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94D8DFBE-DDFD-4864-A3F8-21CD4811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467937" y="5899065"/>
            <a:ext cx="2323967" cy="2830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29"/>
              </a:lnSpc>
              <a:spcBef>
                <a:spcPct val="0"/>
              </a:spcBef>
              <a:buNone/>
            </a:pPr>
            <a:r>
              <a:rPr sz="1592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31" name="內容_11_改善方案的實驗比較">
            <a:extLst xmlns:a="http://schemas.openxmlformats.org/drawingml/2006/main">
              <a:ext uri="{FF2B5EF4-FFF2-40B4-BE49-F238E27FC236}">
                <a16:creationId xmlns:a16="http://schemas.microsoft.com/office/drawing/2014/main" id="{D9D9BF9E-6B43-4E39-95D4-9CE0E099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改善方案的實驗比較</a:t>
            </a:r>
          </a:p>
        </p:txBody>
      </p:sp>
      <p:sp>
        <p:nvSpPr>
          <p:cNvPr id="32" name="內容_11_緩衝與調派必須一起評估">
            <a:extLst xmlns:a="http://schemas.openxmlformats.org/drawingml/2006/main">
              <a:ext uri="{FF2B5EF4-FFF2-40B4-BE49-F238E27FC236}">
                <a16:creationId xmlns:a16="http://schemas.microsoft.com/office/drawing/2014/main" id="{8B38E5F0-262E-472B-A1E9-DB22E108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緩衝與調派必須一起評估</a:t>
            </a:r>
          </a:p>
        </p:txBody>
      </p:sp>
      <p:graphicFrame>
        <p:nvGraphicFramePr>
          <p:cNvPr id="33" name="Chart">
            <a:extLst xmlns:a="http://schemas.openxmlformats.org/drawingml/2006/main">
              <a:ext uri="{FF2B5EF4-FFF2-40B4-BE49-F238E27FC236}">
                <a16:creationId xmlns:a16="http://schemas.microsoft.com/office/drawing/2014/main" id="{C83EFFF2-1534-424F-9C92-B969A68DBA4C}"/>
              </a:ext>
            </a:extLst>
          </p:cNvPr>
          <p:cNvGraphicFramePr/>
          <p:nvPr/>
        </p:nvGraphicFramePr>
        <p:xfrm>
          <a:off xmlns:a="http://schemas.openxmlformats.org/drawingml/2006/main" x="1581150" y="4238625"/>
          <a:ext xmlns:a="http://schemas.openxmlformats.org/drawingml/2006/main" cx="14287500" cy="3286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e1833d6ebaf405f"/>
          </a:graphicData>
        </a:graphic>
      </p:graphicFrame>
      <p:sp>
        <p:nvSpPr>
          <p:cNvPr id="34" name="內容_11_3種情境 × 15種處方／長">
            <a:extLst xmlns:a="http://schemas.openxmlformats.org/drawingml/2006/main">
              <a:ext uri="{FF2B5EF4-FFF2-40B4-BE49-F238E27FC236}">
                <a16:creationId xmlns:a16="http://schemas.microsoft.com/office/drawing/2014/main" id="{225EAE23-D5C8-456E-B577-00B9458D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3種情境 × 15種處方／長度 × 30次；各跑7日、暖機24小時。0公尺採實際旁路，非隱藏容量。</a:t>
            </a:r>
          </a:p>
        </p:txBody>
      </p:sp>
    </p:spTree>
    <p:extLst>
      <p:ext uri="{BB962C8B-B14F-4D97-AF65-F5344CB8AC3E}">
        <p14:creationId xmlns:p14="http://schemas.microsoft.com/office/powerpoint/2010/main" val="77138884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2B9A34E2-E98F-4DD3-95E6-FE8223EC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96c2b27dc304ef0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684FEEC4-1B8F-4C3E-9050-1AF39D97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EADA0A1C-9873-422D-A35B-2F90364D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02A79CD8-4E29-4FFD-B168-7D8A5F7F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83dfc26769046e8"/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E4952800-DFE8-4E37-A977-83DCA3B2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5285" y="2066012"/>
            <a:ext cx="4796896" cy="608841"/>
          </a:xfrm>
          <a:custGeom xmlns:a="http://schemas.openxmlformats.org/drawingml/2006/main">
            <a:rect l="l" t="t" r="r" b="b"/>
            <a:pathLst>
              <a:path w="3201916" h="406400">
                <a:moveTo>
                  <a:pt x="2998716" y="0"/>
                </a:moveTo>
                <a:cubicBezTo>
                  <a:pt x="3110941" y="0"/>
                  <a:pt x="3201916" y="90976"/>
                  <a:pt x="3201916" y="203200"/>
                </a:cubicBezTo>
                <a:cubicBezTo>
                  <a:pt x="3201916" y="315424"/>
                  <a:pt x="3110941" y="406400"/>
                  <a:pt x="2998716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F3615ACB-F9E0-4AB8-B047-FA289447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5285" y="2137360"/>
            <a:ext cx="4796896" cy="53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D6B15FAF-B63D-445A-A801-00658DA2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33839" y="2179447"/>
            <a:ext cx="320992" cy="320993"/>
          </a:xfrm>
          <a:custGeom xmlns:a="http://schemas.openxmlformats.org/drawingml/2006/main">
            <a:rect l="l" t="t" r="r" b="b"/>
            <a:pathLst>
              <a:path w="320992" h="320993">
                <a:moveTo>
                  <a:pt x="0" y="0"/>
                </a:moveTo>
                <a:lnTo>
                  <a:pt x="320993" y="0"/>
                </a:lnTo>
                <a:lnTo>
                  <a:pt x="320993" y="320992"/>
                </a:lnTo>
                <a:lnTo>
                  <a:pt x="0" y="32099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3360862A-0F93-40A2-961E-FE9BDADE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5285" y="5228195"/>
            <a:ext cx="4796896" cy="608841"/>
          </a:xfrm>
          <a:custGeom xmlns:a="http://schemas.openxmlformats.org/drawingml/2006/main">
            <a:rect l="l" t="t" r="r" b="b"/>
            <a:pathLst>
              <a:path w="3201916" h="406400">
                <a:moveTo>
                  <a:pt x="2998716" y="0"/>
                </a:moveTo>
                <a:cubicBezTo>
                  <a:pt x="3110941" y="0"/>
                  <a:pt x="3201916" y="90976"/>
                  <a:pt x="3201916" y="203200"/>
                </a:cubicBezTo>
                <a:cubicBezTo>
                  <a:pt x="3201916" y="315424"/>
                  <a:pt x="3110941" y="406400"/>
                  <a:pt x="2998716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42CE6122-343C-4F8C-A2B6-A66C6AE7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5285" y="5299543"/>
            <a:ext cx="4796896" cy="53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CF44FEB9-6801-4D38-A1B6-2F6A0F04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33839" y="5384737"/>
            <a:ext cx="320992" cy="320992"/>
          </a:xfrm>
          <a:custGeom xmlns:a="http://schemas.openxmlformats.org/drawingml/2006/main">
            <a:rect l="l" t="t" r="r" b="b"/>
            <a:pathLst>
              <a:path w="320992" h="320992">
                <a:moveTo>
                  <a:pt x="0" y="0"/>
                </a:moveTo>
                <a:lnTo>
                  <a:pt x="320993" y="0"/>
                </a:lnTo>
                <a:lnTo>
                  <a:pt x="320993" y="320993"/>
                </a:lnTo>
                <a:lnTo>
                  <a:pt x="0" y="320993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9F638F20-FF79-4E43-832F-7350BF9E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98862" y="5143500"/>
            <a:ext cx="4734156" cy="3535291"/>
          </a:xfrm>
          <a:custGeom xmlns:a="http://schemas.openxmlformats.org/drawingml/2006/main">
            <a:rect l="l" t="t" r="r" b="b"/>
            <a:pathLst>
              <a:path w="4734156" h="3535291">
                <a:moveTo>
                  <a:pt x="0" y="0"/>
                </a:moveTo>
                <a:lnTo>
                  <a:pt x="4734157" y="0"/>
                </a:lnTo>
                <a:lnTo>
                  <a:pt x="4734157" y="3535291"/>
                </a:lnTo>
                <a:lnTo>
                  <a:pt x="0" y="3535291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7CA4B91F-D025-451C-A883-3305AED3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40376" y="3448422"/>
            <a:ext cx="7580571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6ECFE17E-9CC4-4B6E-9C0E-C8041D09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E8DC47B0-42C6-49DC-B636-C193D3CD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12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CB3264EA-8C0D-4ABF-AE84-AE6E0D78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40376" y="2391147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8F7877DF-7E1F-484A-9965-79809C9DC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2362" y="2911009"/>
            <a:ext cx="7822954" cy="3817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006"/>
              </a:lnSpc>
              <a:spcBef>
                <a:spcPct val="0"/>
              </a:spcBef>
              <a:buNone/>
            </a:pPr>
            <a:r>
              <a:rPr sz="21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F23AEE0C-31E0-499B-AFE2-FA4CA505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2472" y="2129156"/>
            <a:ext cx="3554290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11B0A4A3-8903-4B69-8D84-6759DDB3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2362" y="6073192"/>
            <a:ext cx="7822954" cy="3817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006"/>
              </a:lnSpc>
              <a:spcBef>
                <a:spcPct val="0"/>
              </a:spcBef>
              <a:buNone/>
            </a:pPr>
            <a:r>
              <a:rPr sz="21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089CE975-1C8A-498C-A630-B7869EB6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2472" y="5291339"/>
            <a:ext cx="3554290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4" name="內容_12_主推：聯合改善＋12公尺緩衝">
            <a:extLst xmlns:a="http://schemas.openxmlformats.org/drawingml/2006/main">
              <a:ext uri="{FF2B5EF4-FFF2-40B4-BE49-F238E27FC236}">
                <a16:creationId xmlns:a16="http://schemas.microsoft.com/office/drawing/2014/main" id="{5C9DD203-4BA0-4DE7-A1B7-A0B0082E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主推：聯合改善＋12公尺緩衝</a:t>
            </a:r>
          </a:p>
        </p:txBody>
      </p:sp>
      <p:sp>
        <p:nvSpPr>
          <p:cNvPr id="25" name="內容_12_有服務要求才採用，8公尺為備">
            <a:extLst xmlns:a="http://schemas.openxmlformats.org/drawingml/2006/main">
              <a:ext uri="{FF2B5EF4-FFF2-40B4-BE49-F238E27FC236}">
                <a16:creationId xmlns:a16="http://schemas.microsoft.com/office/drawing/2014/main" id="{E9A6C0F2-69AD-43EA-92A8-259094CA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有服務要求才採用，8公尺為備選</a:t>
            </a:r>
          </a:p>
        </p:txBody>
      </p:sp>
      <p:graphicFrame>
        <p:nvGraphicFrame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19B044-85C9-4CE0-8C0B-460BCBCA7F28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71875"/>
                <a:gridCol w="3571875"/>
                <a:gridCol w="3571875"/>
                <a:gridCol w="3571875"/>
              </a:tblGrid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短波尖峰指標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改善前：現況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備選：聯合8公尺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主推：聯合12公尺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阻塞占比（%）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12.22 [11.37, 13.07]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0.95 [0.78, 1.12]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0.71 [0.57, 0.86]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平均檢查前等待（分鐘）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19.71 [17.79, 21.63]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5.52 [5.25, 5.78]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5.01 [4.77, 5.26]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結案率下界 %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99.82 [99.76, 99.88]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99.94 [99.93, 99.95]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99.94 [99.93, 99.95]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初始投資（新臺幣元）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27" name="內容_12_本表是短波尖峰情境；各方案3">
            <a:extLst xmlns:a="http://schemas.openxmlformats.org/drawingml/2006/main">
              <a:ext uri="{FF2B5EF4-FFF2-40B4-BE49-F238E27FC236}">
                <a16:creationId xmlns:a16="http://schemas.microsoft.com/office/drawing/2014/main" id="{47101364-EF7C-45F3-82EF-94A74985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71925"/>
            <a:ext cx="1428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本表是短波尖峰情境；各方案30次平均 [95%信賴下界, 上界]。</a:t>
            </a:r>
          </a:p>
        </p:txBody>
      </p:sp>
      <p:sp>
        <p:nvSpPr>
          <p:cNvPr id="28" name="內容_12_主推12公尺採額外信賴區間上">
            <a:extLst xmlns:a="http://schemas.openxmlformats.org/drawingml/2006/main">
              <a:ext uri="{FF2B5EF4-FFF2-40B4-BE49-F238E27FC236}">
                <a16:creationId xmlns:a16="http://schemas.microsoft.com/office/drawing/2014/main" id="{78315E8C-6F93-443B-804F-65BF63BF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主推12公尺採額外信賴區間上界&lt;1%的服務風險限制；8公尺僅符合原均值規則。兩者直接投資報酬率均為負。</a:t>
            </a:r>
          </a:p>
        </p:txBody>
      </p:sp>
    </p:spTree>
    <p:extLst>
      <p:ext uri="{BB962C8B-B14F-4D97-AF65-F5344CB8AC3E}">
        <p14:creationId xmlns:p14="http://schemas.microsoft.com/office/powerpoint/2010/main" val="8787098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D16E4213-55D5-4D6A-91B1-EF82153D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1ff395e48d148bb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77C387DD-8787-4F2F-BBEB-9D3AD4B6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D95B309F-5BD9-4584-987D-DD135D52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26539721-88B2-46F2-9655-E672565D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74163514b3244fb"/>
            <a:stretch>
              <a:fillRect l="0" t="0" r="0" b="0"/>
            </a:stretch>
          </a:blip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A152ED35-C196-4918-AC0C-188DBE26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C6B82643-BECB-4475-8717-2A356FEE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13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3F223F3B-6392-4E63-9D74-9D8D1C21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3491085"/>
            <a:ext cx="8762872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21529C91-E416-4366-AA1D-5FAC1C53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2462385"/>
            <a:ext cx="4108065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C87AAB-3CC9-4E2C-961E-55A075DA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57346" y="4932854"/>
            <a:ext cx="8494452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6AEA3541-E8C1-477E-8C3A-DE1492C5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12502" y="1456474"/>
            <a:ext cx="3246603" cy="3246603"/>
          </a:xfrm>
          <a:custGeom xmlns:a="http://schemas.openxmlformats.org/drawingml/2006/main">
            <a:rect l="l" t="t" r="r" b="b"/>
            <a:pathLst>
              <a:path w="3246603" h="3246603">
                <a:moveTo>
                  <a:pt x="0" y="0"/>
                </a:moveTo>
                <a:lnTo>
                  <a:pt x="3246603" y="0"/>
                </a:lnTo>
                <a:lnTo>
                  <a:pt x="3246603" y="3246602"/>
                </a:lnTo>
                <a:lnTo>
                  <a:pt x="0" y="324660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675E6342-834C-41D8-8522-3285ACB7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049013" y="1924868"/>
            <a:ext cx="2575779" cy="2309814"/>
          </a:xfrm>
          <a:custGeom xmlns:a="http://schemas.openxmlformats.org/drawingml/2006/main">
            <a:rect l="l" t="t" r="r" b="b"/>
            <a:pathLst>
              <a:path w="812800" h="728874">
                <a:moveTo>
                  <a:pt x="0" y="0"/>
                </a:moveTo>
                <a:lnTo>
                  <a:pt x="812800" y="0"/>
                </a:lnTo>
                <a:lnTo>
                  <a:pt x="812800" y="728874"/>
                </a:lnTo>
                <a:lnTo>
                  <a:pt x="0" y="728874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831FE506-F381-438E-96AF-492408B7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13601" y="4934397"/>
            <a:ext cx="3246603" cy="3246603"/>
          </a:xfrm>
          <a:custGeom xmlns:a="http://schemas.openxmlformats.org/drawingml/2006/main">
            <a:rect l="l" t="t" r="r" b="b"/>
            <a:pathLst>
              <a:path w="3246603" h="3246603">
                <a:moveTo>
                  <a:pt x="0" y="0"/>
                </a:moveTo>
                <a:lnTo>
                  <a:pt x="3246602" y="0"/>
                </a:lnTo>
                <a:lnTo>
                  <a:pt x="3246602" y="3246603"/>
                </a:lnTo>
                <a:lnTo>
                  <a:pt x="0" y="3246603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D661456B-66F8-4FF7-BF81-34CAA491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50111" y="5402791"/>
            <a:ext cx="2575779" cy="2309814"/>
          </a:xfrm>
          <a:custGeom xmlns:a="http://schemas.openxmlformats.org/drawingml/2006/main">
            <a:rect l="l" t="t" r="r" b="b"/>
            <a:pathLst>
              <a:path w="812800" h="728874">
                <a:moveTo>
                  <a:pt x="0" y="0"/>
                </a:moveTo>
                <a:lnTo>
                  <a:pt x="812800" y="0"/>
                </a:lnTo>
                <a:lnTo>
                  <a:pt x="812800" y="728874"/>
                </a:lnTo>
                <a:lnTo>
                  <a:pt x="0" y="728874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8" name="內容_13_財務：投資與營運分開">
            <a:extLst xmlns:a="http://schemas.openxmlformats.org/drawingml/2006/main">
              <a:ext uri="{FF2B5EF4-FFF2-40B4-BE49-F238E27FC236}">
                <a16:creationId xmlns:a16="http://schemas.microsoft.com/office/drawing/2014/main" id="{212AD8A8-DDAA-49C5-BB1F-D9588D02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財務：投資與營運分開</a:t>
            </a:r>
          </a:p>
        </p:txBody>
      </p:sp>
      <p:sp>
        <p:nvSpPr>
          <p:cNvPr id="19" name="內容_13_服務改善，仍無正向回收期">
            <a:extLst xmlns:a="http://schemas.openxmlformats.org/drawingml/2006/main">
              <a:ext uri="{FF2B5EF4-FFF2-40B4-BE49-F238E27FC236}">
                <a16:creationId xmlns:a16="http://schemas.microsoft.com/office/drawing/2014/main" id="{5396E7FB-CA78-43FE-AA86-A6518BD0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服務改善，仍無正向回收期</a:t>
            </a:r>
          </a:p>
        </p:txBody>
      </p:sp>
      <p:graphicFrame>
        <p:nvGraphicFrame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BBABA1-909F-4666-BA68-5DEDF1E0B201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財務指標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備選：聯合8公尺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主推：聯合12公尺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初始投資（元）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比第二台洗機少投資（元）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1,420,000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比現況年淨效益（元）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-64,374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-50,937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投資報酬率／回收年限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-80.47%／無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-42.45%／無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21" name="內容_13_主實驗 1350次的24小時">
            <a:extLst xmlns:a="http://schemas.openxmlformats.org/drawingml/2006/main">
              <a:ext uri="{FF2B5EF4-FFF2-40B4-BE49-F238E27FC236}">
                <a16:creationId xmlns:a16="http://schemas.microsoft.com/office/drawing/2014/main" id="{EE70BC91-5B8E-476A-813A-C2B599BD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主實驗 1350次的24小時損失全為0，沒有這項可省收益；12公尺包材節約39.17%仍未達65%。</a:t>
            </a:r>
          </a:p>
        </p:txBody>
      </p:sp>
    </p:spTree>
    <p:extLst>
      <p:ext uri="{BB962C8B-B14F-4D97-AF65-F5344CB8AC3E}">
        <p14:creationId xmlns:p14="http://schemas.microsoft.com/office/powerpoint/2010/main" val="27765848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F286B556-3F8A-4564-A878-0695E56C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84db7cb9690440f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073B9B98-D47F-4F45-AEFF-0B478B03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2539E50A-DB16-4A86-AC34-D7AC3C3A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5F55F929-1E20-43BB-AEDB-5978B06C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349cc93021648d4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91960055-FD3C-491E-8173-1AA8084F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3967673" h="8229600">
                <a:moveTo>
                  <a:pt x="0" y="0"/>
                </a:moveTo>
                <a:lnTo>
                  <a:pt x="3967673" y="0"/>
                </a:lnTo>
                <a:lnTo>
                  <a:pt x="396767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16D12D85-F5CF-4837-B4EA-DFD9C676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BC5F5482-FB0A-49DE-A3A1-01DEB43B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14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A6918FF-828C-4F2E-A699-EF3F28F0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0897" y="3485662"/>
            <a:ext cx="5543293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2F772C-C06D-4142-9178-D1FFFB28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0897" y="2399812"/>
            <a:ext cx="695127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2277C1F5-FE36-4FE0-9A46-6FC8EF3E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0897" y="4932854"/>
            <a:ext cx="8494452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B26DE0E6-7375-43C1-A0FC-2CE3DB0C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2122125" y="2693077"/>
            <a:ext cx="4240473" cy="4240473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4240473" y="0"/>
                </a:moveTo>
                <a:lnTo>
                  <a:pt x="0" y="0"/>
                </a:lnTo>
                <a:lnTo>
                  <a:pt x="0" y="4240473"/>
                </a:lnTo>
                <a:lnTo>
                  <a:pt x="4240473" y="4240473"/>
                </a:lnTo>
                <a:lnTo>
                  <a:pt x="424047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內容_14_展示：指標要可比較">
            <a:extLst xmlns:a="http://schemas.openxmlformats.org/drawingml/2006/main">
              <a:ext uri="{FF2B5EF4-FFF2-40B4-BE49-F238E27FC236}">
                <a16:creationId xmlns:a16="http://schemas.microsoft.com/office/drawing/2014/main" id="{7ABAFD0A-2090-4F26-9957-FE7F5E46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展示：指標要可比較</a:t>
            </a:r>
          </a:p>
        </p:txBody>
      </p:sp>
      <p:sp>
        <p:nvSpPr>
          <p:cNvPr id="15" name="內容_14_設備占比熱圖，取代含糊著色">
            <a:extLst xmlns:a="http://schemas.openxmlformats.org/drawingml/2006/main">
              <a:ext uri="{FF2B5EF4-FFF2-40B4-BE49-F238E27FC236}">
                <a16:creationId xmlns:a16="http://schemas.microsoft.com/office/drawing/2014/main" id="{2FD07968-1A6C-4579-8BC4-B51025C9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設備占比熱圖，取代含糊著色</a:t>
            </a:r>
          </a:p>
        </p:txBody>
      </p:sp>
      <p:sp>
        <p:nvSpPr>
          <p:cNvPr id="16" name="內容_14_前＝改善前現況；後＝12公尺">
            <a:extLst xmlns:a="http://schemas.openxmlformats.org/drawingml/2006/main">
              <a:ext uri="{FF2B5EF4-FFF2-40B4-BE49-F238E27FC236}">
                <a16:creationId xmlns:a16="http://schemas.microsoft.com/office/drawing/2014/main" id="{6288EE56-46E6-4F7A-9B3D-E726370C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0050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前＝改善前現況；後＝12公尺聯合改善。加工指工作中，阻塞指下游不接收。</a:t>
            </a:r>
          </a:p>
        </p:txBody>
      </p:sp>
      <p:graphicFrame>
        <p:nvGraphicFrame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606812-DC57-4D00-A080-F86408A1F7A3}"/>
              </a:ext>
            </a:extLst>
          </p:cNvPr>
          <p:cNvGraphicFramePr/>
          <p:nvPr/>
        </p:nvGraphicFramePr>
        <p:xfrm>
          <a:off xmlns:a="http://schemas.openxmlformats.org/drawingml/2006/main" x="1581150" y="4381500"/>
          <a:ext xmlns:a="http://schemas.openxmlformats.org/drawingml/2006/main" cx="93345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66813"/>
                <a:gridCol w="1166813"/>
                <a:gridCol w="1166813"/>
                <a:gridCol w="1166813"/>
                <a:gridCol w="1166813"/>
                <a:gridCol w="1166813"/>
                <a:gridCol w="1166813"/>
                <a:gridCol w="1166813"/>
              </a:tblGrid>
              <a:tr h="6096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指標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清洗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拆包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品質檢查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整新一站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整新二站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A級整理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報廢站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096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前加工%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68.57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722468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18.38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11538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91.10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8F2A7D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48.90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591E55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28.01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D1841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20.87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4163A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14.67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2C1434"/>
                    </a:solidFill>
                  </a:tcPr>
                </a:tc>
              </a:tr>
              <a:tr h="6096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後加工%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68.55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722468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20.91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4163A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87.28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8A297A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50.71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5B1F5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26.25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B183F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20.97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4163A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14.68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2C1434"/>
                    </a:solidFill>
                  </a:tcPr>
                </a:tc>
              </a:tr>
              <a:tr h="6096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前阻塞%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882978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0.37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271330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</a:tr>
              <a:tr h="6096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後阻塞%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0.51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2C1434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5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191026"/>
                    </a:solidFill>
                  </a:tcPr>
                </a:tc>
              </a:tr>
            </a:tbl>
          </a:graphicData>
        </a:graphic>
      </p:graphicFrame>
      <p:sp>
        <p:nvSpPr>
          <p:cNvPr id="18" name="內容_14_加工色階0–100%；阻塞色">
            <a:extLst xmlns:a="http://schemas.openxmlformats.org/drawingml/2006/main">
              <a:ext uri="{FF2B5EF4-FFF2-40B4-BE49-F238E27FC236}">
                <a16:creationId xmlns:a16="http://schemas.microsoft.com/office/drawing/2014/main" id="{80A69E4F-6549-44F5-B674-5DB2C9C8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7524750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加工色階0–100%；阻塞色階0–3.5%。</a:t>
            </a:r>
          </a:p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同隨機種子101、同116100秒的累計占比。</a:t>
            </a:r>
          </a:p>
        </p:txBody>
      </p:sp>
      <p:sp>
        <p:nvSpPr>
          <p:cNvPr id="19" name="內容_14_在製量趨勢／清洗狀態">
            <a:extLst xmlns:a="http://schemas.openxmlformats.org/drawingml/2006/main">
              <a:ext uri="{FF2B5EF4-FFF2-40B4-BE49-F238E27FC236}">
                <a16:creationId xmlns:a16="http://schemas.microsoft.com/office/drawing/2014/main" id="{1B8CBFBC-F061-4894-9E38-7303269E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4095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在製量趨勢／清洗狀態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A38DB3-FE76-458E-9155-92D91A17C5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6d87b3ac9b414d"/>
          <a:srcRect xmlns:a="http://schemas.openxmlformats.org/drawingml/2006/main" l="0" t="53500" r="10000" b="7000"/>
          <a:stretch xmlns:a="http://schemas.openxmlformats.org/drawingml/2006/main"/>
        </p:blipFill>
        <p:spPr>
          <a:xfrm xmlns:a="http://schemas.openxmlformats.org/drawingml/2006/main">
            <a:off x="11430000" y="4572000"/>
            <a:ext cx="4762500" cy="2857500"/>
          </a:xfrm>
          <a:prstGeom xmlns:a="http://schemas.openxmlformats.org/drawingml/2006/main" prst="rect">
            <a:avLst/>
          </a:prstGeom>
        </p:spPr>
      </p:pic>
      <p:sp>
        <p:nvSpPr>
          <p:cNvPr id="21" name="內容_14_3D圖改稱設備績效著色截圖。">
            <a:extLst xmlns:a="http://schemas.openxmlformats.org/drawingml/2006/main">
              <a:ext uri="{FF2B5EF4-FFF2-40B4-BE49-F238E27FC236}">
                <a16:creationId xmlns:a16="http://schemas.microsoft.com/office/drawing/2014/main" id="{1577E2E4-55AB-46F2-B3C0-F1C2683E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3D圖改稱設備績效著色截圖。「循環箱出庫占比100%」由模型結構保證，不列為改善成果。</a:t>
            </a:r>
          </a:p>
        </p:txBody>
      </p:sp>
    </p:spTree>
    <p:extLst>
      <p:ext uri="{BB962C8B-B14F-4D97-AF65-F5344CB8AC3E}">
        <p14:creationId xmlns:p14="http://schemas.microsoft.com/office/powerpoint/2010/main" val="44298499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2D5FACE5-6670-48F5-B43A-2E23C4BD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72495e3b99b4fb2"/>
            <a:stretch>
              <a:fillRect l="-4156" t="0" r="-2479" b="-18484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0C8077D4-1B1E-4B56-B6D2-0135C89E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07d394364414af7"/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A60E0CA1-8C2F-41B4-921D-60889A1A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3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8440F016-432A-431C-AC7E-7FEA03F4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3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A1537AC8-6F1A-4F1E-8A6B-26D8034B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0" y="0"/>
                </a:moveTo>
                <a:lnTo>
                  <a:pt x="4240472" y="0"/>
                </a:lnTo>
                <a:lnTo>
                  <a:pt x="4240472" y="4240472"/>
                </a:lnTo>
                <a:lnTo>
                  <a:pt x="0" y="424047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8399903F-D560-4C06-BAC7-304AB104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15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B3E1DBB0-9F2A-40FB-81C6-6ADA6DE3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99650" y="3188938"/>
            <a:ext cx="13102912" cy="252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9900"/>
              </a:lnSpc>
              <a:spcBef>
                <a:spcPct val="0"/>
              </a:spcBef>
              <a:buNone/>
            </a:pPr>
            <a:r>
              <a:rPr sz="14214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C9941-9E2D-4CFF-9745-C2A7BE07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109F7638-170A-4277-AFD1-C26F1505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87040" y="5601985"/>
            <a:ext cx="7601340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</a:pPr>
            <a:r>
              <a:rPr sz="1603" spc="266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39403F6D-45CC-44CF-BAF0-CA7A8498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0" y="0"/>
                </a:moveTo>
                <a:lnTo>
                  <a:pt x="4240472" y="0"/>
                </a:lnTo>
                <a:lnTo>
                  <a:pt x="4240472" y="4240473"/>
                </a:lnTo>
                <a:lnTo>
                  <a:pt x="0" y="4240473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3364A6-FF07-4723-B850-F5ED53409C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8cad8c30f94f68"/>
          <a:srcRect xmlns:a="http://schemas.openxmlformats.org/drawingml/2006/main" l="21025" t="21025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3348895" cy="3348895"/>
          </a:xfrm>
          <a:prstGeom xmlns:a="http://schemas.openxmlformats.org/drawingml/2006/main" prst="rect">
            <a:avLst/>
          </a:prstGeom>
        </p:spPr>
      </p:pic>
      <p:sp>
        <p:nvSpPr>
          <p:cNvPr id="14" name="內容_15_主推聯合改善＋12公尺緩衝">
            <a:extLst xmlns:a="http://schemas.openxmlformats.org/drawingml/2006/main">
              <a:ext uri="{FF2B5EF4-FFF2-40B4-BE49-F238E27FC236}">
                <a16:creationId xmlns:a16="http://schemas.microsoft.com/office/drawing/2014/main" id="{3F639895-466F-492E-8568-A758798A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90875"/>
            <a:ext cx="14097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6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主推聯合改善＋12公尺緩衝</a:t>
            </a:r>
          </a:p>
        </p:txBody>
      </p:sp>
      <p:sp>
        <p:nvSpPr>
          <p:cNvPr id="15" name="內容_15_短波尖峰有服務要求才採用；投">
            <a:extLst xmlns:a="http://schemas.openxmlformats.org/drawingml/2006/main">
              <a:ext uri="{FF2B5EF4-FFF2-40B4-BE49-F238E27FC236}">
                <a16:creationId xmlns:a16="http://schemas.microsoft.com/office/drawing/2014/main" id="{B500FA03-9579-4C50-9045-9BA9AF5C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53000"/>
            <a:ext cx="1371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短波尖峰有服務要求才採用；投資報酬仍為負</a:t>
            </a:r>
          </a:p>
        </p:txBody>
      </p:sp>
      <p:sp>
        <p:nvSpPr>
          <p:cNvPr id="16" name="內容_15_只加緩衝不足；8公尺聯合方案">
            <a:extLst xmlns:a="http://schemas.openxmlformats.org/drawingml/2006/main">
              <a:ext uri="{FF2B5EF4-FFF2-40B4-BE49-F238E27FC236}">
                <a16:creationId xmlns:a16="http://schemas.microsoft.com/office/drawing/2014/main" id="{D3ADA446-03A0-49DC-8B4F-60F3DEC4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905500"/>
            <a:ext cx="1371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只加緩衝不足；8公尺聯合方案留作低預算備選</a:t>
            </a:r>
          </a:p>
        </p:txBody>
      </p:sp>
      <p:sp>
        <p:nvSpPr>
          <p:cNvPr id="17" name="內容_15_答辯問答　原生模型、資料庫、">
            <a:extLst xmlns:a="http://schemas.openxmlformats.org/drawingml/2006/main">
              <a:ext uri="{FF2B5EF4-FFF2-40B4-BE49-F238E27FC236}">
                <a16:creationId xmlns:a16="http://schemas.microsoft.com/office/drawing/2014/main" id="{F609F420-E8CA-499A-A674-25C98CE0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96375"/>
            <a:ext cx="1600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答辯問答　原生模型、資料庫、逐次原始數據與展示素材隨附</a:t>
            </a:r>
          </a:p>
        </p:txBody>
      </p:sp>
    </p:spTree>
    <p:extLst>
      <p:ext uri="{BB962C8B-B14F-4D97-AF65-F5344CB8AC3E}">
        <p14:creationId xmlns:p14="http://schemas.microsoft.com/office/powerpoint/2010/main" val="72942368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Project contributors</dc:creator>
  <lastModifiedBy>Walnut Exporter</lastModifiedBy>
  <dc:title>Presentation</dc:title>
  <dcterms:created xsi:type="dcterms:W3CDTF">2026-10-29T12:07:30.9210000Z</dcterms:created>
  <dcterms:modified xsi:type="dcterms:W3CDTF">2026-10-29T12:07:30.9210000Z</dcterms:modified>
</coreProperties>
</file>