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1d21f66da7499d" /><Relationship Type="http://schemas.openxmlformats.org/officeDocument/2006/relationships/extended-properties" Target="/docProps/app.xml" Id="Re388400adebc4e73" /><Relationship Type="http://schemas.openxmlformats.org/officeDocument/2006/relationships/officeDocument" Target="/ppt/presentation.xml" Id="R31b45acfe8264d1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5ff56e2548749a9"/>
  </p:sldMasterIdLst>
  <p:notesMasterIdLst>
    <p:notesMasterId xmlns:r="http://schemas.openxmlformats.org/officeDocument/2006/relationships" r:id="Rdac4bdf4fd6447a5"/>
  </p:notesMasterIdLst>
  <p:sldIdLst>
    <p:sldId xmlns:r="http://schemas.openxmlformats.org/officeDocument/2006/relationships" id="256" r:id="R34f657044ace4089"/>
    <p:sldId xmlns:r="http://schemas.openxmlformats.org/officeDocument/2006/relationships" id="257" r:id="Rd62c1186822e4835"/>
    <p:sldId xmlns:r="http://schemas.openxmlformats.org/officeDocument/2006/relationships" id="258" r:id="Ra53f402798ab49da"/>
    <p:sldId xmlns:r="http://schemas.openxmlformats.org/officeDocument/2006/relationships" id="259" r:id="R5e882451d3e94246"/>
    <p:sldId xmlns:r="http://schemas.openxmlformats.org/officeDocument/2006/relationships" id="260" r:id="Re01c34958f024240"/>
    <p:sldId xmlns:r="http://schemas.openxmlformats.org/officeDocument/2006/relationships" id="261" r:id="R580c203cd30f4abb"/>
    <p:sldId xmlns:r="http://schemas.openxmlformats.org/officeDocument/2006/relationships" id="262" r:id="R8647766a24c4448e"/>
    <p:sldId xmlns:r="http://schemas.openxmlformats.org/officeDocument/2006/relationships" id="263" r:id="R4df342e9c39f4e0a"/>
    <p:sldId xmlns:r="http://schemas.openxmlformats.org/officeDocument/2006/relationships" id="264" r:id="Re4daa26ad20f4496"/>
    <p:sldId xmlns:r="http://schemas.openxmlformats.org/officeDocument/2006/relationships" id="265" r:id="R17a24d670b9444b8"/>
    <p:sldId xmlns:r="http://schemas.openxmlformats.org/officeDocument/2006/relationships" id="266" r:id="R94e3547a877f4b28"/>
    <p:sldId xmlns:r="http://schemas.openxmlformats.org/officeDocument/2006/relationships" id="267" r:id="R29b5cbdc22644fb6"/>
    <p:sldId xmlns:r="http://schemas.openxmlformats.org/officeDocument/2006/relationships" id="268" r:id="R0d9a3297c0e04e28"/>
    <p:sldId xmlns:r="http://schemas.openxmlformats.org/officeDocument/2006/relationships" id="269" r:id="R5f851fcd979c4253"/>
    <p:sldId xmlns:r="http://schemas.openxmlformats.org/officeDocument/2006/relationships" id="270" r:id="R25c3e5c7290f425a"/>
  </p:sldIdLst>
  <p:sldSz cx="18288000" cy="10287000"/>
  <p:notesSz cx="6858000" cy="9144000"/>
  <p:embeddedFontLst>
    <p:embeddedFont>
      <p:font typeface="Garet Bold"/>
      <p:regular xmlns:r="http://schemas.openxmlformats.org/officeDocument/2006/relationships" r:id="Ra23660db6ca847ce"/>
    </p:embeddedFont>
    <p:embeddedFont>
      <p:font typeface="Garet"/>
      <p:regular xmlns:r="http://schemas.openxmlformats.org/officeDocument/2006/relationships" r:id="R202921978b1d456b"/>
    </p:embeddedFont>
    <p:embeddedFont>
      <p:font typeface="Poppins"/>
      <p:regular xmlns:r="http://schemas.openxmlformats.org/officeDocument/2006/relationships" r:id="Rf4103ac6c948433a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cc944d12fb4608" /><Relationship Type="http://schemas.openxmlformats.org/officeDocument/2006/relationships/slideMaster" Target="/ppt/slideMasters/slideMaster1.xml" Id="Rc5ff56e2548749a9" /><Relationship Type="http://schemas.openxmlformats.org/officeDocument/2006/relationships/notesMaster" Target="/ppt/notesMasters/notesMaster1.xml" Id="Rdac4bdf4fd6447a5" /><Relationship Type="http://schemas.openxmlformats.org/officeDocument/2006/relationships/presProps" Target="/ppt/presProps.xml" Id="Ra9cabeb49e844456" /><Relationship Type="http://schemas.openxmlformats.org/officeDocument/2006/relationships/viewProps" Target="/ppt/viewProps.xml" Id="Rdcb91381b7f94cbe" /><Relationship Type="http://schemas.openxmlformats.org/officeDocument/2006/relationships/tableStyles" Target="/ppt/tableStyles.xml" Id="Rebb12cbf7d9741a2" /><Relationship Type="http://schemas.openxmlformats.org/officeDocument/2006/relationships/font" Target="/ppt/fonts/font.dat" Id="Ra23660db6ca847ce" /><Relationship Type="http://schemas.openxmlformats.org/officeDocument/2006/relationships/font" Target="/ppt/fonts/font2.dat" Id="R202921978b1d456b" /><Relationship Type="http://schemas.openxmlformats.org/officeDocument/2006/relationships/font" Target="/ppt/fonts/font3.dat" Id="Rf4103ac6c948433a" /><Relationship Type="http://schemas.openxmlformats.org/officeDocument/2006/relationships/slide" Target="/ppt/slides/slide1.xml" Id="R34f657044ace4089" /><Relationship Type="http://schemas.openxmlformats.org/officeDocument/2006/relationships/slide" Target="/ppt/slides/slide2.xml" Id="Rd62c1186822e4835" /><Relationship Type="http://schemas.openxmlformats.org/officeDocument/2006/relationships/slide" Target="/ppt/slides/slide3.xml" Id="Ra53f402798ab49da" /><Relationship Type="http://schemas.openxmlformats.org/officeDocument/2006/relationships/slide" Target="/ppt/slides/slide4.xml" Id="R5e882451d3e94246" /><Relationship Type="http://schemas.openxmlformats.org/officeDocument/2006/relationships/slide" Target="/ppt/slides/slide5.xml" Id="Re01c34958f024240" /><Relationship Type="http://schemas.openxmlformats.org/officeDocument/2006/relationships/slide" Target="/ppt/slides/slide6.xml" Id="R580c203cd30f4abb" /><Relationship Type="http://schemas.openxmlformats.org/officeDocument/2006/relationships/slide" Target="/ppt/slides/slide7.xml" Id="R8647766a24c4448e" /><Relationship Type="http://schemas.openxmlformats.org/officeDocument/2006/relationships/slide" Target="/ppt/slides/slide8.xml" Id="R4df342e9c39f4e0a" /><Relationship Type="http://schemas.openxmlformats.org/officeDocument/2006/relationships/slide" Target="/ppt/slides/slide9.xml" Id="Re4daa26ad20f4496" /><Relationship Type="http://schemas.openxmlformats.org/officeDocument/2006/relationships/slide" Target="/ppt/slides/slide10.xml" Id="R17a24d670b9444b8" /><Relationship Type="http://schemas.openxmlformats.org/officeDocument/2006/relationships/slide" Target="/ppt/slides/slide11.xml" Id="R94e3547a877f4b28" /><Relationship Type="http://schemas.openxmlformats.org/officeDocument/2006/relationships/slide" Target="/ppt/slides/slide12.xml" Id="R29b5cbdc22644fb6" /><Relationship Type="http://schemas.openxmlformats.org/officeDocument/2006/relationships/slide" Target="/ppt/slides/slide13.xml" Id="R0d9a3297c0e04e28" /><Relationship Type="http://schemas.openxmlformats.org/officeDocument/2006/relationships/slide" Target="/ppt/slides/slide14.xml" Id="R5f851fcd979c4253" /><Relationship Type="http://schemas.openxmlformats.org/officeDocument/2006/relationships/slide" Target="/ppt/slides/slide15.xml" Id="R25c3e5c7290f42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408fc3f5d643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edcaee92894087" /><Relationship Type="http://schemas.openxmlformats.org/officeDocument/2006/relationships/notesMaster" Target="/ppt/notesMasters/notesMaster1.xml" Id="Rcaa98c4039d445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0c6e751424974" /><Relationship Type="http://schemas.openxmlformats.org/officeDocument/2006/relationships/notesMaster" Target="/ppt/notesMasters/notesMaster1.xml" Id="R41a850bb4f0044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b961822ed544fd" /><Relationship Type="http://schemas.openxmlformats.org/officeDocument/2006/relationships/notesMaster" Target="/ppt/notesMasters/notesMaster1.xml" Id="R51b46c304a974c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a1c5ce6fe245df" /><Relationship Type="http://schemas.openxmlformats.org/officeDocument/2006/relationships/notesMaster" Target="/ppt/notesMasters/notesMaster1.xml" Id="R792f677d825f43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b32691e568446d" /><Relationship Type="http://schemas.openxmlformats.org/officeDocument/2006/relationships/notesMaster" Target="/ppt/notesMasters/notesMaster1.xml" Id="Rb675179a085146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f7cf909704939" /><Relationship Type="http://schemas.openxmlformats.org/officeDocument/2006/relationships/notesMaster" Target="/ppt/notesMasters/notesMaster1.xml" Id="R46b3aed442ce43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8910c130254aea" /><Relationship Type="http://schemas.openxmlformats.org/officeDocument/2006/relationships/notesMaster" Target="/ppt/notesMasters/notesMaster1.xml" Id="Rde29eebd79924d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3430f4eb73428f" /><Relationship Type="http://schemas.openxmlformats.org/officeDocument/2006/relationships/notesMaster" Target="/ppt/notesMasters/notesMaster1.xml" Id="Re8ed23c798ac4f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c263b0685d4dce" /><Relationship Type="http://schemas.openxmlformats.org/officeDocument/2006/relationships/notesMaster" Target="/ppt/notesMasters/notesMaster1.xml" Id="Re697305ef5214c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2897d4f00c423a" /><Relationship Type="http://schemas.openxmlformats.org/officeDocument/2006/relationships/notesMaster" Target="/ppt/notesMasters/notesMaster1.xml" Id="R3ab68dd10d9147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f07d3c8a0a42cf" /><Relationship Type="http://schemas.openxmlformats.org/officeDocument/2006/relationships/notesMaster" Target="/ppt/notesMasters/notesMaster1.xml" Id="R7c12f02c45d44c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d8d00629044556" /><Relationship Type="http://schemas.openxmlformats.org/officeDocument/2006/relationships/notesMaster" Target="/ppt/notesMasters/notesMaster1.xml" Id="Ra962192f10074c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fe4e4efc7c49bc" /><Relationship Type="http://schemas.openxmlformats.org/officeDocument/2006/relationships/notesMaster" Target="/ppt/notesMasters/notesMaster1.xml" Id="R8a3224b6f89044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a616cb3b394ef8" /><Relationship Type="http://schemas.openxmlformats.org/officeDocument/2006/relationships/notesMaster" Target="/ppt/notesMasters/notesMaster1.xml" Id="Ra43f1e5f844544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1d55d4ae9b4ab6" /><Relationship Type="http://schemas.openxmlformats.org/officeDocument/2006/relationships/notesMaster" Target="/ppt/notesMasters/notesMaster1.xml" Id="R6cdd377ba635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責任分工建議：商業與假設、建模與調度、驗證與統計、財務與展示。未提供姓名，因此未虛構組員。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退貨率取自指定課程資料，非外部市場統計。S0 60 件/h；S1 波外80、三波210件/h，各20分鐘；敏感度尖峰270件/h。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原始混合單位通過率保留於 course_pass_ratio_mixed_units。returned_goods_resolution_ratio 可能因跨期WIP略高於100%，不能視為到達批次已全部完成。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流程圖為可編輯架構。原生Process Flow CustomCode已實際接收並完成ESG更新及QA支援事件Token。完整DFD見01_SA；外部未入庫需求與倉內500箱資產分帳，實體箱池由入庫閘控限制。B級雙站各120秒，兩站各需作業員。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v8真實幾何模型。3,600張原生影格、逐格時間紀錄及五分鐘WebM備援另附。模型包含即時埠轉移，各長度轉接點已同步；清洗及檢驗設備外形採明示的2m×2m假設。這是課程輸入下的原生模型，尚無實倉CAD與現地運輸校準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證據：DispatchLog、AStarNavigator members與Operator移動。單行以原生TravelPatterns限制方向；200段往返到站距離為工作站邊緣0.5m。待命人員採官方讓位假設，互斥檢查針對活動行走者。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S1/P0無外包，按每次能耗/退貨量計算再取平均，0.184875145kWh/件。1−E×0.495/0.35=73.853%。同口徑若剛好42%，E約0.410101kWh/件；差異來自給定係數、能耗與基準。P4 12m的完整減碳CI[73.966,74.023]%，下界亦大於42%；包含平均84.7箱外包及相應排放，不能只套電力公式。0.35與0.495為課程係數，未涵蓋完整箱製造與逆物流LCA。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V3依批次前固定計畫，使用30次平均WIP時間剖面的迴歸，並完整保留個別重複的絕對漂移。S0 pooled漂移−0.20755%，S1 Before為9.84335%，P4 12m為1.86592%。V5包含12項主要作業與財務KPI；原始30次的精度不足仍是正式發現。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獨立飽和測試：無故障119.994箱/h；故障均值115.156箱/h，CI涵蓋115.2。主模型V7另以每次實現停機時間對標，不能把每次可用率固定成96%。V8個別重複最大偏差2.46pp，未隱藏。五倍測試7日期末外部待入庫需求34185，實體箱資產最大71，未超過500；縮小5箱池的停機恢復測試則實際觸發了硬上限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S1、各30次。P4 8m平均外包110.8箱，12m84.7箱，現有DOE不是支援/外包的獨立消融。P4 8m阻塞0.951% [0.783,1.118]；12m0.711% [0.565,0.856]。QA單人40秒能力90/h，低於清洗期望115.2/h，單加第二台清洗P1仍阻塞3.944%。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每次動態佈局都同步入口、出口及斜帶實際距離。早期未同步出口的測試被守恆檢查攔下並作廢；本頁僅使用重新凍結後的protocol9正式資料。Source外部需求與實體箱池分帳，500箱入庫閘控經縮小池停機測試驗證。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兩種選法明確區分，沒有暗中修改課程門檻。兩者超24h均為0；12m在270件/h尖峰敏感度亦檢查。結案下界把期末退貨商品WIP全部視為觀察期未完成，不能解讀成100%精確履約。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含箱攤提、剩餘帳面價值沖銷、清洗耗材、電力、外包與Q-Time損失。365日年化以6日觀察推估，另列250日敏感度；不是實際年度帳務。12m五年8%NPV為-323,376元。若必須改善SLA，P4比P1少投資且營運成本較低，但與維持P0相比，直接財務效益不足以支持回收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左側為可編輯數值熱圖，原生狀態時間讀回，非連續空間熱力圖。兩種指標採不同色階，不可跨尺度以顏色比較；加工和Blocked也不相加視為全部狀態。原3D紅色來自加工≥90%或阻塞≥1%的累計門檻，非當下狀態。Dashboard仍為40文字卡加兩圖，本次沒有改寫原生GUI。影片330.752秒為3600張原生3D影格，非全桌面錄影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交付依課程輸入完成原生模擬、實驗及驗證判讀。原始30次V5仍未達精度門檻，600次補充已達；65%包材節約及100%通過不得宣稱達成。實倉CAD、訂單、故障與行走紀錄是部署前校準條件。課程ESG按需求到達計算，在大量未完成需求的極端情境會高估效益，因此另附以已履約箱數計算的稽核口徑，不能以節流／不履約美化減碳。</a:t>
            </a:r>
          </a:p>
          <a:p xmlns:a="http://schemas.openxmlformats.org/drawingml/2006/main">
            <a:r>
              <a:t>來源：本機 prompt_detail.md、01_SA/Params.csv、04_實驗/原生Experimenter_v8_正式/標準化/*.json。模擬實測非實倉觀測。</a:t>
            </a:r>
          </a:p>
          <a:p xmlns:a="http://schemas.openxmlformats.org/drawingml/2006/main">
            <a:r>
              <a:t>統計：30 個共同種子，暖機 86,400 秒，觀察 518,400 秒；95% CI 使用 t(29)=2.04523。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b34e8bd7441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c535f20854b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4ae4279ff4c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c01fdbf1c41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e0e99cb0a4f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82e37fcf14b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066d7078f41f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ead5f986d34d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5610a0283411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bc2dac52d432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58806e0e84c2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280DC0-AFF4-42B3-8F1A-07018AFDF02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8298CD-266E-46C8-8D02-68B64FA17E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DAB6B2-DD2D-4DE5-BA91-4E2C037C6A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DB8065-F64C-450F-AB81-02E36032CE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56836E-15BF-4114-B155-7761001C54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EBE770-D05E-4B6B-8037-3BBB110482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0883BE-229A-4582-818B-23D9E92BE92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2AEE92-A242-4281-AC11-5221609B6C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6E1245-FD6D-4FC2-A48D-0530122ACE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D66596-6B3C-4D5B-B314-16A338213B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F95C92-ACF8-49D1-8872-4758FD769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926CC3-0931-42CA-9EB4-D02828B4BC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6713EE-DF2E-4834-BA3C-E6EAD1A54A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8D5336-2732-4575-ABFE-9413FB92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751AFF-5F00-49C4-BB35-995BA82AAF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CDF2A8-6B58-40FB-B9E9-1B330337B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F34392-269B-478F-8F8C-C9D0500EC8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479FE84-0808-45F4-9EB7-C22F148F8C4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513CB9B-FCDA-41FA-AE57-9D6E78A223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B706E91-B06C-499F-9885-27D7A5C4BC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F2E8AF-357B-443F-9349-802530C724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F49D87-743D-474B-88DB-207A436E8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CAEB0E-9F60-414C-B432-93216F072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C8DEAC9-6096-4A1B-9E89-3666C39E39E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18273F0-7268-4CEB-B6A2-B0D306C6AD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CAB2E80-EB51-4977-A728-306E8FD06B1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35C09E6-C5DA-457C-B59F-A1E0DB90C5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28528F7-E91E-49C0-BD6E-47F4407C90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C4FD547-0439-4E22-853F-577F867EA3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FB37C1-FBDD-434B-B37E-171DEB1C2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C9FE200-FBF0-49D5-98F1-B3E58887D4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1726844-5B64-4C77-835C-35DE6A826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F0559E3-E556-41DD-9D63-5EC2546122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C3F72BE-01CA-46FD-9B10-3771BD487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918C470-8903-4B4B-ABE9-660F5113CE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4BC10A5-D910-40EF-AE47-8F0C452441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C67350-D22B-4737-AD21-497DAF82B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1A18BA-5CC8-4881-AA56-509493DDD1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ED9BB5-A475-4FF7-B045-99A44551EA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734482D-6D95-4BEF-8B07-79B0E5062C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4646D7-A2F6-4F5A-B19B-144623428D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ACD4F91-8754-4E57-88C5-E9A7E6213B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B59A79-AABA-4A9A-9265-757C83B21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D49A52F-41A4-41A5-8EA0-7A7E73F35F2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7FE513F-3EDF-4308-BF92-02E1821724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317F796-C774-44D6-AF8E-13AAD48FBF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9F5483B-C2F9-4504-AFEE-3575939E2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A8812D-F8BE-4E08-A0E9-C28AF3271B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8EFA77-47F6-4276-B898-2EF396950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37069E-4999-4DDE-846B-760BA3B99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B40B0F-F760-42A5-9343-4BB8A34B10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025BC5-1B42-4CFC-BAC0-D67D3FC68E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14D0FA-FA07-4169-A058-58C705FF00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AA166EF-2FFA-401C-B9C8-7400A674B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8747A5-8C99-41B4-BB22-365F8B4DD3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2B9939-91C6-4F81-B14D-B7F5C0BF94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3F5F1A-7DB5-4354-87C4-1B6449A5AF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3C5749-7FFA-4079-A21D-120E34D42A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b04a61ec8e4cef" /><Relationship Type="http://schemas.openxmlformats.org/officeDocument/2006/relationships/slideLayout" Target="/ppt/slideLayouts/slideLayout1.xml" Id="R86277e0dcf4643d8" /><Relationship Type="http://schemas.openxmlformats.org/officeDocument/2006/relationships/slideLayout" Target="/ppt/slideLayouts/slideLayout2.xml" Id="Rb6e4ea18270e4912" /><Relationship Type="http://schemas.openxmlformats.org/officeDocument/2006/relationships/slideLayout" Target="/ppt/slideLayouts/slideLayout3.xml" Id="R70012afc37fe46b8" /><Relationship Type="http://schemas.openxmlformats.org/officeDocument/2006/relationships/slideLayout" Target="/ppt/slideLayouts/slideLayout4.xml" Id="Rde41c496956e48ca" /><Relationship Type="http://schemas.openxmlformats.org/officeDocument/2006/relationships/slideLayout" Target="/ppt/slideLayouts/slideLayout5.xml" Id="R80a48f07e79447e6" /><Relationship Type="http://schemas.openxmlformats.org/officeDocument/2006/relationships/slideLayout" Target="/ppt/slideLayouts/slideLayout6.xml" Id="R9b3572fca82f4ef6" /><Relationship Type="http://schemas.openxmlformats.org/officeDocument/2006/relationships/slideLayout" Target="/ppt/slideLayouts/slideLayout7.xml" Id="R88880eed935941f3" /><Relationship Type="http://schemas.openxmlformats.org/officeDocument/2006/relationships/slideLayout" Target="/ppt/slideLayouts/slideLayout8.xml" Id="R40dbbf75352142a8" /><Relationship Type="http://schemas.openxmlformats.org/officeDocument/2006/relationships/slideLayout" Target="/ppt/slideLayouts/slideLayout9.xml" Id="R46d52a3f9b5c48a8" /><Relationship Type="http://schemas.openxmlformats.org/officeDocument/2006/relationships/slideLayout" Target="/ppt/slideLayouts/slideLayout10.xml" Id="R45c4e69d7a614d85" /><Relationship Type="http://schemas.openxmlformats.org/officeDocument/2006/relationships/slideLayout" Target="/ppt/slideLayouts/slideLayout11.xml" Id="R7d86cbf7efbe4b5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8027123-9D9B-49C4-BA08-719D7746B6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ED705A-CF23-4326-915A-996D8D4F26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2A025C-6327-4E30-8100-BF34B03CC6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9A9B48-5060-4CA4-B9D0-80C4BA085F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BF14CB-8339-4147-9A76-9BF5187406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277e0dcf4643d8"/>
    <p:sldLayoutId xmlns:r="http://schemas.openxmlformats.org/officeDocument/2006/relationships" id="2147483650" r:id="Rb6e4ea18270e4912"/>
    <p:sldLayoutId xmlns:r="http://schemas.openxmlformats.org/officeDocument/2006/relationships" id="2147483651" r:id="R70012afc37fe46b8"/>
    <p:sldLayoutId xmlns:r="http://schemas.openxmlformats.org/officeDocument/2006/relationships" id="2147483652" r:id="Rde41c496956e48ca"/>
    <p:sldLayoutId xmlns:r="http://schemas.openxmlformats.org/officeDocument/2006/relationships" id="2147483653" r:id="R80a48f07e79447e6"/>
    <p:sldLayoutId xmlns:r="http://schemas.openxmlformats.org/officeDocument/2006/relationships" id="2147483654" r:id="R9b3572fca82f4ef6"/>
    <p:sldLayoutId xmlns:r="http://schemas.openxmlformats.org/officeDocument/2006/relationships" id="2147483655" r:id="R88880eed935941f3"/>
    <p:sldLayoutId xmlns:r="http://schemas.openxmlformats.org/officeDocument/2006/relationships" id="2147483656" r:id="R40dbbf75352142a8"/>
    <p:sldLayoutId xmlns:r="http://schemas.openxmlformats.org/officeDocument/2006/relationships" id="2147483657" r:id="R46d52a3f9b5c48a8"/>
    <p:sldLayoutId xmlns:r="http://schemas.openxmlformats.org/officeDocument/2006/relationships" id="2147483658" r:id="R45c4e69d7a614d85"/>
    <p:sldLayoutId xmlns:r="http://schemas.openxmlformats.org/officeDocument/2006/relationships" id="2147483659" r:id="R7d86cbf7efbe4b5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de42f04a8d4ff6" /><Relationship Type="http://schemas.openxmlformats.org/officeDocument/2006/relationships/image" Target="/ppt/media/image.jpeg" Id="Rc0b4347e11b645d5" /><Relationship Type="http://schemas.openxmlformats.org/officeDocument/2006/relationships/image" Target="/ppt/media/image.png" Id="Rcf8e86e66d844c1f" /><Relationship Type="http://schemas.openxmlformats.org/officeDocument/2006/relationships/image" Target="/ppt/media/image.svg" Id="R0a17a32c0f35451a" /><Relationship Type="http://schemas.openxmlformats.org/officeDocument/2006/relationships/image" Target="/ppt/media/image2.png" Id="R058eb70313754106" /><Relationship Type="http://schemas.openxmlformats.org/officeDocument/2006/relationships/image" Target="/ppt/media/image3.png" Id="R91f1f9afa7164289" /><Relationship Type="http://schemas.openxmlformats.org/officeDocument/2006/relationships/notesSlide" Target="/ppt/notesSlides/notesSlide1.xml" Id="Rde481df6a7f946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52724d0aec4353" /><Relationship Type="http://schemas.openxmlformats.org/officeDocument/2006/relationships/image" Target="/ppt/media/image.jpeg" Id="R6d58577e4d8145c7" /><Relationship Type="http://schemas.openxmlformats.org/officeDocument/2006/relationships/image" Target="/ppt/media/image.png" Id="Rf4c4938bd930482e" /><Relationship Type="http://schemas.openxmlformats.org/officeDocument/2006/relationships/image" Target="/ppt/media/image.svg" Id="Rd950ea4e346d49b3" /><Relationship Type="http://schemas.openxmlformats.org/officeDocument/2006/relationships/image" Target="/ppt/media/image4.png" Id="Ra3c1474046f743e3" /><Relationship Type="http://schemas.openxmlformats.org/officeDocument/2006/relationships/notesSlide" Target="/ppt/notesSlides/notesSlide2.xml" Id="R2a13683e88a543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3587cfa8de4d69" /><Relationship Type="http://schemas.openxmlformats.org/officeDocument/2006/relationships/image" Target="/ppt/media/image.jpeg" Id="Rad6290ca0a55487d" /><Relationship Type="http://schemas.openxmlformats.org/officeDocument/2006/relationships/image" Target="/ppt/media/image.png" Id="Ra32740683c1a4ed1" /><Relationship Type="http://schemas.openxmlformats.org/officeDocument/2006/relationships/image" Target="/ppt/media/image.svg" Id="Rc1bb5b7a8b734f65" /><Relationship Type="http://schemas.openxmlformats.org/officeDocument/2006/relationships/image" Target="/ppt/media/image4.png" Id="R027e70e057f64ac5" /><Relationship Type="http://schemas.openxmlformats.org/officeDocument/2006/relationships/notesSlide" Target="/ppt/notesSlides/notesSlide3.xml" Id="R3d4a3b33456642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f7b8f4e9ca484a" /><Relationship Type="http://schemas.openxmlformats.org/officeDocument/2006/relationships/image" Target="/ppt/media/image.jpeg" Id="R1ea07762f22a4e94" /><Relationship Type="http://schemas.openxmlformats.org/officeDocument/2006/relationships/image" Target="/ppt/media/image4.png" Id="R59e9d7a92be84e0e" /><Relationship Type="http://schemas.openxmlformats.org/officeDocument/2006/relationships/image" Target="/ppt/media/image.png" Id="R17799136dd164fc2" /><Relationship Type="http://schemas.openxmlformats.org/officeDocument/2006/relationships/image" Target="/ppt/media/image.svg" Id="Rca0f15becab249ff" /><Relationship Type="http://schemas.openxmlformats.org/officeDocument/2006/relationships/image" Target="/ppt/media/image5.png" Id="R073362be0de94284" /><Relationship Type="http://schemas.openxmlformats.org/officeDocument/2006/relationships/notesSlide" Target="/ppt/notesSlides/notesSlide4.xml" Id="Rae4ec554cf7f4a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9dd84fb85e4900" /><Relationship Type="http://schemas.openxmlformats.org/officeDocument/2006/relationships/image" Target="/ppt/media/image.jpeg" Id="R1bacf616a9b248cd" /><Relationship Type="http://schemas.openxmlformats.org/officeDocument/2006/relationships/image" Target="/ppt/media/image4.png" Id="R49d6967c24f94eb1" /><Relationship Type="http://schemas.openxmlformats.org/officeDocument/2006/relationships/image" Target="/ppt/media/image.png" Id="R78c683d8201d4e3d" /><Relationship Type="http://schemas.openxmlformats.org/officeDocument/2006/relationships/image" Target="/ppt/media/image.svg" Id="R185b070b6e584900" /><Relationship Type="http://schemas.openxmlformats.org/officeDocument/2006/relationships/image" Target="/ppt/media/image6.png" Id="R7ad7265d7b5141d9" /><Relationship Type="http://schemas.openxmlformats.org/officeDocument/2006/relationships/notesSlide" Target="/ppt/notesSlides/notesSlide5.xml" Id="Rb10a3f89db734b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1f559d469c4e7d" /><Relationship Type="http://schemas.openxmlformats.org/officeDocument/2006/relationships/image" Target="/ppt/media/image.jpeg" Id="R805aec13e537454f" /><Relationship Type="http://schemas.openxmlformats.org/officeDocument/2006/relationships/image" Target="/ppt/media/image4.png" Id="R88d8c1804b004787" /><Relationship Type="http://schemas.openxmlformats.org/officeDocument/2006/relationships/image" Target="/ppt/media/image.png" Id="Ree65a4b95c1a4df3" /><Relationship Type="http://schemas.openxmlformats.org/officeDocument/2006/relationships/image" Target="/ppt/media/image.svg" Id="Rcce568ef5e7a47a4" /><Relationship Type="http://schemas.openxmlformats.org/officeDocument/2006/relationships/notesSlide" Target="/ppt/notesSlides/notesSlide6.xml" Id="R2aee997b5e1940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cc79143aea4b22" /><Relationship Type="http://schemas.openxmlformats.org/officeDocument/2006/relationships/image" Target="/ppt/media/image.jpeg" Id="Rb6aa8e2430194a7f" /><Relationship Type="http://schemas.openxmlformats.org/officeDocument/2006/relationships/image" Target="/ppt/media/image4.png" Id="Rc2e0ee1c7f144ba9" /><Relationship Type="http://schemas.openxmlformats.org/officeDocument/2006/relationships/image" Target="/ppt/media/image.png" Id="R1d6205247c95467c" /><Relationship Type="http://schemas.openxmlformats.org/officeDocument/2006/relationships/image" Target="/ppt/media/image.svg" Id="R6aa3a05f9ff84b4e" /><Relationship Type="http://schemas.openxmlformats.org/officeDocument/2006/relationships/notesSlide" Target="/ppt/notesSlides/notesSlide7.xml" Id="R7e1a24acf6f94d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96178da2304291" /><Relationship Type="http://schemas.openxmlformats.org/officeDocument/2006/relationships/image" Target="/ppt/media/image.jpeg" Id="Re73b7a446f6e404b" /><Relationship Type="http://schemas.openxmlformats.org/officeDocument/2006/relationships/image" Target="/ppt/media/image4.png" Id="Rc42575de15e846ea" /><Relationship Type="http://schemas.openxmlformats.org/officeDocument/2006/relationships/image" Target="/ppt/media/image.png" Id="Rdb17e9de10a74e32" /><Relationship Type="http://schemas.openxmlformats.org/officeDocument/2006/relationships/image" Target="/ppt/media/image.svg" Id="R7be81371430f413a" /><Relationship Type="http://schemas.openxmlformats.org/officeDocument/2006/relationships/notesSlide" Target="/ppt/notesSlides/notesSlide8.xml" Id="R6896e48dc2994b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d58b53965f4df8" /><Relationship Type="http://schemas.openxmlformats.org/officeDocument/2006/relationships/image" Target="/ppt/media/image.jpeg" Id="Re28a50d447ad484e" /><Relationship Type="http://schemas.openxmlformats.org/officeDocument/2006/relationships/image" Target="/ppt/media/image4.png" Id="R8078f65072d845da" /><Relationship Type="http://schemas.openxmlformats.org/officeDocument/2006/relationships/image" Target="/ppt/media/image.png" Id="R7720f264be9f4405" /><Relationship Type="http://schemas.openxmlformats.org/officeDocument/2006/relationships/image" Target="/ppt/media/image.svg" Id="Rde916d1cd0d246b0" /><Relationship Type="http://schemas.openxmlformats.org/officeDocument/2006/relationships/notesSlide" Target="/ppt/notesSlides/notesSlide9.xml" Id="Rdfbd86dc21ec4d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33da4c3275425a" /><Relationship Type="http://schemas.openxmlformats.org/officeDocument/2006/relationships/image" Target="/ppt/media/image.jpeg" Id="R742070d22aae4e05" /><Relationship Type="http://schemas.openxmlformats.org/officeDocument/2006/relationships/image" Target="/ppt/media/image4.png" Id="R92b408475d954fe7" /><Relationship Type="http://schemas.openxmlformats.org/officeDocument/2006/relationships/image" Target="/ppt/media/image.png" Id="R695938e4efe4472c" /><Relationship Type="http://schemas.openxmlformats.org/officeDocument/2006/relationships/image" Target="/ppt/media/image.svg" Id="Ra2acb43b0845469b" /><Relationship Type="http://schemas.openxmlformats.org/officeDocument/2006/relationships/chart" Target="/ppt/slides/charts/chart1.xml" Id="R3c803ca83d094453" /><Relationship Type="http://schemas.openxmlformats.org/officeDocument/2006/relationships/chart" Target="/ppt/slides/charts/chart2.xml" Id="R3830b0c8757249a9" /><Relationship Type="http://schemas.openxmlformats.org/officeDocument/2006/relationships/notesSlide" Target="/ppt/notesSlides/notesSlide10.xml" Id="R44273ffb07f745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295cbf26ee4c81" /><Relationship Type="http://schemas.openxmlformats.org/officeDocument/2006/relationships/image" Target="/ppt/media/image.jpeg" Id="Rfa0a9fef49334536" /><Relationship Type="http://schemas.openxmlformats.org/officeDocument/2006/relationships/image" Target="/ppt/media/image4.png" Id="R4d0c56c66b2d46b1" /><Relationship Type="http://schemas.openxmlformats.org/officeDocument/2006/relationships/image" Target="/ppt/media/image.png" Id="R684172871d3e4d5c" /><Relationship Type="http://schemas.openxmlformats.org/officeDocument/2006/relationships/image" Target="/ppt/media/image.svg" Id="R48fbcb075b4c4228" /><Relationship Type="http://schemas.openxmlformats.org/officeDocument/2006/relationships/chart" Target="/ppt/slides/charts/chart3.xml" Id="R54e1429518d74837" /><Relationship Type="http://schemas.openxmlformats.org/officeDocument/2006/relationships/notesSlide" Target="/ppt/notesSlides/notesSlide11.xml" Id="R53244cbf2dc248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3b6696bca44247" /><Relationship Type="http://schemas.openxmlformats.org/officeDocument/2006/relationships/image" Target="/ppt/media/image.jpeg" Id="Re16fb6c3fe054ef3" /><Relationship Type="http://schemas.openxmlformats.org/officeDocument/2006/relationships/image" Target="/ppt/media/image4.png" Id="R6827dc6de8744abf" /><Relationship Type="http://schemas.openxmlformats.org/officeDocument/2006/relationships/notesSlide" Target="/ppt/notesSlides/notesSlide12.xml" Id="R51b776c8dd1049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e074b100f246fd" /><Relationship Type="http://schemas.openxmlformats.org/officeDocument/2006/relationships/image" Target="/ppt/media/image.jpeg" Id="Rffd85babd155431c" /><Relationship Type="http://schemas.openxmlformats.org/officeDocument/2006/relationships/image" Target="/ppt/media/image4.png" Id="R4952a0b851534a24" /><Relationship Type="http://schemas.openxmlformats.org/officeDocument/2006/relationships/notesSlide" Target="/ppt/notesSlides/notesSlide13.xml" Id="R2929bc0b55fe48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59c1f329714406" /><Relationship Type="http://schemas.openxmlformats.org/officeDocument/2006/relationships/image" Target="/ppt/media/image.jpeg" Id="R23b8073343dc4d4e" /><Relationship Type="http://schemas.openxmlformats.org/officeDocument/2006/relationships/image" Target="/ppt/media/image4.png" Id="Rc54888d5909542ed" /><Relationship Type="http://schemas.openxmlformats.org/officeDocument/2006/relationships/image" Target="/ppt/media/image7.png" Id="Rb8c34b6ed9154941" /><Relationship Type="http://schemas.openxmlformats.org/officeDocument/2006/relationships/notesSlide" Target="/ppt/notesSlides/notesSlide14.xml" Id="Rfc5fe7b85bf841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7d029edd2f4a93" /><Relationship Type="http://schemas.openxmlformats.org/officeDocument/2006/relationships/image" Target="/ppt/media/image.jpeg" Id="R22a8eff4e05b4003" /><Relationship Type="http://schemas.openxmlformats.org/officeDocument/2006/relationships/image" Target="/ppt/media/image4.png" Id="Re2c8dcafdd244e8a" /><Relationship Type="http://schemas.openxmlformats.org/officeDocument/2006/relationships/image" Target="/ppt/media/image8.png" Id="R2fab50d5cb2d4f85" /><Relationship Type="http://schemas.openxmlformats.org/officeDocument/2006/relationships/notesSlide" Target="/ppt/notesSlides/notesSlide15.xml" Id="R1b23172d6086485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Blocked %</c:v>
          </c:tx>
          <c:spPr>
            <a:solidFill xmlns:a="http://schemas.openxmlformats.org/drawingml/2006/main">
              <a:srgbClr val="A280E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P0</c:v>
                </c:pt>
                <c:pt idx="1">
                  <c:v>P2 8m</c:v>
                </c:pt>
                <c:pt idx="2">
                  <c:v>P4 8m</c:v>
                </c:pt>
                <c:pt idx="3">
                  <c:v>P4 12m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12.220632</c:v>
                </c:pt>
                <c:pt idx="1">
                  <c:v>7.60904</c:v>
                </c:pt>
                <c:pt idx="2">
                  <c:v>0.950505</c:v>
                </c:pt>
                <c:pt idx="3">
                  <c:v>0.710506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280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F3B5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>
                    <a:solidFill>
                      <a:srgbClr val="F6E0F5"/>
                    </a:solidFill>
                    <a:latin typeface="Microsoft JhengHei"/>
                    <a:ea typeface="Microsoft JhengHei"/>
                    <a:cs typeface="Microsoft JhengHei"/>
                  </a:rPr>
                  <a:t>Blocked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Q-Time min</c:v>
          </c:tx>
          <c:spPr>
            <a:solidFill xmlns:a="http://schemas.openxmlformats.org/drawingml/2006/main">
              <a:srgbClr val="DF96D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P0</c:v>
                </c:pt>
                <c:pt idx="1">
                  <c:v>P2 8m</c:v>
                </c:pt>
                <c:pt idx="2">
                  <c:v>P4 8m</c:v>
                </c:pt>
                <c:pt idx="3">
                  <c:v>P4 12m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19.71403</c:v>
                </c:pt>
                <c:pt idx="1">
                  <c:v>18.184648</c:v>
                </c:pt>
                <c:pt idx="2">
                  <c:v>5.515898</c:v>
                </c:pt>
                <c:pt idx="3">
                  <c:v>5.013653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280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F3B5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>
                    <a:solidFill>
                      <a:srgbClr val="F6E0F5"/>
                    </a:solidFill>
                    <a:latin typeface="Microsoft JhengHei"/>
                    <a:ea typeface="Microsoft JhengHei"/>
                    <a:cs typeface="Microsoft JhengHei"/>
                  </a:rPr>
                  <a:t>Q-Time min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P2 只加緩衝</c:v>
          </c:tx>
          <c:spPr>
            <a:ln xmlns:a="http://schemas.openxmlformats.org/drawingml/2006/main" w="38100">
              <a:solidFill>
                <a:srgbClr val="A280EC"/>
              </a:solidFill>
            </a:ln>
          </c:spPr>
          <c:marker>
            <c:symbol val="circle"/>
            <c:size val="10"/>
          </c:marker>
          <c:cat>
            <c:strRef>
              <c:f>'Chart Data'!$A$2:$A$7</c:f>
              <c:strCache>
                <c:ptCount val="6"/>
                <c:pt idx="0">
                  <c:v>0m</c:v>
                </c:pt>
                <c:pt idx="1">
                  <c:v>4m</c:v>
                </c:pt>
                <c:pt idx="2">
                  <c:v>8m</c:v>
                </c:pt>
                <c:pt idx="3">
                  <c:v>12m</c:v>
                </c:pt>
                <c:pt idx="4">
                  <c:v>16m</c:v>
                </c:pt>
                <c:pt idx="5">
                  <c:v>24m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13.226748</c:v>
                </c:pt>
                <c:pt idx="1">
                  <c:v>10.262074</c:v>
                </c:pt>
                <c:pt idx="2">
                  <c:v>7.60904</c:v>
                </c:pt>
                <c:pt idx="3">
                  <c:v>5.3243</c:v>
                </c:pt>
                <c:pt idx="4">
                  <c:v>3.8886</c:v>
                </c:pt>
                <c:pt idx="5">
                  <c:v>1.968272</c:v>
                </c:pt>
              </c:numCache>
            </c:numRef>
          </c:val>
          <c:smooth val="0"/>
        </c:ser>
        <c:ser>
          <c:idx val="1"/>
          <c:order val="1"/>
          <c:tx>
            <c:v>P4 智慧緩衝＋調派</c:v>
          </c:tx>
          <c:spPr>
            <a:ln xmlns:a="http://schemas.openxmlformats.org/drawingml/2006/main" w="38100">
              <a:solidFill>
                <a:srgbClr val="DF96DA"/>
              </a:solidFill>
            </a:ln>
          </c:spPr>
          <c:marker>
            <c:symbol val="circle"/>
            <c:size val="10"/>
          </c:marker>
          <c:cat>
            <c:strRef>
              <c:f>'Chart Data'!$C$2:$C$7</c:f>
              <c:strCache>
                <c:ptCount val="6"/>
                <c:pt idx="0">
                  <c:v>0m</c:v>
                </c:pt>
                <c:pt idx="1">
                  <c:v>4m</c:v>
                </c:pt>
                <c:pt idx="2">
                  <c:v>8m</c:v>
                </c:pt>
                <c:pt idx="3">
                  <c:v>12m</c:v>
                </c:pt>
                <c:pt idx="4">
                  <c:v>16m</c:v>
                </c:pt>
                <c:pt idx="5">
                  <c:v>24m</c:v>
                </c:pt>
              </c:strCache>
            </c:str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13.226748</c:v>
                </c:pt>
                <c:pt idx="1">
                  <c:v>1.228346</c:v>
                </c:pt>
                <c:pt idx="2">
                  <c:v>0.950505</c:v>
                </c:pt>
                <c:pt idx="3">
                  <c:v>0.710506</c:v>
                </c:pt>
                <c:pt idx="4">
                  <c:v>0.556819</c:v>
                </c:pt>
                <c:pt idx="5">
                  <c:v>0.312099</c:v>
                </c:pt>
              </c:numCache>
            </c:numRef>
          </c:val>
          <c:smooth val="0"/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280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F3B5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>
                    <a:solidFill>
                      <a:srgbClr val="F6E0F5"/>
                    </a:solidFill>
                    <a:latin typeface="Microsoft JhengHei"/>
                    <a:ea typeface="Microsoft JhengHei"/>
                    <a:cs typeface="Microsoft JhengHei"/>
                  </a:rPr>
                  <a:t>Blocked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F6E0F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F6E0F5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91A7D91-F9A3-49B7-ADB0-4537D354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b4347e11b645d5"/>
            <a:stretch>
              <a:fillRect l="-4156" t="0" r="-2479" b="-18484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9A1750B-6921-44B7-A70B-7AF630FD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404437" h="5655778">
                <a:moveTo>
                  <a:pt x="0" y="0"/>
                </a:moveTo>
                <a:lnTo>
                  <a:pt x="4404437" y="0"/>
                </a:lnTo>
                <a:lnTo>
                  <a:pt x="4404437" y="5655778"/>
                </a:lnTo>
                <a:lnTo>
                  <a:pt x="0" y="565577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4EC17F7-D47D-47FF-A545-F2745EE3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3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27D869A-E813-436B-8C10-F90C310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3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8599822-78FE-4FFC-B44C-7CA5EA65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998318" y="9036632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8e86e66d844c1f">
              <a:extLst>
                <a:ext uri="{96DAC541-7B7A-43D3-8B79-37D633B846F1}">
                  <asvg:svgBlip xmlns:asvg="http://schemas.microsoft.com/office/drawing/2016/SVG/main" r:embed="R0a17a32c0f35451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26B828B-94F8-45DA-BEBD-8358D95E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1518" y="9036632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8e86e66d844c1f">
              <a:extLst>
                <a:ext uri="{96DAC541-7B7A-43D3-8B79-37D633B846F1}">
                  <asvg:svgBlip xmlns:asvg="http://schemas.microsoft.com/office/drawing/2016/SVG/main" r:embed="R0a17a32c0f35451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DEBABE3-CF34-456B-A012-BF7AE057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2613" y="3188938"/>
            <a:ext cx="12002775" cy="252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9900"/>
              </a:lnSpc>
              <a:spcBef>
                <a:spcPct val="0"/>
              </a:spcBef>
              <a:buNone/>
            </a:pPr>
            <a:r>
              <a:rPr sz="14214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A689153-4591-42F5-9440-481096D1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3898" y="5373864"/>
            <a:ext cx="6648304" cy="473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27"/>
              </a:lnSpc>
              <a:spcBef>
                <a:spcPct val="0"/>
              </a:spcBef>
              <a:buNone/>
            </a:pPr>
            <a:r>
              <a:rPr sz="2662" spc="2130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74F5CCB-8137-408B-81A6-A8A948B5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FE37ED8-13D4-4771-9EBA-7B826D05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459" y="9210675"/>
            <a:ext cx="1131703" cy="4079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12"/>
              </a:lnSpc>
              <a:spcBef>
                <a:spcPct val="0"/>
              </a:spcBef>
              <a:buNone/>
            </a:pPr>
            <a:r>
              <a:rPr sz="2294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90FD416-762F-4A94-86C8-2BACEA4E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84997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404437" h="5655778">
                <a:moveTo>
                  <a:pt x="0" y="0"/>
                </a:moveTo>
                <a:lnTo>
                  <a:pt x="4404437" y="0"/>
                </a:lnTo>
                <a:lnTo>
                  <a:pt x="4404437" y="5655777"/>
                </a:lnTo>
                <a:lnTo>
                  <a:pt x="0" y="56557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48DCE91-12FA-444D-AE02-31EAB5B1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01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F234E-28C2-448F-8439-11A877911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eb70313754106"/>
          <a:srcRect xmlns:a="http://schemas.openxmlformats.org/drawingml/2006/main" l="0" t="15880" r="23187" b="0"/>
          <a:stretch xmlns:a="http://schemas.openxmlformats.org/drawingml/2006/main"/>
        </p:blipFill>
        <p:spPr>
          <a:xfrm xmlns:a="http://schemas.openxmlformats.org/drawingml/2006/main">
            <a:off x="14904815" y="0"/>
            <a:ext cx="3383185" cy="4757642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E073D-3AC2-4633-9F20-AA44E2E3ED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1f9afa7164289"/>
          <a:srcRect xmlns:a="http://schemas.openxmlformats.org/drawingml/2006/main" l="13490" t="35208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810286" cy="3664458"/>
          </a:xfrm>
          <a:prstGeom xmlns:a="http://schemas.openxmlformats.org/drawingml/2006/main" prst="rect">
            <a:avLst/>
          </a:prstGeom>
        </p:spPr>
      </p:pic>
      <p:sp>
        <p:nvSpPr>
          <p:cNvPr id="17" name="內容_1_循環箱逆向物流">
            <a:extLst xmlns:a="http://schemas.openxmlformats.org/drawingml/2006/main">
              <a:ext uri="{FF2B5EF4-FFF2-40B4-BE49-F238E27FC236}">
                <a16:creationId xmlns:a16="http://schemas.microsoft.com/office/drawing/2014/main" id="{886518F4-6132-4CC9-AE23-9260E7BA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1314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循環箱逆向物流</a:t>
            </a:r>
          </a:p>
        </p:txBody>
      </p:sp>
      <p:sp>
        <p:nvSpPr>
          <p:cNvPr id="18" name="內容_1_原生數位分身與處方實測">
            <a:extLst xmlns:a="http://schemas.openxmlformats.org/drawingml/2006/main">
              <a:ext uri="{FF2B5EF4-FFF2-40B4-BE49-F238E27FC236}">
                <a16:creationId xmlns:a16="http://schemas.microsoft.com/office/drawing/2014/main" id="{CC224338-6023-4DD3-BBC9-E12FBE98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0125"/>
            <a:ext cx="1238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原生數位分身與處方實測</a:t>
            </a:r>
          </a:p>
        </p:txBody>
      </p:sp>
      <p:sp>
        <p:nvSpPr>
          <p:cNvPr id="19" name="內容_1_雙層輸送網・五人作業・500">
            <a:extLst xmlns:a="http://schemas.openxmlformats.org/drawingml/2006/main">
              <a:ext uri="{FF2B5EF4-FFF2-40B4-BE49-F238E27FC236}">
                <a16:creationId xmlns:a16="http://schemas.microsoft.com/office/drawing/2014/main" id="{D762B3AE-8073-4553-92AB-D23585FB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29325"/>
            <a:ext cx="1190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雙層輸送網・五人作業・500 箱資產池</a:t>
            </a:r>
          </a:p>
        </p:txBody>
      </p:sp>
      <p:sp>
        <p:nvSpPr>
          <p:cNvPr id="20" name="內容_1_2026.10.29　循環物">
            <a:extLst xmlns:a="http://schemas.openxmlformats.org/drawingml/2006/main">
              <a:ext uri="{FF2B5EF4-FFF2-40B4-BE49-F238E27FC236}">
                <a16:creationId xmlns:a16="http://schemas.microsoft.com/office/drawing/2014/main" id="{558FAA85-5985-4245-9007-EB46D8C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1440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2026.10.29　循環物流數位分身實測</a:t>
            </a:r>
          </a:p>
        </p:txBody>
      </p:sp>
    </p:spTree>
    <p:extLst>
      <p:ext uri="{BB962C8B-B14F-4D97-AF65-F5344CB8AC3E}">
        <p14:creationId xmlns:p14="http://schemas.microsoft.com/office/powerpoint/2010/main" val="13254452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90BCA13-AC99-45A2-8E2E-6790225B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d58577e4d8145c7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EBC794A-20A8-40C9-9821-BE3E2041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1E45F60-35C8-4DA9-8280-7AE045E7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C05442A-11FF-4F3C-929D-58EC111B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B04FFC3F-EA66-4EF1-9B1F-1FA59B6A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c4938bd930482e">
              <a:extLst>
                <a:ext uri="{96DAC541-7B7A-43D3-8B79-37D633B846F1}">
                  <asvg:svgBlip xmlns:asvg="http://schemas.microsoft.com/office/drawing/2016/SVG/main" r:embed="Rd950ea4e346d49b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B42A5E4-0788-4531-BC98-5ADF1B08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c4938bd930482e">
              <a:extLst>
                <a:ext uri="{96DAC541-7B7A-43D3-8B79-37D633B846F1}">
                  <asvg:svgBlip xmlns:asvg="http://schemas.microsoft.com/office/drawing/2016/SVG/main" r:embed="Rd950ea4e346d49b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06EAC32-E610-4E15-862E-9D893EC6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827" y="3081466"/>
            <a:ext cx="1193201" cy="945883"/>
          </a:xfrm>
          <a:custGeom xmlns:a="http://schemas.openxmlformats.org/drawingml/2006/main">
            <a:rect l="l" t="t" r="r" b="b"/>
            <a:pathLst>
              <a:path w="1193201" h="945883">
                <a:moveTo>
                  <a:pt x="0" y="0"/>
                </a:moveTo>
                <a:lnTo>
                  <a:pt x="1193202" y="0"/>
                </a:lnTo>
                <a:lnTo>
                  <a:pt x="1193202" y="945884"/>
                </a:lnTo>
                <a:lnTo>
                  <a:pt x="0" y="9458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F27882F-7488-48B8-B679-BAED14E1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3c1474046f743e3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2DF2EF-051C-4D41-8A8E-ECAC6B6D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A855F12-9D87-449D-8D13-607D9FD0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6147" y="2929066"/>
            <a:ext cx="62957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2BABCE9-85F3-4676-BA9E-4EBFF68C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6147" y="4411178"/>
            <a:ext cx="9037377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236E033-2069-411E-8792-4B8FE6E9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406612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02</a:t>
            </a:r>
          </a:p>
        </p:txBody>
      </p:sp>
      <p:sp>
        <p:nvSpPr>
          <p:cNvPr id="15" name="內容_2_商業洞察">
            <a:extLst xmlns:a="http://schemas.openxmlformats.org/drawingml/2006/main">
              <a:ext uri="{FF2B5EF4-FFF2-40B4-BE49-F238E27FC236}">
                <a16:creationId xmlns:a16="http://schemas.microsoft.com/office/drawing/2014/main" id="{60886C27-E957-45B2-AD9F-F6058098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商業洞察</a:t>
            </a:r>
          </a:p>
        </p:txBody>
      </p:sp>
      <p:sp>
        <p:nvSpPr>
          <p:cNvPr id="16" name="內容_2_退貨商品與空箱互相牽制">
            <a:extLst xmlns:a="http://schemas.openxmlformats.org/drawingml/2006/main">
              <a:ext uri="{FF2B5EF4-FFF2-40B4-BE49-F238E27FC236}">
                <a16:creationId xmlns:a16="http://schemas.microsoft.com/office/drawing/2014/main" id="{67EBBE65-6116-4B8C-BD92-D20C8A6E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退貨商品與空箱互相牽制</a:t>
            </a:r>
          </a:p>
        </p:txBody>
      </p:sp>
      <p:sp>
        <p:nvSpPr>
          <p:cNvPr id="17" name="內容_2_30%–40%">
            <a:extLst xmlns:a="http://schemas.openxmlformats.org/drawingml/2006/main">
              <a:ext uri="{FF2B5EF4-FFF2-40B4-BE49-F238E27FC236}">
                <a16:creationId xmlns:a16="http://schemas.microsoft.com/office/drawing/2014/main" id="{43F0ECCA-F7A7-4E34-841E-F0E4822F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72000"/>
            <a:ext cx="714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4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30%–40%</a:t>
            </a:r>
          </a:p>
        </p:txBody>
      </p:sp>
      <p:sp>
        <p:nvSpPr>
          <p:cNvPr id="18" name="內容_2_課程設定的退貨率">
            <a:extLst xmlns:a="http://schemas.openxmlformats.org/drawingml/2006/main">
              <a:ext uri="{FF2B5EF4-FFF2-40B4-BE49-F238E27FC236}">
                <a16:creationId xmlns:a16="http://schemas.microsoft.com/office/drawing/2014/main" id="{41B3B411-B06D-4A03-9417-F52B8772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課程設定的退貨率</a:t>
            </a:r>
          </a:p>
        </p:txBody>
      </p:sp>
      <p:sp>
        <p:nvSpPr>
          <p:cNvPr id="19" name="內容_2_短波尖峰：3波 × 20分鐘">
            <a:extLst xmlns:a="http://schemas.openxmlformats.org/drawingml/2006/main">
              <a:ext uri="{FF2B5EF4-FFF2-40B4-BE49-F238E27FC236}">
                <a16:creationId xmlns:a16="http://schemas.microsoft.com/office/drawing/2014/main" id="{4574CF85-266D-47B4-8075-5EE708E9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24375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短波尖峰：3波 × 20分鐘。</a:t>
            </a:r>
          </a:p>
          <a:p xmlns:a="http://schemas.openxmlformats.org/drawingml/2006/main">
            <a: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210/h是60/h的3.5倍，增加250%。</a:t>
            </a:r>
          </a:p>
          <a:p xmlns:a="http://schemas.openxmlformats.org/drawingml/2006/main">
            <a:pPr>
              <a:def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六日總量約1.43倍，不是全日超載。</a:t>
            </a:r>
          </a:p>
        </p:txBody>
      </p:sp>
      <p:sp>
        <p:nvSpPr>
          <p:cNvPr id="20" name="內容_2_主DOE超24h及貶值損失皆">
            <a:extLst xmlns:a="http://schemas.openxmlformats.org/drawingml/2006/main">
              <a:ext uri="{FF2B5EF4-FFF2-40B4-BE49-F238E27FC236}">
                <a16:creationId xmlns:a16="http://schemas.microsoft.com/office/drawing/2014/main" id="{01B5CE09-A94E-41BA-A685-245ABF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主DOE超24h及貶值損失皆0；持續300/h七日另有11925件超24h，不混入主DOE收益。</a:t>
            </a:r>
          </a:p>
        </p:txBody>
      </p:sp>
    </p:spTree>
    <p:extLst>
      <p:ext uri="{BB962C8B-B14F-4D97-AF65-F5344CB8AC3E}">
        <p14:creationId xmlns:p14="http://schemas.microsoft.com/office/powerpoint/2010/main" val="13868355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F5F12B7-5CA2-4312-8617-779950F3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6290ca0a55487d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0E53848-7DAE-40A8-BC07-8C7418A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52BF0CA-C725-4E0A-AFD1-C3375564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3660F00-9704-46AF-AE62-C1CDFEC4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29600" h="8229600">
                <a:moveTo>
                  <a:pt x="8229600" y="0"/>
                </a:moveTo>
                <a:lnTo>
                  <a:pt x="0" y="0"/>
                </a:lnTo>
                <a:lnTo>
                  <a:pt x="0" y="8229600"/>
                </a:lnTo>
                <a:lnTo>
                  <a:pt x="8229600" y="8229600"/>
                </a:lnTo>
                <a:lnTo>
                  <a:pt x="82296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950E8C4-D71A-4A38-886B-61CEE3A6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32740683c1a4ed1">
              <a:extLst>
                <a:ext uri="{96DAC541-7B7A-43D3-8B79-37D633B846F1}">
                  <asvg:svgBlip xmlns:asvg="http://schemas.microsoft.com/office/drawing/2016/SVG/main" r:embed="Rc1bb5b7a8b734f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0CA9B1B-C715-426E-BCB1-45BEA997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32740683c1a4ed1">
              <a:extLst>
                <a:ext uri="{96DAC541-7B7A-43D3-8B79-37D633B846F1}">
                  <asvg:svgBlip xmlns:asvg="http://schemas.microsoft.com/office/drawing/2016/SVG/main" r:embed="Rc1bb5b7a8b734f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45650FF-48DA-4E1B-893C-42BCAC9B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27D11C-61E8-4F0E-AA00-A56A5479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6116" y="3171098"/>
            <a:ext cx="62957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64DD17-84A3-4E29-8FE0-74E5BCD9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5322" y="4730410"/>
            <a:ext cx="10408977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FEB0A02-3229-4417-85DF-24C6D2D9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1926" y="2209914"/>
            <a:ext cx="62957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E84B3A4-8419-4AD3-B565-F75FD78F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27e70e057f64ac5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921289-DF3E-43DE-B633-DD79A4E5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03</a:t>
            </a:r>
          </a:p>
        </p:txBody>
      </p:sp>
      <p:sp>
        <p:nvSpPr>
          <p:cNvPr id="15" name="內容_3_目標 KPI">
            <a:extLst xmlns:a="http://schemas.openxmlformats.org/drawingml/2006/main">
              <a:ext uri="{FF2B5EF4-FFF2-40B4-BE49-F238E27FC236}">
                <a16:creationId xmlns:a16="http://schemas.microsoft.com/office/drawing/2014/main" id="{C366B6E6-AF7E-4C38-8F49-DC2F909B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目標 KPI</a:t>
            </a:r>
          </a:p>
        </p:txBody>
      </p:sp>
      <p:sp>
        <p:nvSpPr>
          <p:cNvPr id="16" name="內容_3_課程目標逐項驗證">
            <a:extLst xmlns:a="http://schemas.openxmlformats.org/drawingml/2006/main">
              <a:ext uri="{FF2B5EF4-FFF2-40B4-BE49-F238E27FC236}">
                <a16:creationId xmlns:a16="http://schemas.microsoft.com/office/drawing/2014/main" id="{6F99BF63-A16C-45A4-A999-6F25CA32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課程目標逐項驗證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A3793-A8B7-4571-8499-0488882AAD68}"/>
              </a:ext>
            </a:extLst>
          </p:cNvPr>
          <p:cNvGraphicFramePr/>
          <p:nvPr/>
        </p:nvGraphicFramePr>
        <p:xfrm>
          <a:off xmlns:a="http://schemas.openxmlformats.org/drawingml/2006/main" x="1581150" y="4333875"/>
          <a:ext xmlns:a="http://schemas.openxmlformats.org/drawingml/2006/main" cx="1428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  <a:gridCol w="4762500"/>
              </a:tblGrid>
              <a:tr h="6858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指標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判定門檻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本案的計算界線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858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結案率保守下界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≥99.5%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1－期末退貨商品WIP／觀察期退貨量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858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Separator Blocked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&lt;1%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暖機後狀態時間／觀察時間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858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Q-Time 超 24 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外部到達至開始 QA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858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淨減碳／包材節約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42%達標／65%未達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25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12m：73.995%／39.173%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18" name="內容_3_原課程通過率混入商品、箱與外">
            <a:extLst xmlns:a="http://schemas.openxmlformats.org/drawingml/2006/main">
              <a:ext uri="{FF2B5EF4-FFF2-40B4-BE49-F238E27FC236}">
                <a16:creationId xmlns:a16="http://schemas.microsoft.com/office/drawing/2014/main" id="{8D87AA8E-3A50-46AF-91CD-80FCF8B3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原課程通過率混入商品、箱與外包事件，會超過100%；本案另列該值並使用商品口徑決策。</a:t>
            </a:r>
          </a:p>
        </p:txBody>
      </p:sp>
    </p:spTree>
    <p:extLst>
      <p:ext uri="{BB962C8B-B14F-4D97-AF65-F5344CB8AC3E}">
        <p14:creationId xmlns:p14="http://schemas.microsoft.com/office/powerpoint/2010/main" val="19586170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5043220-AA85-4102-8F13-78CC2137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ea07762f22a4e94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E5D1DF5-C410-439D-8915-1763F763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D930D7E-2BC1-4BBC-9C67-99A69FAD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E39D010-BB85-4E90-B056-F5CD5780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e9d7a92be84e0e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DE4EA0C-06EF-4FBC-91F7-FD93F0B5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7799136dd164fc2">
              <a:extLst>
                <a:ext uri="{96DAC541-7B7A-43D3-8B79-37D633B846F1}">
                  <asvg:svgBlip xmlns:asvg="http://schemas.microsoft.com/office/drawing/2016/SVG/main" r:embed="Rca0f15becab249f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F2B09F7-50C7-4A3E-9F16-543B16BE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7799136dd164fc2">
              <a:extLst>
                <a:ext uri="{96DAC541-7B7A-43D3-8B79-37D633B846F1}">
                  <asvg:svgBlip xmlns:asvg="http://schemas.microsoft.com/office/drawing/2016/SVG/main" r:embed="Rca0f15becab249f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8AD2BA0-D057-4EFD-A584-E7E78D55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91840" h="411480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16B355F-E4D8-454D-A738-98E7B0DC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3106500"/>
            <a:ext cx="1152525" cy="1152525"/>
          </a:xfrm>
          <a:custGeom xmlns:a="http://schemas.openxmlformats.org/drawingml/2006/main">
            <a:rect l="l" t="t" r="r" b="b"/>
            <a:pathLst>
              <a:path w="1152525" h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B6EF13-47C8-4D8B-A7C4-0F5BD5F7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E61205E-5458-4263-804F-7FD7780D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04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153A7A3-6D87-45A2-AC58-F9FADF9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0577" y="3323498"/>
            <a:ext cx="703871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D6DDB64-F42E-4AA3-AF6F-A11A0C2F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0577" y="2438514"/>
            <a:ext cx="62957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E7635F2-A703-4D93-97FE-A577BECF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0577" y="5143500"/>
            <a:ext cx="3415031" cy="766076"/>
          </a:xfrm>
          <a:custGeom xmlns:a="http://schemas.openxmlformats.org/drawingml/2006/main">
            <a:rect l="l" t="t" r="r" b="b"/>
            <a:pathLst>
              <a:path w="1811659" h="406400">
                <a:moveTo>
                  <a:pt x="1608459" y="0"/>
                </a:moveTo>
                <a:cubicBezTo>
                  <a:pt x="1720683" y="0"/>
                  <a:pt x="1811659" y="90976"/>
                  <a:pt x="1811659" y="203200"/>
                </a:cubicBezTo>
                <a:cubicBezTo>
                  <a:pt x="1811659" y="315424"/>
                  <a:pt x="1720683" y="406400"/>
                  <a:pt x="16084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363177D-C5C4-4274-B206-2D54F371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0577" y="5233274"/>
            <a:ext cx="3415031" cy="676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160FCEA-1073-41CB-8F28-50E464E0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1758" y="5347142"/>
            <a:ext cx="3123850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8C0B020-4CFC-44DC-ACD3-38263338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0438" y="5086350"/>
            <a:ext cx="7800718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C5728493-F66C-460C-BF2D-31734DC5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0577" y="6951600"/>
            <a:ext cx="4148386" cy="766076"/>
          </a:xfrm>
          <a:custGeom xmlns:a="http://schemas.openxmlformats.org/drawingml/2006/main">
            <a:rect l="l" t="t" r="r" b="b"/>
            <a:pathLst>
              <a:path w="2200700" h="406400">
                <a:moveTo>
                  <a:pt x="1997500" y="0"/>
                </a:moveTo>
                <a:cubicBezTo>
                  <a:pt x="2109724" y="0"/>
                  <a:pt x="2200700" y="90976"/>
                  <a:pt x="2200700" y="203200"/>
                </a:cubicBezTo>
                <a:cubicBezTo>
                  <a:pt x="2200700" y="315424"/>
                  <a:pt x="2109724" y="406400"/>
                  <a:pt x="19975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81E86D1-05CD-4234-A8E6-F57911A3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0577" y="7041374"/>
            <a:ext cx="4148385" cy="676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4534D92-394B-49E9-AD88-207A041C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1758" y="7155242"/>
            <a:ext cx="3714400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4E9F036-76F3-4360-A021-853A960A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0438" y="6894450"/>
            <a:ext cx="7800718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09157-9817-4B7E-8E07-497C2333C3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362be0de94284"/>
          <a:srcRect xmlns:a="http://schemas.openxmlformats.org/drawingml/2006/main" l="45370" t="1050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798320" cy="3682746"/>
          </a:xfrm>
          <a:prstGeom xmlns:a="http://schemas.openxmlformats.org/drawingml/2006/main" prst="rect">
            <a:avLst/>
          </a:prstGeom>
        </p:spPr>
      </p:pic>
      <p:sp>
        <p:nvSpPr>
          <p:cNvPr id="26" name="內容_4_雙閉環架構">
            <a:extLst xmlns:a="http://schemas.openxmlformats.org/drawingml/2006/main">
              <a:ext uri="{FF2B5EF4-FFF2-40B4-BE49-F238E27FC236}">
                <a16:creationId xmlns:a16="http://schemas.microsoft.com/office/drawing/2014/main" id="{977C447E-8544-4706-AE14-604C0C68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雙閉環架構</a:t>
            </a:r>
          </a:p>
        </p:txBody>
      </p:sp>
      <p:sp>
        <p:nvSpPr>
          <p:cNvPr id="27" name="內容_4_商品與循環箱分離後再配對">
            <a:extLst xmlns:a="http://schemas.openxmlformats.org/drawingml/2006/main">
              <a:ext uri="{FF2B5EF4-FFF2-40B4-BE49-F238E27FC236}">
                <a16:creationId xmlns:a16="http://schemas.microsoft.com/office/drawing/2014/main" id="{9F033498-8B46-4B85-8556-B8900544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商品與循環箱分離後再配對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00BA9E-AA4F-406C-9E43-BC2111EC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340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退貨入庫</a:t>
            </a:r>
          </a:p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拆包分離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2FFA5B-44EF-4AA0-A3C3-13FC8A8B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商品：QA檢驗</a:t>
            </a:r>
          </a:p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40s／支援20s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444CED-29AA-4FFC-9E3B-3F27B097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33875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A15s／B120s</a:t>
            </a:r>
          </a:p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C60s報廢退出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3D454-A8BE-4A26-A008-6FF98AF7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72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空箱：4m高程緩衝</a:t>
            </a:r>
          </a:p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清洗30s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82E8A8-FE85-400E-81B9-8172AC2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風乾6m／檢驗5s</a:t>
            </a:r>
          </a:p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2%箱報廢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7C3B8-07C7-45DC-8AEE-213B0E09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Combiner</a:t>
            </a:r>
          </a:p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一箱一件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490712-EF26-4DD0-ADA9-1A455EA1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334000"/>
            <a:ext cx="2143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142F"/>
          </a:solidFill>
          <a:ln xmlns:a="http://schemas.openxmlformats.org/drawingml/2006/main" w="19050">
            <a:solidFill>
              <a:srgbClr val="A280EC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出庫</a:t>
            </a:r>
          </a:p>
          <a:p xmlns:a="http://schemas.openxmlformats.org/drawingml/2006/main">
            <a:pPr algn="ctr">
              <a:def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釋回箱資產</a:t>
            </a:r>
          </a:p>
        </p:txBody>
      </p:sp>
      <p:sp>
        <p:nvSpPr>
          <p:cNvPr id="35" name="內容_4_↗">
            <a:extLst xmlns:a="http://schemas.openxmlformats.org/drawingml/2006/main">
              <a:ext uri="{FF2B5EF4-FFF2-40B4-BE49-F238E27FC236}">
                <a16:creationId xmlns:a16="http://schemas.microsoft.com/office/drawing/2014/main" id="{01CA77D6-D1C0-447C-8574-F586FBDD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↗</a:t>
            </a:r>
          </a:p>
        </p:txBody>
      </p:sp>
      <p:sp>
        <p:nvSpPr>
          <p:cNvPr id="36" name="內容_4_→">
            <a:extLst xmlns:a="http://schemas.openxmlformats.org/drawingml/2006/main">
              <a:ext uri="{FF2B5EF4-FFF2-40B4-BE49-F238E27FC236}">
                <a16:creationId xmlns:a16="http://schemas.microsoft.com/office/drawing/2014/main" id="{7C8F160C-FCB9-45CA-95EF-BB7E3BF5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2437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37" name="內容_4_↘">
            <a:extLst xmlns:a="http://schemas.openxmlformats.org/drawingml/2006/main">
              <a:ext uri="{FF2B5EF4-FFF2-40B4-BE49-F238E27FC236}">
                <a16:creationId xmlns:a16="http://schemas.microsoft.com/office/drawing/2014/main" id="{18D819DA-D295-4F4F-AECA-25368B50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62500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↘</a:t>
            </a:r>
          </a:p>
        </p:txBody>
      </p:sp>
      <p:sp>
        <p:nvSpPr>
          <p:cNvPr id="38" name="內容_4_↘">
            <a:extLst xmlns:a="http://schemas.openxmlformats.org/drawingml/2006/main">
              <a:ext uri="{FF2B5EF4-FFF2-40B4-BE49-F238E27FC236}">
                <a16:creationId xmlns:a16="http://schemas.microsoft.com/office/drawing/2014/main" id="{A37F5345-8EDE-4161-A8E6-D743D92D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↘</a:t>
            </a:r>
          </a:p>
        </p:txBody>
      </p:sp>
      <p:sp>
        <p:nvSpPr>
          <p:cNvPr id="39" name="內容_4_→">
            <a:extLst xmlns:a="http://schemas.openxmlformats.org/drawingml/2006/main">
              <a:ext uri="{FF2B5EF4-FFF2-40B4-BE49-F238E27FC236}">
                <a16:creationId xmlns:a16="http://schemas.microsoft.com/office/drawing/2014/main" id="{E33F0C06-84B2-42AD-9774-809B24E2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62750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40" name="內容_4_↗">
            <a:extLst xmlns:a="http://schemas.openxmlformats.org/drawingml/2006/main">
              <a:ext uri="{FF2B5EF4-FFF2-40B4-BE49-F238E27FC236}">
                <a16:creationId xmlns:a16="http://schemas.microsoft.com/office/drawing/2014/main" id="{2A08BE44-6F9A-4243-8160-10136C56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33412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↗</a:t>
            </a:r>
          </a:p>
        </p:txBody>
      </p:sp>
      <p:sp>
        <p:nvSpPr>
          <p:cNvPr id="41" name="內容_4_→">
            <a:extLst xmlns:a="http://schemas.openxmlformats.org/drawingml/2006/main">
              <a:ext uri="{FF2B5EF4-FFF2-40B4-BE49-F238E27FC236}">
                <a16:creationId xmlns:a16="http://schemas.microsoft.com/office/drawing/2014/main" id="{F39E5DC0-8F06-443B-9549-C9A22C8B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5476875"/>
            <a:ext cx="66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42" name="內容_4_有限500箱資產池，每箱15">
            <a:extLst xmlns:a="http://schemas.openxmlformats.org/drawingml/2006/main">
              <a:ext uri="{FF2B5EF4-FFF2-40B4-BE49-F238E27FC236}">
                <a16:creationId xmlns:a16="http://schemas.microsoft.com/office/drawing/2014/main" id="{95FCE544-CFBF-470A-B724-AEE2C180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715250"/>
            <a:ext cx="1428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有限500箱資產池，每箱150次；外包支線延遲4h並保留系統WIP</a:t>
            </a:r>
          </a:p>
        </p:txBody>
      </p:sp>
      <p:sp>
        <p:nvSpPr>
          <p:cNvPr id="43" name="內容_4_0m緩衝採原生真旁路。商品／">
            <a:extLst xmlns:a="http://schemas.openxmlformats.org/drawingml/2006/main">
              <a:ext uri="{FF2B5EF4-FFF2-40B4-BE49-F238E27FC236}">
                <a16:creationId xmlns:a16="http://schemas.microsoft.com/office/drawing/2014/main" id="{647FDEAC-4C85-42C2-A52E-C56E927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0m緩衝採原生真旁路。商品／空箱各自守恆，回到Combiner才一箱一件。</a:t>
            </a:r>
          </a:p>
        </p:txBody>
      </p:sp>
    </p:spTree>
    <p:extLst>
      <p:ext uri="{BB962C8B-B14F-4D97-AF65-F5344CB8AC3E}">
        <p14:creationId xmlns:p14="http://schemas.microsoft.com/office/powerpoint/2010/main" val="10561789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376683A-B6EF-4716-B753-3512415E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acf616a9b248cd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8B8AB74-4599-4748-A05D-FEEEE638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904EC0B-214F-4188-8079-6A23A2E9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E8AC249-517D-422E-B4F5-05BB4AA9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d6967c24f94eb1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FD622C8-D150-4F46-99EE-F9856361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c683d8201d4e3d">
              <a:extLst>
                <a:ext uri="{96DAC541-7B7A-43D3-8B79-37D633B846F1}">
                  <asvg:svgBlip xmlns:asvg="http://schemas.microsoft.com/office/drawing/2016/SVG/main" r:embed="R185b070b6e5849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DE74D45-2596-43D1-AAE9-5E492945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c683d8201d4e3d">
              <a:extLst>
                <a:ext uri="{96DAC541-7B7A-43D3-8B79-37D633B846F1}">
                  <asvg:svgBlip xmlns:asvg="http://schemas.microsoft.com/office/drawing/2016/SVG/main" r:embed="R185b070b6e5849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775B44C-C3C6-4CF2-826C-246E19C3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280" y="4093584"/>
            <a:ext cx="3771900" cy="3771900"/>
          </a:xfrm>
          <a:custGeom xmlns:a="http://schemas.openxmlformats.org/drawingml/2006/main">
            <a:rect l="l" t="t" r="r" b="b"/>
            <a:pathLst>
              <a:path w="3771900" h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523EA46-919F-4D11-8213-748C4F01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A6034A9-E873-4120-96F6-DF01C73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05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1B05E9-AFF2-449D-98D7-B100F4C7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5016" y="2209914"/>
            <a:ext cx="414311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6C80008-4E5E-4B7B-A445-25F3D154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7176" y="2209914"/>
            <a:ext cx="2307840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D5D4BC9-18B1-44CE-B871-06BFDD45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8050" y="4093584"/>
            <a:ext cx="3771900" cy="3771900"/>
          </a:xfrm>
          <a:custGeom xmlns:a="http://schemas.openxmlformats.org/drawingml/2006/main">
            <a:rect l="l" t="t" r="r" b="b"/>
            <a:pathLst>
              <a:path w="3771900" h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6625144-AF51-4801-A354-FD86B5A8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1875" y="4093584"/>
            <a:ext cx="3771900" cy="3771900"/>
          </a:xfrm>
          <a:custGeom xmlns:a="http://schemas.openxmlformats.org/drawingml/2006/main">
            <a:rect l="l" t="t" r="r" b="b"/>
            <a:pathLst>
              <a:path w="3771900" h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D40E350-8C90-4FCB-9262-8744B1C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8856" y="4741578"/>
            <a:ext cx="23454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>
                <a:solidFill>
                  <a:srgbClr val="C9BBE8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3A3CADB-3E3F-409C-ADB9-2AD3C649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506" y="4741578"/>
            <a:ext cx="23454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>
                <a:solidFill>
                  <a:srgbClr val="C9BBE8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A7434BC-6522-4BF2-87C0-C268C094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4398" y="4741578"/>
            <a:ext cx="23454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>
                <a:solidFill>
                  <a:srgbClr val="C9BBE8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7F1691A-D06E-441A-8084-DFCAE7D0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2004" y="5941434"/>
            <a:ext cx="3079151" cy="374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51"/>
              </a:lnSpc>
              <a:spcBef>
                <a:spcPct val="0"/>
              </a:spcBef>
              <a:buNone/>
            </a:pPr>
            <a:r>
              <a:rPr sz="210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6435E91-4F9C-420F-B294-F2A5E3D9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654" y="5941434"/>
            <a:ext cx="3079151" cy="374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51"/>
              </a:lnSpc>
              <a:spcBef>
                <a:spcPct val="0"/>
              </a:spcBef>
              <a:buNone/>
            </a:pPr>
            <a:r>
              <a:rPr sz="210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49E462-5765-4E04-9BF6-EDC822A5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9200" y="5941434"/>
            <a:ext cx="3079151" cy="374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51"/>
              </a:lnSpc>
              <a:spcBef>
                <a:spcPct val="0"/>
              </a:spcBef>
              <a:buNone/>
            </a:pPr>
            <a:r>
              <a:rPr sz="210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2" name="內容_5_3D 佈局">
            <a:extLst xmlns:a="http://schemas.openxmlformats.org/drawingml/2006/main">
              <a:ext uri="{FF2B5EF4-FFF2-40B4-BE49-F238E27FC236}">
                <a16:creationId xmlns:a16="http://schemas.microsoft.com/office/drawing/2014/main" id="{EB0199B0-2E76-4708-9498-6DC2CE80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3D 佈局</a:t>
            </a:r>
          </a:p>
        </p:txBody>
      </p:sp>
      <p:sp>
        <p:nvSpPr>
          <p:cNvPr id="23" name="內容_5_雙層輸送網的原生運行畫面">
            <a:extLst xmlns:a="http://schemas.openxmlformats.org/drawingml/2006/main">
              <a:ext uri="{FF2B5EF4-FFF2-40B4-BE49-F238E27FC236}">
                <a16:creationId xmlns:a16="http://schemas.microsoft.com/office/drawing/2014/main" id="{6C6A4C97-3D46-4CEA-A0E0-F110085A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雙層輸送網的原生運行畫面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89275-7A6B-4EB0-86AA-B2391ACC87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7265d7b5141d9"/>
          <a:srcRect xmlns:a="http://schemas.openxmlformats.org/drawingml/2006/main" l="0" t="20000" r="0" b="15000"/>
          <a:stretch xmlns:a="http://schemas.openxmlformats.org/drawingml/2006/main"/>
        </p:blipFill>
        <p:spPr>
          <a:xfrm xmlns:a="http://schemas.openxmlformats.org/drawingml/2006/main">
            <a:off x="1581150" y="4048125"/>
            <a:ext cx="14287500" cy="3810000"/>
          </a:xfrm>
          <a:prstGeom xmlns:a="http://schemas.openxmlformats.org/drawingml/2006/main" prst="rect">
            <a:avLst/>
          </a:prstGeom>
        </p:spPr>
      </p:pic>
      <p:sp>
        <p:nvSpPr>
          <p:cNvPr id="25" name="內容_5_S1、P4、12m、seed">
            <a:extLst xmlns:a="http://schemas.openxmlformats.org/drawingml/2006/main">
              <a:ext uri="{FF2B5EF4-FFF2-40B4-BE49-F238E27FC236}">
                <a16:creationId xmlns:a16="http://schemas.microsoft.com/office/drawing/2014/main" id="{F5D5D33A-ADEC-4983-96DD-6E4DB0B6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S1、P4、12m、seed101；v8原生3D實際運行。正式統計來自原生Experimenter 1,350次。</a:t>
            </a:r>
          </a:p>
        </p:txBody>
      </p:sp>
    </p:spTree>
    <p:extLst>
      <p:ext uri="{BB962C8B-B14F-4D97-AF65-F5344CB8AC3E}">
        <p14:creationId xmlns:p14="http://schemas.microsoft.com/office/powerpoint/2010/main" val="19545552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BC6F2CA-121A-4889-85F0-7C569674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05aec13e537454f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7F85F8D-EA9F-4077-9FDB-B3F15006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BC8767C-7F45-4E0C-95D4-266A4B6B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4FF9E9B2-2F95-4449-9CA1-D51F7273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d8c1804b004787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38EF938-CD38-4B56-95DE-3C4082D0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65a4b95c1a4df3">
              <a:extLst>
                <a:ext uri="{96DAC541-7B7A-43D3-8B79-37D633B846F1}">
                  <asvg:svgBlip xmlns:asvg="http://schemas.microsoft.com/office/drawing/2016/SVG/main" r:embed="Rcce568ef5e7a47a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2CAC96E-3321-426D-ACBA-FA000CF8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65a4b95c1a4df3">
              <a:extLst>
                <a:ext uri="{96DAC541-7B7A-43D3-8B79-37D633B846F1}">
                  <asvg:svgBlip xmlns:asvg="http://schemas.microsoft.com/office/drawing/2016/SVG/main" r:embed="Rcce568ef5e7a47a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F445D1A-B459-4401-A4ED-D8F490E2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2086" y="2590914"/>
            <a:ext cx="703871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F3B1313-8D63-4563-8155-CAD67977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3774" y="2451591"/>
            <a:ext cx="5057775" cy="5057775"/>
          </a:xfrm>
          <a:custGeom xmlns:a="http://schemas.openxmlformats.org/drawingml/2006/main">
            <a:rect l="l" t="t" r="r" b="b"/>
            <a:pathLst>
              <a:path w="5057775" h="5057775">
                <a:moveTo>
                  <a:pt x="0" y="0"/>
                </a:moveTo>
                <a:lnTo>
                  <a:pt x="5057775" y="0"/>
                </a:lnTo>
                <a:lnTo>
                  <a:pt x="5057775" y="5057775"/>
                </a:lnTo>
                <a:lnTo>
                  <a:pt x="0" y="50577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C110CD1-4179-448C-B4D7-E59B2AA2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3800" y="3181287"/>
            <a:ext cx="4012721" cy="3598382"/>
          </a:xfrm>
          <a:custGeom xmlns:a="http://schemas.openxmlformats.org/drawingml/2006/main">
            <a:rect l="l" t="t" r="r" b="b"/>
            <a:pathLst>
              <a:path w="812800" h="728874">
                <a:moveTo>
                  <a:pt x="0" y="0"/>
                </a:moveTo>
                <a:lnTo>
                  <a:pt x="812800" y="0"/>
                </a:lnTo>
                <a:lnTo>
                  <a:pt x="812800" y="728874"/>
                </a:lnTo>
                <a:lnTo>
                  <a:pt x="0" y="7288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DC54C0-422F-47B4-8766-3A0213B0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026770-AD0C-4A2A-AEAD-E4245791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06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3857FEA-C71B-4E20-AA06-0F33906F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2590914"/>
            <a:ext cx="3370259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36AC534-0FBD-4035-88FD-37E533B5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4081222"/>
            <a:ext cx="8494452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7" name="內容_6_多能工與防呆">
            <a:extLst xmlns:a="http://schemas.openxmlformats.org/drawingml/2006/main">
              <a:ext uri="{FF2B5EF4-FFF2-40B4-BE49-F238E27FC236}">
                <a16:creationId xmlns:a16="http://schemas.microsoft.com/office/drawing/2014/main" id="{270E48F8-E8AD-4807-869E-F8FFB8AB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多能工與防呆</a:t>
            </a:r>
          </a:p>
        </p:txBody>
      </p:sp>
      <p:sp>
        <p:nvSpPr>
          <p:cNvPr id="18" name="內容_6_五人資源池與 A* 導航">
            <a:extLst xmlns:a="http://schemas.openxmlformats.org/drawingml/2006/main">
              <a:ext uri="{FF2B5EF4-FFF2-40B4-BE49-F238E27FC236}">
                <a16:creationId xmlns:a16="http://schemas.microsoft.com/office/drawing/2014/main" id="{F189CF11-51CF-448B-A8B5-73060BB4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五人資源池與 A* 導航</a:t>
            </a:r>
          </a:p>
        </p:txBody>
      </p:sp>
      <p:sp>
        <p:nvSpPr>
          <p:cNvPr id="19" name="內容_6_QA 隊列 &gt;15 件">
            <a:extLst xmlns:a="http://schemas.openxmlformats.org/drawingml/2006/main">
              <a:ext uri="{FF2B5EF4-FFF2-40B4-BE49-F238E27FC236}">
                <a16:creationId xmlns:a16="http://schemas.microsoft.com/office/drawing/2014/main" id="{216D4537-44F7-49CE-984B-CA30D5BD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815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QA 隊列 &gt;15 件</a:t>
            </a:r>
          </a:p>
        </p:txBody>
      </p:sp>
      <p:sp>
        <p:nvSpPr>
          <p:cNvPr id="20" name="內容_6_鎖定支援員，等現有整新任務完">
            <a:extLst xmlns:a="http://schemas.openxmlformats.org/drawingml/2006/main">
              <a:ext uri="{FF2B5EF4-FFF2-40B4-BE49-F238E27FC236}">
                <a16:creationId xmlns:a16="http://schemas.microsoft.com/office/drawing/2014/main" id="{D8B7CAF4-1D63-4336-BA3F-1FADC5B2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81625"/>
            <a:ext cx="8191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鎖定支援員，等現有整新任務完成後再移動。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抵達 QA 才將工時從40秒降為20秒。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QA 隊列 ≤5 件，先完成當前任務再歸建。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支援旗標防止重複調派，B2工位暫停接新件。</a:t>
            </a:r>
          </a:p>
        </p:txBody>
      </p:sp>
      <p:sp>
        <p:nvSpPr>
          <p:cNvPr id="21" name="內容_6_5 人">
            <a:extLst xmlns:a="http://schemas.openxmlformats.org/drawingml/2006/main">
              <a:ext uri="{FF2B5EF4-FFF2-40B4-BE49-F238E27FC236}">
                <a16:creationId xmlns:a16="http://schemas.microsoft.com/office/drawing/2014/main" id="{298B84A3-200A-4149-B218-4240550A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291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5 人</a:t>
            </a:r>
          </a:p>
        </p:txBody>
      </p:sp>
      <p:sp>
        <p:nvSpPr>
          <p:cNvPr id="22" name="內容_6_固定人數&#10;1.4 m/s 步">
            <a:extLst xmlns:a="http://schemas.openxmlformats.org/drawingml/2006/main">
              <a:ext uri="{FF2B5EF4-FFF2-40B4-BE49-F238E27FC236}">
                <a16:creationId xmlns:a16="http://schemas.microsoft.com/office/drawing/2014/main" id="{46A49203-FB15-4AB3-95B8-460D5AE2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055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固定人數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1.4 m/s 步速假設</a:t>
            </a:r>
          </a:p>
          <a:p xmlns:a="http://schemas.openxmlformats.org/drawingml/2006/main">
            <a:pPr>
              <a:def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原生 A* 實際移動</a:t>
            </a:r>
          </a:p>
        </p:txBody>
      </p:sp>
      <p:sp>
        <p:nvSpPr>
          <p:cNvPr id="23" name="內容_6_5人×40段往返；86,79">
            <a:extLst xmlns:a="http://schemas.openxmlformats.org/drawingml/2006/main">
              <a:ext uri="{FF2B5EF4-FFF2-40B4-BE49-F238E27FC236}">
                <a16:creationId xmlns:a16="http://schemas.microsoft.com/office/drawing/2014/main" id="{F7C4F44D-2378-4124-80DB-B14A209D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5人×40段往返；86,797筆活動路格占用、972,625段路徑方向檢查均無違規。</a:t>
            </a:r>
          </a:p>
        </p:txBody>
      </p:sp>
    </p:spTree>
    <p:extLst>
      <p:ext uri="{BB962C8B-B14F-4D97-AF65-F5344CB8AC3E}">
        <p14:creationId xmlns:p14="http://schemas.microsoft.com/office/powerpoint/2010/main" val="20709295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B07C207-1208-4B18-B811-74729D5B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aa8e2430194a7f"/>
            <a:stretch>
              <a:fillRect l="-35258" t="-5555" r="-24931" b="-72434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ED61450-491F-4F22-9AE5-F952FB01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128" y="2209914"/>
            <a:ext cx="5543293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D08625D-0AB8-4097-9F01-6D959FB9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064" y="2209914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C7C895A-B724-46F3-BD86-D4A530F2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3A99C24-7FE0-4998-81FE-3CEE4A1C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D99507-2340-47F5-8799-041BACA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E94308F8-8F86-4AEC-B782-4F7DC424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e0ee1c7f144ba9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DF7363E-B486-4654-9BE1-F6E48990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d6205247c95467c">
              <a:extLst>
                <a:ext uri="{96DAC541-7B7A-43D3-8B79-37D633B846F1}">
                  <asvg:svgBlip xmlns:asvg="http://schemas.microsoft.com/office/drawing/2016/SVG/main" r:embed="R6aa3a05f9ff84b4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08CE153-4B20-4D8E-8246-2B5F1CF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d6205247c95467c">
              <a:extLst>
                <a:ext uri="{96DAC541-7B7A-43D3-8B79-37D633B846F1}">
                  <asvg:svgBlip xmlns:asvg="http://schemas.microsoft.com/office/drawing/2016/SVG/main" r:embed="R6aa3a05f9ff84b4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1E16733-AD0F-41C2-BCFA-AA4840DC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07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EF71CD0-A4D5-4169-9DE4-674BF119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6352" y="4308053"/>
            <a:ext cx="3385513" cy="854973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3A8118B-5E9E-4A42-99A2-78588FC7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6352" y="4408245"/>
            <a:ext cx="3385513" cy="75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7D1B828-8128-4D9D-8426-EE401F50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8230" y="4510124"/>
            <a:ext cx="2659773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 b="1">
                <a:solidFill>
                  <a:srgbClr val="C9BBE8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5318541-C3CC-472C-86E9-2C5FA82F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6225" y="5418881"/>
            <a:ext cx="6248666" cy="363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2866"/>
              </a:lnSpc>
              <a:spcBef>
                <a:spcPct val="0"/>
              </a:spcBef>
              <a:buNone/>
            </a:pPr>
            <a:r>
              <a:rPr sz="20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40841FA-270D-42B4-98EA-CC02F77F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4604" y="4308053"/>
            <a:ext cx="3599822" cy="854973"/>
          </a:xfrm>
          <a:custGeom xmlns:a="http://schemas.openxmlformats.org/drawingml/2006/main">
            <a:rect l="l" t="t" r="r" b="b"/>
            <a:pathLst>
              <a:path w="1711129" h="406400">
                <a:moveTo>
                  <a:pt x="1507930" y="0"/>
                </a:moveTo>
                <a:cubicBezTo>
                  <a:pt x="1620154" y="0"/>
                  <a:pt x="1711129" y="90976"/>
                  <a:pt x="1711129" y="203200"/>
                </a:cubicBezTo>
                <a:cubicBezTo>
                  <a:pt x="1711129" y="315424"/>
                  <a:pt x="1620154" y="406400"/>
                  <a:pt x="150793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FDDF85E-4465-49FC-9B08-6DC21AE7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4604" y="4408245"/>
            <a:ext cx="3599825" cy="75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030A50A-B38B-4FE3-9BFE-09E92091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9840" y="4510124"/>
            <a:ext cx="3159836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576"/>
              </a:lnSpc>
              <a:buNone/>
            </a:pPr>
            <a:r>
              <a:rPr sz="2751" b="1">
                <a:solidFill>
                  <a:srgbClr val="C9BBE8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39C73B8-35EA-40B2-90C9-DBCE7EB8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5418881"/>
            <a:ext cx="6248666" cy="363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2866"/>
              </a:lnSpc>
              <a:spcBef>
                <a:spcPct val="0"/>
              </a:spcBef>
              <a:buNone/>
            </a:pPr>
            <a:r>
              <a:rPr sz="20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27E1CF09-E747-40EB-8D36-E228D70C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81865" y="4754590"/>
            <a:ext cx="35427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headEnd type="oval" w="lg" len="lg"/>
            <a:tailEnd type="oval" w="lg" len="lg"/>
          </a:ln>
        </p:spPr>
      </p:sp>
      <p:sp>
        <p:nvSpPr>
          <p:cNvPr id="24" name="內容_7_ESG：門檻與增量">
            <a:extLst xmlns:a="http://schemas.openxmlformats.org/drawingml/2006/main">
              <a:ext uri="{FF2B5EF4-FFF2-40B4-BE49-F238E27FC236}">
                <a16:creationId xmlns:a16="http://schemas.microsoft.com/office/drawing/2014/main" id="{CFCE8D60-42AA-4CFF-86AA-22F26E50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ESG：門檻與增量</a:t>
            </a:r>
          </a:p>
        </p:txBody>
      </p:sp>
      <p:sp>
        <p:nvSpPr>
          <p:cNvPr id="25" name="內容_7_74%達標，不等於P4再省7">
            <a:extLst xmlns:a="http://schemas.openxmlformats.org/drawingml/2006/main">
              <a:ext uri="{FF2B5EF4-FFF2-40B4-BE49-F238E27FC236}">
                <a16:creationId xmlns:a16="http://schemas.microsoft.com/office/drawing/2014/main" id="{3C7DDB05-2768-4D60-8030-93418C4C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74%達標，不等於P4再省74%</a:t>
            </a:r>
          </a:p>
        </p:txBody>
      </p:sp>
      <p:sp>
        <p:nvSpPr>
          <p:cNvPr id="26" name="內容_7_Before 73.853%">
            <a:extLst xmlns:a="http://schemas.openxmlformats.org/drawingml/2006/main">
              <a:ext uri="{FF2B5EF4-FFF2-40B4-BE49-F238E27FC236}">
                <a16:creationId xmlns:a16="http://schemas.microsoft.com/office/drawing/2014/main" id="{EF9A03EB-0271-4122-A4B7-518EAA21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338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Before 73.853%</a:t>
            </a:r>
          </a:p>
        </p:txBody>
      </p:sp>
      <p:sp>
        <p:nvSpPr>
          <p:cNvPr id="27" name="內容_7_每件0.184875 kWh">
            <a:extLst xmlns:a="http://schemas.openxmlformats.org/drawingml/2006/main">
              <a:ext uri="{FF2B5EF4-FFF2-40B4-BE49-F238E27FC236}">
                <a16:creationId xmlns:a16="http://schemas.microsoft.com/office/drawing/2014/main" id="{1D9E0E98-095A-4AA2-8E0C-A8596AB9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76875"/>
            <a:ext cx="771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每件0.184875 kWh</a:t>
            </a:r>
          </a:p>
          <a:p xmlns:a="http://schemas.openxmlformats.org/drawingml/2006/main">
            <a: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1 − 0.184875 × 0.495 ÷ 0.35</a:t>
            </a:r>
          </a:p>
          <a:p xmlns:a="http://schemas.openxmlformats.org/drawingml/2006/main">
            <a: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＝ 73.853%：Before已超過42%</a:t>
            </a:r>
          </a:p>
        </p:txBody>
      </p:sp>
      <p:sp>
        <p:nvSpPr>
          <p:cNvPr id="28" name="內容_7_主推12m 73.995%">
            <a:extLst xmlns:a="http://schemas.openxmlformats.org/drawingml/2006/main">
              <a:ext uri="{FF2B5EF4-FFF2-40B4-BE49-F238E27FC236}">
                <a16:creationId xmlns:a16="http://schemas.microsoft.com/office/drawing/2014/main" id="{1F892377-6412-4428-8463-F4C68EE0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695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主推12m 73.995%</a:t>
            </a:r>
          </a:p>
        </p:txBody>
      </p:sp>
      <p:sp>
        <p:nvSpPr>
          <p:cNvPr id="29" name="內容_7_相較Before僅 +0.1">
            <a:extLst xmlns:a="http://schemas.openxmlformats.org/drawingml/2006/main">
              <a:ext uri="{FF2B5EF4-FFF2-40B4-BE49-F238E27FC236}">
                <a16:creationId xmlns:a16="http://schemas.microsoft.com/office/drawing/2014/main" id="{D57C8F0F-9AB9-4FFB-9432-A52FC1C0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76875"/>
            <a:ext cx="704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相較Before僅 +0.141百分點</a:t>
            </a:r>
          </a:p>
          <a:p xmlns:a="http://schemas.openxmlformats.org/drawingml/2006/main">
            <a: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P4須再扣外包排放</a:t>
            </a:r>
          </a:p>
          <a:p xmlns:a="http://schemas.openxmlformats.org/drawingml/2006/main">
            <a:pPr>
              <a:def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課程口徑；不是完整生命週期盤查</a:t>
            </a:r>
          </a:p>
        </p:txBody>
      </p:sp>
      <p:sp>
        <p:nvSpPr>
          <p:cNvPr id="30" name="內容_7_42%是目標門檻；原始來源未">
            <a:extLst xmlns:a="http://schemas.openxmlformats.org/drawingml/2006/main">
              <a:ext uri="{FF2B5EF4-FFF2-40B4-BE49-F238E27FC236}">
                <a16:creationId xmlns:a16="http://schemas.microsoft.com/office/drawing/2014/main" id="{4247497F-0E96-4A20-8679-1A797C3F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42%是目標門檻；原始來源未提供相同輸入下42%的推導條件。不能為貼近目標反調參數。</a:t>
            </a:r>
          </a:p>
        </p:txBody>
      </p:sp>
    </p:spTree>
    <p:extLst>
      <p:ext uri="{BB962C8B-B14F-4D97-AF65-F5344CB8AC3E}">
        <p14:creationId xmlns:p14="http://schemas.microsoft.com/office/powerpoint/2010/main" val="21372346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9718BF-A37E-43E7-B92D-A3993E88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3b7a446f6e404b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9B99AF6-E167-4E1B-B64A-7FD9502A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8F0F8B2-4004-405F-ADF9-126C0E92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64E7DEC-F7CB-46A6-8055-E07E08E0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42575de15e846ea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E26ED79-AB36-4F0D-9F19-32A97E76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17e9de10a74e32">
              <a:extLst>
                <a:ext uri="{96DAC541-7B7A-43D3-8B79-37D633B846F1}">
                  <asvg:svgBlip xmlns:asvg="http://schemas.microsoft.com/office/drawing/2016/SVG/main" r:embed="R7be81371430f413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863E45-B80F-4000-B28E-3E8C42FD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17e9de10a74e32">
              <a:extLst>
                <a:ext uri="{96DAC541-7B7A-43D3-8B79-37D633B846F1}">
                  <asvg:svgBlip xmlns:asvg="http://schemas.microsoft.com/office/drawing/2016/SVG/main" r:embed="R7be81371430f413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AEDBC64-8D6A-4F61-9D8A-7DDA9F1B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31279" h="8229600">
                <a:moveTo>
                  <a:pt x="0" y="0"/>
                </a:moveTo>
                <a:lnTo>
                  <a:pt x="9831280" y="0"/>
                </a:lnTo>
                <a:lnTo>
                  <a:pt x="98312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EAAF661-24F2-4D84-9406-5B533E3C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D577272-4D85-4747-AF5A-6195B6E2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08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340D6C4-1173-4BC0-A4F9-D0281EF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622" y="3485662"/>
            <a:ext cx="5543293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A0A221D-AC66-464C-BBCB-9B6B0432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622" y="2399812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54E945B-D52B-4B93-804E-F224FE2D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622" y="4998487"/>
            <a:ext cx="7580052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spcBef>
                <a:spcPct val="0"/>
              </a:spcBef>
              <a:buNone/>
            </a:pPr>
            <a:r>
              <a:rPr sz="22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7550B3AD-7018-4A4C-A466-1E27A2D5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2"/>
                </a:lnTo>
                <a:lnTo>
                  <a:pt x="4240473" y="4240472"/>
                </a:lnTo>
                <a:lnTo>
                  <a:pt x="42404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內容_8_信度檢定 V1–V6">
            <a:extLst xmlns:a="http://schemas.openxmlformats.org/drawingml/2006/main">
              <a:ext uri="{FF2B5EF4-FFF2-40B4-BE49-F238E27FC236}">
                <a16:creationId xmlns:a16="http://schemas.microsoft.com/office/drawing/2014/main" id="{7AD408F8-50F4-4691-A439-8739BA6F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信度檢定 V1–V6</a:t>
            </a:r>
          </a:p>
        </p:txBody>
      </p:sp>
      <p:sp>
        <p:nvSpPr>
          <p:cNvPr id="17" name="內容_8_驗證必須能攔下錯誤">
            <a:extLst xmlns:a="http://schemas.openxmlformats.org/drawingml/2006/main">
              <a:ext uri="{FF2B5EF4-FFF2-40B4-BE49-F238E27FC236}">
                <a16:creationId xmlns:a16="http://schemas.microsoft.com/office/drawing/2014/main" id="{EDA03AA2-3290-4546-8B2B-5CBE3B12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驗證必須能攔下錯誤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453C1-2639-428A-9125-32D9369A5CC6}"/>
              </a:ext>
            </a:extLst>
          </p:cNvPr>
          <p:cNvGraphicFramePr/>
          <p:nvPr/>
        </p:nvGraphicFramePr>
        <p:xfrm>
          <a:off xmlns:a="http://schemas.openxmlformats.org/drawingml/2006/main" x="1581150" y="4333875"/>
          <a:ext xmlns:a="http://schemas.openxmlformats.org/drawingml/2006/main" cx="1428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  <a:gridCol w="4762500"/>
              </a:tblGrid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實測證據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V1 守恆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1350次；每次17項殘差為0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商品、需求、箱資產分帳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V2／V3 穩定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S0：產投CV≤5%；WIP漂移-0.21%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基準整體達標；尖峰Before不穩定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V4 同種子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3組×2次，原生完整讀值相等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GUI原始結果亦逐項一致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V5 估計精度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30次最差18.07%；600次3.47%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原始30次未達；追加樣本達標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V6 分級比例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S0合併卡方 p=0.1514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未拒絕60／30／10設定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19" name="內容_8_600個基準樣本＝主實驗30">
            <a:extLst xmlns:a="http://schemas.openxmlformats.org/drawingml/2006/main">
              <a:ext uri="{FF2B5EF4-FFF2-40B4-BE49-F238E27FC236}">
                <a16:creationId xmlns:a16="http://schemas.microsoft.com/office/drawing/2014/main" id="{930B02AF-5797-47BD-8B3F-802C4CF5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600個基準樣本＝主實驗30次＋追加570次；沒有挑選種子，也未將30次的失敗改成通過。</a:t>
            </a:r>
          </a:p>
        </p:txBody>
      </p:sp>
    </p:spTree>
    <p:extLst>
      <p:ext uri="{BB962C8B-B14F-4D97-AF65-F5344CB8AC3E}">
        <p14:creationId xmlns:p14="http://schemas.microsoft.com/office/powerpoint/2010/main" val="13590340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62934E3-8205-4274-8A56-BCDC665B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8a50d447ad484e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15923F0-D36D-4796-93F4-E8E0AEE6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ACAE7D12-046C-456C-9DB2-13D501FF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9CDA5A5D-B84C-430A-8AC5-095C2C5B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078f65072d845da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BD826D2-0D29-498A-97DC-9183698D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20f264be9f4405">
              <a:extLst>
                <a:ext uri="{96DAC541-7B7A-43D3-8B79-37D633B846F1}">
                  <asvg:svgBlip xmlns:asvg="http://schemas.microsoft.com/office/drawing/2016/SVG/main" r:embed="Rde916d1cd0d246b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8D61A06-36C1-4738-AC7E-FFD8706F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20f264be9f4405">
              <a:extLst>
                <a:ext uri="{96DAC541-7B7A-43D3-8B79-37D633B846F1}">
                  <asvg:svgBlip xmlns:asvg="http://schemas.microsoft.com/office/drawing/2016/SVG/main" r:embed="Rde916d1cd0d246b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E1A0519-21E7-47E4-AE37-942CD92B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5314037"/>
            <a:ext cx="4796896" cy="608841"/>
          </a:xfrm>
          <a:custGeom xmlns:a="http://schemas.openxmlformats.org/drawingml/2006/main">
            <a:rect l="l" t="t" r="r" b="b"/>
            <a:pathLst>
              <a:path w="3201916" h="406400">
                <a:moveTo>
                  <a:pt x="2998716" y="0"/>
                </a:moveTo>
                <a:cubicBezTo>
                  <a:pt x="3110941" y="0"/>
                  <a:pt x="3201916" y="90976"/>
                  <a:pt x="3201916" y="203200"/>
                </a:cubicBezTo>
                <a:cubicBezTo>
                  <a:pt x="3201916" y="315424"/>
                  <a:pt x="3110941" y="406400"/>
                  <a:pt x="299871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50F7E6-3ADE-4961-9A69-D0BF90E6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5385385"/>
            <a:ext cx="4796896" cy="53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A768E52-77DF-47F2-A99B-AA158A1B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5901" y="5427472"/>
            <a:ext cx="320992" cy="320992"/>
          </a:xfrm>
          <a:custGeom xmlns:a="http://schemas.openxmlformats.org/drawingml/2006/main">
            <a:rect l="l" t="t" r="r" b="b"/>
            <a:pathLst>
              <a:path w="320992" h="320992">
                <a:moveTo>
                  <a:pt x="0" y="0"/>
                </a:moveTo>
                <a:lnTo>
                  <a:pt x="320992" y="0"/>
                </a:lnTo>
                <a:lnTo>
                  <a:pt x="320992" y="320992"/>
                </a:lnTo>
                <a:lnTo>
                  <a:pt x="0" y="3209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79489E3-7FCF-4184-9226-EC7C2BD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3495789"/>
            <a:ext cx="8762872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B0A0474-7DC1-4419-80D1-C16D911F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2467089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4A93BA7-57BC-4116-8224-4D8208DF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FECBCD47-690D-4ED5-BEDD-14E1EA1D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09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BDBB9EF-EB62-4760-B586-BFDE0448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34" y="5377181"/>
            <a:ext cx="2704114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8DB9BFA-8350-403C-BC97-50C6B2E2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34" y="6208628"/>
            <a:ext cx="6294052" cy="3796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89"/>
              </a:lnSpc>
              <a:spcBef>
                <a:spcPct val="0"/>
              </a:spcBef>
              <a:buNone/>
            </a:pPr>
            <a:r>
              <a:rPr sz="21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F81123C-B654-4CE0-9B3B-54DED1FF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78579" y="5314037"/>
            <a:ext cx="4796896" cy="608841"/>
          </a:xfrm>
          <a:custGeom xmlns:a="http://schemas.openxmlformats.org/drawingml/2006/main">
            <a:rect l="l" t="t" r="r" b="b"/>
            <a:pathLst>
              <a:path w="3201916" h="406400">
                <a:moveTo>
                  <a:pt x="2998716" y="0"/>
                </a:moveTo>
                <a:cubicBezTo>
                  <a:pt x="3110941" y="0"/>
                  <a:pt x="3201916" y="90976"/>
                  <a:pt x="3201916" y="203200"/>
                </a:cubicBezTo>
                <a:cubicBezTo>
                  <a:pt x="3201916" y="315424"/>
                  <a:pt x="3110941" y="406400"/>
                  <a:pt x="299871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99737CD-4D82-4A6F-B7B6-E9F4CC5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78579" y="5385385"/>
            <a:ext cx="4796896" cy="53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A795DEA-7A83-45A9-AD2A-3AC5466E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91615" y="5460539"/>
            <a:ext cx="320993" cy="320992"/>
          </a:xfrm>
          <a:custGeom xmlns:a="http://schemas.openxmlformats.org/drawingml/2006/main">
            <a:rect l="l" t="t" r="r" b="b"/>
            <a:pathLst>
              <a:path w="320993" h="320992">
                <a:moveTo>
                  <a:pt x="0" y="0"/>
                </a:moveTo>
                <a:lnTo>
                  <a:pt x="320993" y="0"/>
                </a:lnTo>
                <a:lnTo>
                  <a:pt x="320993" y="320992"/>
                </a:lnTo>
                <a:lnTo>
                  <a:pt x="0" y="3209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62DE703-107C-482A-8E85-6F92F055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5767" y="5377181"/>
            <a:ext cx="2704114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85F8959-6E40-40D9-937F-F39FA610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7179" y="6208628"/>
            <a:ext cx="6479790" cy="3796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89"/>
              </a:lnSpc>
              <a:spcBef>
                <a:spcPct val="0"/>
              </a:spcBef>
              <a:buNone/>
            </a:pPr>
            <a:r>
              <a:rPr sz="21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A93B1EEA-7C09-42E0-A8E5-F9637A4C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646FE64-ACC7-46A7-A824-4F1CCD9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內容_9_效度檢定 V7–V11">
            <a:extLst xmlns:a="http://schemas.openxmlformats.org/drawingml/2006/main">
              <a:ext uri="{FF2B5EF4-FFF2-40B4-BE49-F238E27FC236}">
                <a16:creationId xmlns:a16="http://schemas.microsoft.com/office/drawing/2014/main" id="{0397F75F-7BC0-4758-AD40-9C639BC9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效度檢定 V7–V11</a:t>
            </a:r>
          </a:p>
        </p:txBody>
      </p:sp>
      <p:sp>
        <p:nvSpPr>
          <p:cNvPr id="28" name="內容_9_將模型對回物理與排隊">
            <a:extLst xmlns:a="http://schemas.openxmlformats.org/drawingml/2006/main">
              <a:ext uri="{FF2B5EF4-FFF2-40B4-BE49-F238E27FC236}">
                <a16:creationId xmlns:a16="http://schemas.microsoft.com/office/drawing/2014/main" id="{097CC093-E365-4BAF-B144-BA6C73EA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將模型對回物理與排隊</a:t>
            </a:r>
          </a:p>
        </p:txBody>
      </p:sp>
      <p:graphicFrame>
        <p:nvGraphicFrame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EB6363-4ED0-47F6-BE4B-26E9E08BBC11}"/>
              </a:ext>
            </a:extLst>
          </p:cNvPr>
          <p:cNvGraphicFramePr/>
          <p:nvPr/>
        </p:nvGraphicFramePr>
        <p:xfrm>
          <a:off xmlns:a="http://schemas.openxmlformats.org/drawingml/2006/main" x="1581150" y="4333875"/>
          <a:ext xmlns:a="http://schemas.openxmlformats.org/drawingml/2006/main" cx="1428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  <a:gridCol w="4762500"/>
              </a:tblGrid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標準／實測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V7 清洗產能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30s／箱；未超過實現可用產能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條件利用率與ρ差≤1.37pp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V8 停機占比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S0均值3.80%；理論4%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整體差0.20pp，個別診斷另列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V9 Little’s Law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90組獨立時間戳；最大誤差2.32%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有限觀察窗修正亦一致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V10 五倍壓力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300件/h ×7日；保留外部積壓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QA先超載，清洗近飽和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0325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V11 無長時停滯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1350次最長零出庫1h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未出現連續4h零出庫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30" name="內容_9_1920次不重複原生運行；1">
            <a:extLst xmlns:a="http://schemas.openxmlformats.org/drawingml/2006/main">
              <a:ext uri="{FF2B5EF4-FFF2-40B4-BE49-F238E27FC236}">
                <a16:creationId xmlns:a16="http://schemas.microsoft.com/office/drawing/2014/main" id="{D30967CE-660B-43E9-A686-5BD12501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1920次不重複原生運行；15,360筆功能性KPI響應與原始計數重算差異為0。</a:t>
            </a:r>
          </a:p>
        </p:txBody>
      </p:sp>
    </p:spTree>
    <p:extLst>
      <p:ext uri="{BB962C8B-B14F-4D97-AF65-F5344CB8AC3E}">
        <p14:creationId xmlns:p14="http://schemas.microsoft.com/office/powerpoint/2010/main" val="6038789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E548190-A4CC-475F-94E2-E8EDE0DC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2070d22aae4e05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1EBE327-3539-4576-B727-009071D6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3F91BB2-A689-4178-8AB4-DC1EAC32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2EF5F4C-E975-4877-B333-7A6D65B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b408475d954fe7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2941773-E1E9-4F8F-BF14-D2D45360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95938e4efe4472c">
              <a:extLst>
                <a:ext uri="{96DAC541-7B7A-43D3-8B79-37D633B846F1}">
                  <asvg:svgBlip xmlns:asvg="http://schemas.microsoft.com/office/drawing/2016/SVG/main" r:embed="Ra2acb43b0845469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1A25261-4845-430E-B7AE-CDE75126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95938e4efe4472c">
              <a:extLst>
                <a:ext uri="{96DAC541-7B7A-43D3-8B79-37D633B846F1}">
                  <asvg:svgBlip xmlns:asvg="http://schemas.microsoft.com/office/drawing/2016/SVG/main" r:embed="Ra2acb43b0845469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F651E45-F03E-489A-9581-D85FC85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2232516"/>
            <a:ext cx="5199669" cy="6244144"/>
          </a:xfrm>
          <a:custGeom xmlns:a="http://schemas.openxmlformats.org/drawingml/2006/main">
            <a:rect l="l" t="t" r="r" b="b"/>
            <a:pathLst>
              <a:path w="5199669" h="6244144">
                <a:moveTo>
                  <a:pt x="0" y="0"/>
                </a:moveTo>
                <a:lnTo>
                  <a:pt x="5199669" y="0"/>
                </a:lnTo>
                <a:lnTo>
                  <a:pt x="5199669" y="6244144"/>
                </a:lnTo>
                <a:lnTo>
                  <a:pt x="0" y="62441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F96A93A-CA43-42DE-B5F9-E5C8AB49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3026" y="3267189"/>
            <a:ext cx="7580571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6EA0AB-A7FE-4A69-898E-9B2FEAA5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3026" y="2209914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37F47F-7F5C-463A-A7DF-5502116B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CF4A92-9395-4F23-BD4C-2679E112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2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10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CC585F7-C1FB-4635-A1F5-EC2A2443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422" y="4811246"/>
            <a:ext cx="7822954" cy="3995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46"/>
              </a:lnSpc>
              <a:spcBef>
                <a:spcPct val="0"/>
              </a:spcBef>
              <a:buNone/>
            </a:pPr>
            <a:r>
              <a:rPr sz="22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D043251-52B5-4559-8AE5-EB72816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2675" y="2949940"/>
            <a:ext cx="4012721" cy="4636258"/>
          </a:xfrm>
          <a:custGeom xmlns:a="http://schemas.openxmlformats.org/drawingml/2006/main">
            <a:rect l="l" t="t" r="r" b="b"/>
            <a:pathLst>
              <a:path w="812800" h="939101">
                <a:moveTo>
                  <a:pt x="0" y="0"/>
                </a:moveTo>
                <a:lnTo>
                  <a:pt x="812800" y="0"/>
                </a:lnTo>
                <a:lnTo>
                  <a:pt x="812800" y="939101"/>
                </a:lnTo>
                <a:lnTo>
                  <a:pt x="0" y="9391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內容_10_關鍵發現">
            <a:extLst xmlns:a="http://schemas.openxmlformats.org/drawingml/2006/main">
              <a:ext uri="{FF2B5EF4-FFF2-40B4-BE49-F238E27FC236}">
                <a16:creationId xmlns:a16="http://schemas.microsoft.com/office/drawing/2014/main" id="{E378A364-25AA-4678-B482-685A096A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關鍵發現</a:t>
            </a:r>
          </a:p>
        </p:txBody>
      </p:sp>
      <p:sp>
        <p:nvSpPr>
          <p:cNvPr id="18" name="內容_10_只加8m不夠，聯合控制才有效">
            <a:extLst xmlns:a="http://schemas.openxmlformats.org/drawingml/2006/main">
              <a:ext uri="{FF2B5EF4-FFF2-40B4-BE49-F238E27FC236}">
                <a16:creationId xmlns:a16="http://schemas.microsoft.com/office/drawing/2014/main" id="{286D884B-B5EA-4092-ADDC-E4EE09F5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只加8m不夠，聯合控制才有效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1005B3A0-D0F6-4E05-96F2-FAB296093E35}"/>
              </a:ext>
            </a:extLst>
          </p:cNvPr>
          <p:cNvGraphicFramePr/>
          <p:nvPr/>
        </p:nvGraphicFramePr>
        <p:xfrm>
          <a:off xmlns:a="http://schemas.openxmlformats.org/drawingml/2006/main" x="1581150" y="4286250"/>
          <a:ext xmlns:a="http://schemas.openxmlformats.org/drawingml/2006/main" cx="6858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803ca83d094453"/>
          </a:graphicData>
        </a:graphic>
      </p:graphicFrame>
      <p:graphicFrame>
        <p:nvGraphicFramePr>
          <p:cNvPr id="20" name="Chart">
            <a:extLst xmlns:a="http://schemas.openxmlformats.org/drawingml/2006/main">
              <a:ext uri="{FF2B5EF4-FFF2-40B4-BE49-F238E27FC236}">
                <a16:creationId xmlns:a16="http://schemas.microsoft.com/office/drawing/2014/main" id="{08E88F02-2FCC-4CC4-8B80-D55DA6E75B8E}"/>
              </a:ext>
            </a:extLst>
          </p:cNvPr>
          <p:cNvGraphicFramePr/>
          <p:nvPr/>
        </p:nvGraphicFramePr>
        <p:xfrm>
          <a:off xmlns:a="http://schemas.openxmlformats.org/drawingml/2006/main" x="9144000" y="4286250"/>
          <a:ext xmlns:a="http://schemas.openxmlformats.org/drawingml/2006/main" cx="6858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30b0c8757249a9"/>
          </a:graphicData>
        </a:graphic>
      </p:graphicFrame>
      <p:sp>
        <p:nvSpPr>
          <p:cNvPr id="21" name="內容_10_P2 8m阻塞7.609% ">
            <a:extLst xmlns:a="http://schemas.openxmlformats.org/drawingml/2006/main">
              <a:ext uri="{FF2B5EF4-FFF2-40B4-BE49-F238E27FC236}">
                <a16:creationId xmlns:a16="http://schemas.microsoft.com/office/drawing/2014/main" id="{E1BFDC62-DD2A-4971-AFB2-11A09BDA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P2 8m阻塞7.609% [6.917,8.301]，未達1%。P4有支援與外包，不能把聯合效果都歸因於人力。</a:t>
            </a:r>
          </a:p>
        </p:txBody>
      </p:sp>
    </p:spTree>
    <p:extLst>
      <p:ext uri="{BB962C8B-B14F-4D97-AF65-F5344CB8AC3E}">
        <p14:creationId xmlns:p14="http://schemas.microsoft.com/office/powerpoint/2010/main" val="5122472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D42B81D-5B7A-4A5A-AED6-DEAA2C6E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a0a9fef49334536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90F0129-2287-4A73-A397-125AACE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C27E058-5B79-4B3B-A9B0-DA902F12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C83FA23-9378-4442-AABE-5684F00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0c56c66b2d46b1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CB41A9C-C286-45D0-B95E-46D13185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65525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4172871d3e4d5c">
              <a:extLst>
                <a:ext uri="{96DAC541-7B7A-43D3-8B79-37D633B846F1}">
                  <asvg:svgBlip xmlns:asvg="http://schemas.microsoft.com/office/drawing/2016/SVG/main" r:embed="R48fbcb075b4c42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CAD7C3E-CBC8-4AD1-98E6-B8788E95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7105700" y="7306913"/>
            <a:ext cx="555524" cy="558571"/>
          </a:xfrm>
          <a:custGeom xmlns:a="http://schemas.openxmlformats.org/drawingml/2006/main"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4172871d3e4d5c">
              <a:extLst>
                <a:ext uri="{96DAC541-7B7A-43D3-8B79-37D633B846F1}">
                  <asvg:svgBlip xmlns:asvg="http://schemas.microsoft.com/office/drawing/2016/SVG/main" r:embed="R48fbcb075b4c42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828D3F4-24ED-4EF7-B1CA-BA455E2C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1733" y="4329430"/>
            <a:ext cx="3813204" cy="3796227"/>
          </a:xfrm>
          <a:custGeom xmlns:a="http://schemas.openxmlformats.org/drawingml/2006/main">
            <a:rect l="l" t="t" r="r" b="b"/>
            <a:pathLst>
              <a:path w="14906544" h="14840178">
                <a:moveTo>
                  <a:pt x="7453273" y="75"/>
                </a:moveTo>
                <a:cubicBezTo>
                  <a:pt x="4794451" y="-11816"/>
                  <a:pt x="2332496" y="1399825"/>
                  <a:pt x="999642" y="3700470"/>
                </a:cubicBezTo>
                <a:cubicBezTo>
                  <a:pt x="-333213" y="6001115"/>
                  <a:pt x="-333213" y="8839064"/>
                  <a:pt x="999642" y="11139709"/>
                </a:cubicBezTo>
                <a:cubicBezTo>
                  <a:pt x="2332496" y="13440354"/>
                  <a:pt x="4794451" y="14851995"/>
                  <a:pt x="7453273" y="14840104"/>
                </a:cubicBezTo>
                <a:cubicBezTo>
                  <a:pt x="10112093" y="14851995"/>
                  <a:pt x="12574049" y="13440354"/>
                  <a:pt x="13906904" y="11139709"/>
                </a:cubicBezTo>
                <a:cubicBezTo>
                  <a:pt x="15239758" y="8839064"/>
                  <a:pt x="15239758" y="6001115"/>
                  <a:pt x="13906904" y="3700470"/>
                </a:cubicBezTo>
                <a:cubicBezTo>
                  <a:pt x="12574049" y="1399825"/>
                  <a:pt x="10112093" y="-11816"/>
                  <a:pt x="7453273" y="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AA90FF9-0828-46CE-BB2D-98B6B7BB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3221" y="4380689"/>
            <a:ext cx="3710226" cy="3693707"/>
          </a:xfrm>
          <a:custGeom xmlns:a="http://schemas.openxmlformats.org/drawingml/2006/main">
            <a:rect l="l" t="t" r="r" b="b"/>
            <a:pathLst>
              <a:path w="14503985" h="14439411">
                <a:moveTo>
                  <a:pt x="7251993" y="73"/>
                </a:moveTo>
                <a:cubicBezTo>
                  <a:pt x="4664974" y="-11497"/>
                  <a:pt x="2269506" y="1362022"/>
                  <a:pt x="972645" y="3600537"/>
                </a:cubicBezTo>
                <a:cubicBezTo>
                  <a:pt x="-324215" y="5839051"/>
                  <a:pt x="-324215" y="8600360"/>
                  <a:pt x="972645" y="10838875"/>
                </a:cubicBezTo>
                <a:cubicBezTo>
                  <a:pt x="2269506" y="13077389"/>
                  <a:pt x="4664974" y="14450908"/>
                  <a:pt x="7251993" y="14439338"/>
                </a:cubicBezTo>
                <a:cubicBezTo>
                  <a:pt x="9839011" y="14450908"/>
                  <a:pt x="12234479" y="13077389"/>
                  <a:pt x="13531340" y="10838875"/>
                </a:cubicBezTo>
                <a:cubicBezTo>
                  <a:pt x="14828201" y="8600360"/>
                  <a:pt x="14828201" y="5839051"/>
                  <a:pt x="13531340" y="3600537"/>
                </a:cubicBezTo>
                <a:cubicBezTo>
                  <a:pt x="12234479" y="1362022"/>
                  <a:pt x="9839011" y="-11497"/>
                  <a:pt x="7251993" y="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5376EB6-717D-45CE-8B0D-42158219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6144" y="4473198"/>
            <a:ext cx="3524380" cy="3508689"/>
          </a:xfrm>
          <a:custGeom xmlns:a="http://schemas.openxmlformats.org/drawingml/2006/main">
            <a:rect l="l" t="t" r="r" b="b"/>
            <a:pathLst>
              <a:path w="13777477" h="13716137">
                <a:moveTo>
                  <a:pt x="6888739" y="68"/>
                </a:moveTo>
                <a:cubicBezTo>
                  <a:pt x="4431305" y="-10922"/>
                  <a:pt x="2155826" y="1293797"/>
                  <a:pt x="923925" y="3420184"/>
                </a:cubicBezTo>
                <a:cubicBezTo>
                  <a:pt x="-307975" y="5546571"/>
                  <a:pt x="-307975" y="8169565"/>
                  <a:pt x="923925" y="10295952"/>
                </a:cubicBezTo>
                <a:cubicBezTo>
                  <a:pt x="2155826" y="12422339"/>
                  <a:pt x="4431305" y="13727058"/>
                  <a:pt x="6888739" y="13716068"/>
                </a:cubicBezTo>
                <a:cubicBezTo>
                  <a:pt x="9346172" y="13727058"/>
                  <a:pt x="11621651" y="12422339"/>
                  <a:pt x="12853552" y="10295952"/>
                </a:cubicBezTo>
                <a:cubicBezTo>
                  <a:pt x="14085452" y="8169565"/>
                  <a:pt x="14085452" y="5546571"/>
                  <a:pt x="12853552" y="3420184"/>
                </a:cubicBezTo>
                <a:cubicBezTo>
                  <a:pt x="11621651" y="1293797"/>
                  <a:pt x="9346172" y="-10922"/>
                  <a:pt x="6888739" y="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452A874-B366-4FE7-AD23-2D1E8962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40157" y="4329430"/>
            <a:ext cx="3813204" cy="3796227"/>
          </a:xfrm>
          <a:custGeom xmlns:a="http://schemas.openxmlformats.org/drawingml/2006/main">
            <a:rect l="l" t="t" r="r" b="b"/>
            <a:pathLst>
              <a:path w="14906544" h="14840178">
                <a:moveTo>
                  <a:pt x="7453273" y="75"/>
                </a:moveTo>
                <a:cubicBezTo>
                  <a:pt x="4794451" y="-11816"/>
                  <a:pt x="2332496" y="1399825"/>
                  <a:pt x="999642" y="3700470"/>
                </a:cubicBezTo>
                <a:cubicBezTo>
                  <a:pt x="-333213" y="6001115"/>
                  <a:pt x="-333213" y="8839064"/>
                  <a:pt x="999642" y="11139709"/>
                </a:cubicBezTo>
                <a:cubicBezTo>
                  <a:pt x="2332496" y="13440354"/>
                  <a:pt x="4794451" y="14851995"/>
                  <a:pt x="7453273" y="14840104"/>
                </a:cubicBezTo>
                <a:cubicBezTo>
                  <a:pt x="10112093" y="14851995"/>
                  <a:pt x="12574049" y="13440354"/>
                  <a:pt x="13906904" y="11139709"/>
                </a:cubicBezTo>
                <a:cubicBezTo>
                  <a:pt x="15239758" y="8839064"/>
                  <a:pt x="15239758" y="6001115"/>
                  <a:pt x="13906904" y="3700470"/>
                </a:cubicBezTo>
                <a:cubicBezTo>
                  <a:pt x="12574049" y="1399825"/>
                  <a:pt x="10112093" y="-11816"/>
                  <a:pt x="7453273" y="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D50F66F-4FDE-4D38-A3EE-4742587C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91645" y="4380689"/>
            <a:ext cx="3710226" cy="3693707"/>
          </a:xfrm>
          <a:custGeom xmlns:a="http://schemas.openxmlformats.org/drawingml/2006/main">
            <a:rect l="l" t="t" r="r" b="b"/>
            <a:pathLst>
              <a:path w="14503985" h="14439411">
                <a:moveTo>
                  <a:pt x="7251993" y="73"/>
                </a:moveTo>
                <a:cubicBezTo>
                  <a:pt x="4664974" y="-11497"/>
                  <a:pt x="2269506" y="1362022"/>
                  <a:pt x="972645" y="3600537"/>
                </a:cubicBezTo>
                <a:cubicBezTo>
                  <a:pt x="-324215" y="5839051"/>
                  <a:pt x="-324215" y="8600360"/>
                  <a:pt x="972645" y="10838875"/>
                </a:cubicBezTo>
                <a:cubicBezTo>
                  <a:pt x="2269506" y="13077389"/>
                  <a:pt x="4664974" y="14450908"/>
                  <a:pt x="7251993" y="14439338"/>
                </a:cubicBezTo>
                <a:cubicBezTo>
                  <a:pt x="9839011" y="14450908"/>
                  <a:pt x="12234479" y="13077389"/>
                  <a:pt x="13531340" y="10838875"/>
                </a:cubicBezTo>
                <a:cubicBezTo>
                  <a:pt x="14828201" y="8600360"/>
                  <a:pt x="14828201" y="5839051"/>
                  <a:pt x="13531340" y="3600537"/>
                </a:cubicBezTo>
                <a:cubicBezTo>
                  <a:pt x="12234479" y="1362022"/>
                  <a:pt x="9839011" y="-11497"/>
                  <a:pt x="7251993" y="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C9634BA-6799-4595-B588-725A6015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84568" y="4473198"/>
            <a:ext cx="3524380" cy="3508689"/>
          </a:xfrm>
          <a:custGeom xmlns:a="http://schemas.openxmlformats.org/drawingml/2006/main">
            <a:rect l="l" t="t" r="r" b="b"/>
            <a:pathLst>
              <a:path w="13777477" h="13716137">
                <a:moveTo>
                  <a:pt x="6888739" y="68"/>
                </a:moveTo>
                <a:cubicBezTo>
                  <a:pt x="4431305" y="-10922"/>
                  <a:pt x="2155826" y="1293797"/>
                  <a:pt x="923925" y="3420184"/>
                </a:cubicBezTo>
                <a:cubicBezTo>
                  <a:pt x="-307975" y="5546571"/>
                  <a:pt x="-307975" y="8169565"/>
                  <a:pt x="923925" y="10295952"/>
                </a:cubicBezTo>
                <a:cubicBezTo>
                  <a:pt x="2155826" y="12422339"/>
                  <a:pt x="4431305" y="13727058"/>
                  <a:pt x="6888739" y="13716068"/>
                </a:cubicBezTo>
                <a:cubicBezTo>
                  <a:pt x="9346172" y="13727058"/>
                  <a:pt x="11621651" y="12422339"/>
                  <a:pt x="12853552" y="10295952"/>
                </a:cubicBezTo>
                <a:cubicBezTo>
                  <a:pt x="14085452" y="8169565"/>
                  <a:pt x="14085452" y="5546571"/>
                  <a:pt x="12853552" y="3420184"/>
                </a:cubicBezTo>
                <a:cubicBezTo>
                  <a:pt x="11621651" y="1293797"/>
                  <a:pt x="9346172" y="-10922"/>
                  <a:pt x="6888739" y="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1B26996-6B38-48D6-B800-8C8DD742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9914" y="4329449"/>
            <a:ext cx="300038" cy="300038"/>
          </a:xfrm>
          <a:custGeom xmlns:a="http://schemas.openxmlformats.org/drawingml/2006/main">
            <a:rect l="l" t="t" r="r" b="b"/>
            <a:pathLst>
              <a:path w="79022" h="79022">
                <a:moveTo>
                  <a:pt x="0" y="0"/>
                </a:moveTo>
                <a:lnTo>
                  <a:pt x="79022" y="0"/>
                </a:lnTo>
                <a:lnTo>
                  <a:pt x="79022" y="79022"/>
                </a:lnTo>
                <a:lnTo>
                  <a:pt x="0" y="79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1DECCA2-5EEE-4BC9-9A49-8A9533DE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9914" y="4510275"/>
            <a:ext cx="300038" cy="11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2F5E5A2-AF48-4DEB-A76E-A116EBCB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2970A48-E311-46D6-A71C-06BD2DC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11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7C4F580-DC9E-4272-B70F-813F9BC1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6381" y="2306473"/>
            <a:ext cx="3400168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466173-938B-4DE2-A192-09591F9D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9979" y="2306473"/>
            <a:ext cx="592257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CEDE8DC-2B7E-4728-9E50-4A71A3C6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9914" y="4741578"/>
            <a:ext cx="18882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76"/>
              </a:lnSpc>
              <a:buNone/>
            </a:pPr>
            <a:r>
              <a:rPr sz="2751" b="1">
                <a:solidFill>
                  <a:srgbClr val="C9BBE8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7E2B2AB-5504-49F5-9E9B-293103C1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9914" y="5899065"/>
            <a:ext cx="2323967" cy="2830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9"/>
              </a:lnSpc>
              <a:spcBef>
                <a:spcPct val="0"/>
              </a:spcBef>
              <a:buNone/>
            </a:pPr>
            <a:r>
              <a:rPr sz="1592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649277F-5EA9-4178-AAE1-AE18DD80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67937" y="4329449"/>
            <a:ext cx="300038" cy="300038"/>
          </a:xfrm>
          <a:custGeom xmlns:a="http://schemas.openxmlformats.org/drawingml/2006/main">
            <a:rect l="l" t="t" r="r" b="b"/>
            <a:pathLst>
              <a:path w="79022" h="79022">
                <a:moveTo>
                  <a:pt x="0" y="0"/>
                </a:moveTo>
                <a:lnTo>
                  <a:pt x="79022" y="0"/>
                </a:lnTo>
                <a:lnTo>
                  <a:pt x="79022" y="79022"/>
                </a:lnTo>
                <a:lnTo>
                  <a:pt x="0" y="79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94F0E2D-1E58-4B5A-A82B-F405BD3D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67937" y="4510275"/>
            <a:ext cx="300038" cy="11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D4D0136-16C9-4705-885F-0E816174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7937" y="4741578"/>
            <a:ext cx="1888248" cy="454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76"/>
              </a:lnSpc>
              <a:buNone/>
            </a:pPr>
            <a:r>
              <a:rPr sz="2751" b="1">
                <a:solidFill>
                  <a:srgbClr val="C9BBE8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75F3A0E4-58FD-471F-AFE8-A27F2931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7937" y="5899065"/>
            <a:ext cx="2323967" cy="2830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9"/>
              </a:lnSpc>
              <a:spcBef>
                <a:spcPct val="0"/>
              </a:spcBef>
              <a:buNone/>
            </a:pPr>
            <a:r>
              <a:rPr sz="1592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31" name="內容_11_處方 DOE">
            <a:extLst xmlns:a="http://schemas.openxmlformats.org/drawingml/2006/main">
              <a:ext uri="{FF2B5EF4-FFF2-40B4-BE49-F238E27FC236}">
                <a16:creationId xmlns:a16="http://schemas.microsoft.com/office/drawing/2014/main" id="{10CEB891-7164-470E-8CBF-A970B8CE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處方 DOE</a:t>
            </a:r>
          </a:p>
        </p:txBody>
      </p:sp>
      <p:sp>
        <p:nvSpPr>
          <p:cNvPr id="32" name="內容_11_緩衝與調派必須一起評估">
            <a:extLst xmlns:a="http://schemas.openxmlformats.org/drawingml/2006/main">
              <a:ext uri="{FF2B5EF4-FFF2-40B4-BE49-F238E27FC236}">
                <a16:creationId xmlns:a16="http://schemas.microsoft.com/office/drawing/2014/main" id="{7176B777-02D5-437B-86E9-3D15A5FD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緩衝與調派必須一起評估</a:t>
            </a:r>
          </a:p>
        </p:txBody>
      </p:sp>
      <p:graphicFrame>
        <p:nvGraphicFramePr>
          <p:cNvPr id="33" name="Chart">
            <a:extLst xmlns:a="http://schemas.openxmlformats.org/drawingml/2006/main">
              <a:ext uri="{FF2B5EF4-FFF2-40B4-BE49-F238E27FC236}">
                <a16:creationId xmlns:a16="http://schemas.microsoft.com/office/drawing/2014/main" id="{13122677-26FA-4659-93B7-13203AF931CC}"/>
              </a:ext>
            </a:extLst>
          </p:cNvPr>
          <p:cNvGraphicFramePr/>
          <p:nvPr/>
        </p:nvGraphicFramePr>
        <p:xfrm>
          <a:off xmlns:a="http://schemas.openxmlformats.org/drawingml/2006/main" x="1581150" y="4238625"/>
          <a:ext xmlns:a="http://schemas.openxmlformats.org/drawingml/2006/main" cx="142875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e1429518d74837"/>
          </a:graphicData>
        </a:graphic>
      </p:graphicFrame>
      <p:sp>
        <p:nvSpPr>
          <p:cNvPr id="34" name="內容_11_3種情境 × 15種處方／長">
            <a:extLst xmlns:a="http://schemas.openxmlformats.org/drawingml/2006/main">
              <a:ext uri="{FF2B5EF4-FFF2-40B4-BE49-F238E27FC236}">
                <a16:creationId xmlns:a16="http://schemas.microsoft.com/office/drawing/2014/main" id="{C0C3DB1B-26F1-420D-B67C-68B18C66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3種情境 × 15種處方／長度 × 30次；各跑7日、暖機24h。0m採實際旁路，非隱藏容量。</a:t>
            </a:r>
          </a:p>
        </p:txBody>
      </p:sp>
    </p:spTree>
    <p:extLst>
      <p:ext uri="{BB962C8B-B14F-4D97-AF65-F5344CB8AC3E}">
        <p14:creationId xmlns:p14="http://schemas.microsoft.com/office/powerpoint/2010/main" val="1167066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6BA5682-B3B5-4574-956C-87E3862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6fb6c3fe054ef3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1366FBC-49CE-4C6D-B383-61319C37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5A5BFCE-C166-4119-9AF0-A0B69063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D7BBDC2-5661-4B75-9CC5-ED9D807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27dc6de8744abf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3C111F5-2240-432F-96EB-4E899D32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5285" y="2066012"/>
            <a:ext cx="4796896" cy="608841"/>
          </a:xfrm>
          <a:custGeom xmlns:a="http://schemas.openxmlformats.org/drawingml/2006/main">
            <a:rect l="l" t="t" r="r" b="b"/>
            <a:pathLst>
              <a:path w="3201916" h="406400">
                <a:moveTo>
                  <a:pt x="2998716" y="0"/>
                </a:moveTo>
                <a:cubicBezTo>
                  <a:pt x="3110941" y="0"/>
                  <a:pt x="3201916" y="90976"/>
                  <a:pt x="3201916" y="203200"/>
                </a:cubicBezTo>
                <a:cubicBezTo>
                  <a:pt x="3201916" y="315424"/>
                  <a:pt x="3110941" y="406400"/>
                  <a:pt x="299871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3D9C67E-E284-441A-A6E1-797B8FE7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5285" y="2137360"/>
            <a:ext cx="4796896" cy="53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F11C8A8-3BD6-4C9B-ACD3-F1F8847F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3839" y="2179447"/>
            <a:ext cx="320992" cy="320993"/>
          </a:xfrm>
          <a:custGeom xmlns:a="http://schemas.openxmlformats.org/drawingml/2006/main">
            <a:rect l="l" t="t" r="r" b="b"/>
            <a:pathLst>
              <a:path w="320992" h="320993">
                <a:moveTo>
                  <a:pt x="0" y="0"/>
                </a:moveTo>
                <a:lnTo>
                  <a:pt x="320993" y="0"/>
                </a:lnTo>
                <a:lnTo>
                  <a:pt x="320993" y="320992"/>
                </a:lnTo>
                <a:lnTo>
                  <a:pt x="0" y="3209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E1B6B78-6121-4F37-AA6C-8064B876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5285" y="5228195"/>
            <a:ext cx="4796896" cy="608841"/>
          </a:xfrm>
          <a:custGeom xmlns:a="http://schemas.openxmlformats.org/drawingml/2006/main">
            <a:rect l="l" t="t" r="r" b="b"/>
            <a:pathLst>
              <a:path w="3201916" h="406400">
                <a:moveTo>
                  <a:pt x="2998716" y="0"/>
                </a:moveTo>
                <a:cubicBezTo>
                  <a:pt x="3110941" y="0"/>
                  <a:pt x="3201916" y="90976"/>
                  <a:pt x="3201916" y="203200"/>
                </a:cubicBezTo>
                <a:cubicBezTo>
                  <a:pt x="3201916" y="315424"/>
                  <a:pt x="3110941" y="406400"/>
                  <a:pt x="299871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3485020-6AE8-4D12-B995-5B8AD22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5285" y="5299543"/>
            <a:ext cx="4796896" cy="53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14F3F4D-E60C-4D10-9168-1F1AD7C9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3839" y="5384737"/>
            <a:ext cx="320992" cy="320992"/>
          </a:xfrm>
          <a:custGeom xmlns:a="http://schemas.openxmlformats.org/drawingml/2006/main">
            <a:rect l="l" t="t" r="r" b="b"/>
            <a:pathLst>
              <a:path w="320992" h="320992">
                <a:moveTo>
                  <a:pt x="0" y="0"/>
                </a:moveTo>
                <a:lnTo>
                  <a:pt x="320993" y="0"/>
                </a:lnTo>
                <a:lnTo>
                  <a:pt x="320993" y="320993"/>
                </a:lnTo>
                <a:lnTo>
                  <a:pt x="0" y="3209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8C40535-D858-4459-9CDB-C78AA122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8862" y="5143500"/>
            <a:ext cx="4734156" cy="3535291"/>
          </a:xfrm>
          <a:custGeom xmlns:a="http://schemas.openxmlformats.org/drawingml/2006/main">
            <a:rect l="l" t="t" r="r" b="b"/>
            <a:pathLst>
              <a:path w="4734156" h="3535291">
                <a:moveTo>
                  <a:pt x="0" y="0"/>
                </a:moveTo>
                <a:lnTo>
                  <a:pt x="4734157" y="0"/>
                </a:lnTo>
                <a:lnTo>
                  <a:pt x="4734157" y="3535291"/>
                </a:lnTo>
                <a:lnTo>
                  <a:pt x="0" y="35352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12B9F52-0038-47BD-B28B-6B39C54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0376" y="3448422"/>
            <a:ext cx="7580571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D22DAE-987E-4458-9412-8A675126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C78AF1B-BFE0-45B5-9D38-1BD8C135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12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C0A2B8C-0208-4D48-8BB1-11151E5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0376" y="2391147"/>
            <a:ext cx="540822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51768C7-C981-45E1-8EF0-094FCE27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2362" y="2911009"/>
            <a:ext cx="7822954" cy="381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06"/>
              </a:lnSpc>
              <a:spcBef>
                <a:spcPct val="0"/>
              </a:spcBef>
              <a:buNone/>
            </a:pPr>
            <a:r>
              <a:rPr sz="21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EFC35F5-EDEC-43A6-8502-46928F5B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472" y="2129156"/>
            <a:ext cx="3554290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B3A9EB4-5434-4669-A6B8-4C1B2390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2362" y="6073192"/>
            <a:ext cx="7822954" cy="381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06"/>
              </a:lnSpc>
              <a:spcBef>
                <a:spcPct val="0"/>
              </a:spcBef>
              <a:buNone/>
            </a:pPr>
            <a:r>
              <a:rPr sz="214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00897D2-1134-4C12-B009-445F7E17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472" y="5291339"/>
            <a:ext cx="3554290" cy="432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9"/>
              </a:lnSpc>
              <a:spcBef>
                <a:spcPct val="0"/>
              </a:spcBef>
              <a:buNone/>
            </a:pPr>
            <a:r>
              <a:rPr sz="2435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24" name="內容_12_主推方案：P4 12m">
            <a:extLst xmlns:a="http://schemas.openxmlformats.org/drawingml/2006/main">
              <a:ext uri="{FF2B5EF4-FFF2-40B4-BE49-F238E27FC236}">
                <a16:creationId xmlns:a16="http://schemas.microsoft.com/office/drawing/2014/main" id="{4F574373-7AC5-4615-97B8-4F9F4134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主推方案：P4 12m</a:t>
            </a:r>
          </a:p>
        </p:txBody>
      </p:sp>
      <p:sp>
        <p:nvSpPr>
          <p:cNvPr id="25" name="內容_12_服務要求下選12m，8m為備">
            <a:extLst xmlns:a="http://schemas.openxmlformats.org/drawingml/2006/main">
              <a:ext uri="{FF2B5EF4-FFF2-40B4-BE49-F238E27FC236}">
                <a16:creationId xmlns:a16="http://schemas.microsoft.com/office/drawing/2014/main" id="{3A96B36E-E9C5-46D9-B329-0E6F5EA3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服務要求下選12m，8m為備選</a:t>
            </a:r>
          </a:p>
        </p:txBody>
      </p:sp>
      <p:graphicFrame>
        <p:nvGraphicFrame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2D342-A266-4DD5-B908-2AB47F51FF70}"/>
              </a:ext>
            </a:extLst>
          </p:cNvPr>
          <p:cNvGraphicFramePr/>
          <p:nvPr/>
        </p:nvGraphicFramePr>
        <p:xfrm>
          <a:off xmlns:a="http://schemas.openxmlformats.org/drawingml/2006/main" x="1581150" y="4333875"/>
          <a:ext xmlns:a="http://schemas.openxmlformats.org/drawingml/2006/main" cx="14287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3571875"/>
                <a:gridCol w="3571875"/>
                <a:gridCol w="3571875"/>
              </a:tblGrid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S1 指標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Before P0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低預算備選：8m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主推：P4 12m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Blocked 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12.22 [11.37, 13.07]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0.95 [0.78, 1.12]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0.71 [0.57, 0.86]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平均Q-Time min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19.71 [17.79, 21.63]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5.52 [5.25, 5.78]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5.01 [4.77, 5.26]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結案率下界 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99.82 [99.76, 99.88]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99.94 [99.93, 99.95]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99.94 [99.93, 99.95]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資本支出 NT$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8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27" name="內容_12_主推12m採額外CI上界&lt;1">
            <a:extLst xmlns:a="http://schemas.openxmlformats.org/drawingml/2006/main">
              <a:ext uri="{FF2B5EF4-FFF2-40B4-BE49-F238E27FC236}">
                <a16:creationId xmlns:a16="http://schemas.microsoft.com/office/drawing/2014/main" id="{17A95301-D130-44F5-BD9C-156E4642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主推12m採額外CI上界&lt;1%的服務風險限制；8m僅符合原均值規則。兩者直接ROI均為負。</a:t>
            </a:r>
          </a:p>
        </p:txBody>
      </p:sp>
    </p:spTree>
    <p:extLst>
      <p:ext uri="{BB962C8B-B14F-4D97-AF65-F5344CB8AC3E}">
        <p14:creationId xmlns:p14="http://schemas.microsoft.com/office/powerpoint/2010/main" val="2502505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8CDBF9B-8365-462A-A4AB-B4696DE0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d85babd155431c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F1B8A36-75AB-41B3-90FE-B1397233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DA29F13-603A-4AA7-8A71-9B8E70DC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605EDCD-E6BE-4CE4-8992-591442DD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52a0b851534a24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4E2F695-0595-438C-8F35-C3711186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A698D05-7585-454F-84E7-2A89F88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13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F41F07C-C3CD-48DA-ABDD-9693F29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3491085"/>
            <a:ext cx="8762872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4F83B2-ED29-4ECB-8541-07F4A1BF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2462385"/>
            <a:ext cx="4108065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6C578F5E-D87B-4299-A268-95427D44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346" y="4932854"/>
            <a:ext cx="8494452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C73CABA-17DF-4BDF-B69E-921A3863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2502" y="1456474"/>
            <a:ext cx="3246603" cy="3246603"/>
          </a:xfrm>
          <a:custGeom xmlns:a="http://schemas.openxmlformats.org/drawingml/2006/main">
            <a:rect l="l" t="t" r="r" b="b"/>
            <a:pathLst>
              <a:path w="3246603" h="3246603">
                <a:moveTo>
                  <a:pt x="0" y="0"/>
                </a:moveTo>
                <a:lnTo>
                  <a:pt x="3246603" y="0"/>
                </a:lnTo>
                <a:lnTo>
                  <a:pt x="3246603" y="3246602"/>
                </a:lnTo>
                <a:lnTo>
                  <a:pt x="0" y="32466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36FE7F3-AC23-45E5-A3A3-C02C3BC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49013" y="1924868"/>
            <a:ext cx="2575779" cy="2309814"/>
          </a:xfrm>
          <a:custGeom xmlns:a="http://schemas.openxmlformats.org/drawingml/2006/main">
            <a:rect l="l" t="t" r="r" b="b"/>
            <a:pathLst>
              <a:path w="812800" h="728874">
                <a:moveTo>
                  <a:pt x="0" y="0"/>
                </a:moveTo>
                <a:lnTo>
                  <a:pt x="812800" y="0"/>
                </a:lnTo>
                <a:lnTo>
                  <a:pt x="812800" y="728874"/>
                </a:lnTo>
                <a:lnTo>
                  <a:pt x="0" y="7288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B2D9B28-89D1-41CB-8E70-070701F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3601" y="4934397"/>
            <a:ext cx="3246603" cy="3246603"/>
          </a:xfrm>
          <a:custGeom xmlns:a="http://schemas.openxmlformats.org/drawingml/2006/main">
            <a:rect l="l" t="t" r="r" b="b"/>
            <a:pathLst>
              <a:path w="3246603" h="3246603">
                <a:moveTo>
                  <a:pt x="0" y="0"/>
                </a:moveTo>
                <a:lnTo>
                  <a:pt x="3246602" y="0"/>
                </a:lnTo>
                <a:lnTo>
                  <a:pt x="3246602" y="3246603"/>
                </a:lnTo>
                <a:lnTo>
                  <a:pt x="0" y="3246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3C3E550-0764-4D81-AA97-E99D5F70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50111" y="5402791"/>
            <a:ext cx="2575779" cy="2309814"/>
          </a:xfrm>
          <a:custGeom xmlns:a="http://schemas.openxmlformats.org/drawingml/2006/main">
            <a:rect l="l" t="t" r="r" b="b"/>
            <a:pathLst>
              <a:path w="812800" h="728874">
                <a:moveTo>
                  <a:pt x="0" y="0"/>
                </a:moveTo>
                <a:lnTo>
                  <a:pt x="812800" y="0"/>
                </a:lnTo>
                <a:lnTo>
                  <a:pt x="812800" y="728874"/>
                </a:lnTo>
                <a:lnTo>
                  <a:pt x="0" y="7288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內容_13_財務：投資與營運分開">
            <a:extLst xmlns:a="http://schemas.openxmlformats.org/drawingml/2006/main">
              <a:ext uri="{FF2B5EF4-FFF2-40B4-BE49-F238E27FC236}">
                <a16:creationId xmlns:a16="http://schemas.microsoft.com/office/drawing/2014/main" id="{41174807-2412-4ABC-ABE3-46114151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財務：投資與營運分開</a:t>
            </a:r>
          </a:p>
        </p:txBody>
      </p:sp>
      <p:sp>
        <p:nvSpPr>
          <p:cNvPr id="19" name="內容_13_服務改善，仍無正向回收期">
            <a:extLst xmlns:a="http://schemas.openxmlformats.org/drawingml/2006/main">
              <a:ext uri="{FF2B5EF4-FFF2-40B4-BE49-F238E27FC236}">
                <a16:creationId xmlns:a16="http://schemas.microsoft.com/office/drawing/2014/main" id="{0A0DC26B-6233-46F4-BF33-9897A7AA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服務改善，仍無正向回收期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78F5E-B1EB-4110-A043-1EC03A8E00D6}"/>
              </a:ext>
            </a:extLst>
          </p:cNvPr>
          <p:cNvGraphicFramePr/>
          <p:nvPr/>
        </p:nvGraphicFramePr>
        <p:xfrm>
          <a:off xmlns:a="http://schemas.openxmlformats.org/drawingml/2006/main" x="1581150" y="4333875"/>
          <a:ext xmlns:a="http://schemas.openxmlformats.org/drawingml/2006/main" cx="14287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  <a:gridCol w="4762500"/>
              </a:tblGrid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財務指標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P4 8m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P4 12m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初始投資 NT$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相較P1少投資 NT$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1,420,000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1,380,000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相較P0年淨效益 NT$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-64,374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-50,937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  <a:tr h="695325"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ROI／正回收期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-80.47%／無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2100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-42.45%／無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</a:tr>
            </a:tbl>
          </a:graphicData>
        </a:graphic>
      </p:graphicFrame>
      <p:sp>
        <p:nvSpPr>
          <p:cNvPr id="21" name="內容_13_主DOE 1350次的24h">
            <a:extLst xmlns:a="http://schemas.openxmlformats.org/drawingml/2006/main">
              <a:ext uri="{FF2B5EF4-FFF2-40B4-BE49-F238E27FC236}">
                <a16:creationId xmlns:a16="http://schemas.microsoft.com/office/drawing/2014/main" id="{DFABB30D-A389-4583-AF15-06F70A07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主DOE 1350次的24h損失全為0，沒有這項可省收益；12m包材節約39.17%仍未達65%。</a:t>
            </a:r>
          </a:p>
        </p:txBody>
      </p:sp>
    </p:spTree>
    <p:extLst>
      <p:ext uri="{BB962C8B-B14F-4D97-AF65-F5344CB8AC3E}">
        <p14:creationId xmlns:p14="http://schemas.microsoft.com/office/powerpoint/2010/main" val="21065996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A020D21-AD75-4EDE-80E4-FB3BB17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b8073343dc4d4e"/>
            <a:stretch>
              <a:fillRect l="-35258" t="-5555" r="-24931" b="-72434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D6FE33E-1638-46AC-8698-CCFB95CF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BBED81B-CA89-4D29-AD0B-9493BA92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7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CD2E62B-4AD3-4E0B-85F7-7874AA9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4888d5909542ed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C67DA7B-F5A3-4790-9CD7-53F02C3B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967673" h="8229600">
                <a:moveTo>
                  <a:pt x="0" y="0"/>
                </a:moveTo>
                <a:lnTo>
                  <a:pt x="3967673" y="0"/>
                </a:lnTo>
                <a:lnTo>
                  <a:pt x="39676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568C830-6EB4-4C19-886A-D871E39E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B611BE2-2B38-4E11-B569-6D9D3D0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14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89F927-8849-43EE-9F58-9CBC637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0897" y="3485662"/>
            <a:ext cx="5543293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0C27C7B-56AD-4939-A5EC-EDBB2FA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0897" y="2399812"/>
            <a:ext cx="6951277" cy="1374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22"/>
              </a:lnSpc>
              <a:spcBef>
                <a:spcPct val="0"/>
              </a:spcBef>
              <a:buNone/>
            </a:pPr>
            <a:r>
              <a:rPr sz="7730" b="1">
                <a:solidFill>
                  <a:srgbClr val="A280EC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2D0888C-89A3-4E05-9142-CF788B3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0897" y="4932854"/>
            <a:ext cx="8494452" cy="41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4"/>
              </a:lnSpc>
              <a:spcBef>
                <a:spcPct val="0"/>
              </a:spcBef>
              <a:buNone/>
            </a:pPr>
            <a:r>
              <a:rPr sz="2317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32E8112-0768-41C7-8EDB-2E893AE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122125" y="2693077"/>
            <a:ext cx="4240473" cy="4240473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內容_14_展示：指標要可比較">
            <a:extLst xmlns:a="http://schemas.openxmlformats.org/drawingml/2006/main">
              <a:ext uri="{FF2B5EF4-FFF2-40B4-BE49-F238E27FC236}">
                <a16:creationId xmlns:a16="http://schemas.microsoft.com/office/drawing/2014/main" id="{063E9AFE-D049-473C-8CAE-A22AFC9E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280EC"/>
                </a:solidFill>
                <a:latin typeface="Microsoft JhengHei"/>
                <a:ea typeface="Microsoft JhengHei"/>
                <a:cs typeface="Microsoft JhengHei"/>
              </a:rPr>
              <a:t>展示：指標要可比較</a:t>
            </a:r>
          </a:p>
        </p:txBody>
      </p:sp>
      <p:sp>
        <p:nvSpPr>
          <p:cNvPr id="15" name="內容_14_設備占比熱圖，取代含糊著色">
            <a:extLst xmlns:a="http://schemas.openxmlformats.org/drawingml/2006/main">
              <a:ext uri="{FF2B5EF4-FFF2-40B4-BE49-F238E27FC236}">
                <a16:creationId xmlns:a16="http://schemas.microsoft.com/office/drawing/2014/main" id="{C8937D6A-B940-46BA-84C1-C22DA741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52750"/>
            <a:ext cx="1428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設備占比熱圖，取代含糊著色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84ED5-8F4E-40DA-833B-72283423DDE7}"/>
              </a:ext>
            </a:extLst>
          </p:cNvPr>
          <p:cNvGraphicFramePr/>
          <p:nvPr/>
        </p:nvGraphicFramePr>
        <p:xfrm>
          <a:off xmlns:a="http://schemas.openxmlformats.org/drawingml/2006/main" x="1581150" y="4381500"/>
          <a:ext xmlns:a="http://schemas.openxmlformats.org/drawingml/2006/main" cx="9334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66813"/>
                <a:gridCol w="1166813"/>
                <a:gridCol w="1166813"/>
                <a:gridCol w="1166813"/>
                <a:gridCol w="1166813"/>
                <a:gridCol w="1166813"/>
                <a:gridCol w="1166813"/>
                <a:gridCol w="1166813"/>
              </a:tblGrid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指標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清洗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拆包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1">
                          <a:solidFill>
                            <a:srgbClr val="DF96D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T w="6668">
                      <a:solidFill>
                        <a:srgbClr val="654A79"/>
                      </a:solidFill>
                      <a:prstDash val="solid"/>
                    </a:lnT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52547"/>
                    </a:solidFill>
                  </a:tcPr>
                </a:tc>
              </a:tr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前加工%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68.57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722468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18.38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11538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91.10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8F2A7D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48.90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591E55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28.01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D1841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20.87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4163A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14.67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2C1434"/>
                    </a:solidFill>
                  </a:tcPr>
                </a:tc>
              </a:tr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後加工%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68.55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722468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20.91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4163A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87.28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8A297A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50.71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5B1F57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26.25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B183F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20.97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34163A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14.68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2C1434"/>
                    </a:solidFill>
                  </a:tcPr>
                </a:tc>
              </a:tr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前阻塞%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882978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0.37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271330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</a:tr>
              <a:tr h="609600"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後阻塞%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654A79"/>
                      </a:solidFill>
                      <a:prstDash val="solid"/>
                    </a:lnL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0D0912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2C1434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  <a:tc>
                  <a:txBody>
                    <a:bodyPr wrap="square" lIns="152400" tIns="85725" rIns="114300" bIns="76200"/>
                    <a:lstStyle/>
                    <a:p>
                      <a:r>
                        <a:rPr sz="1575" b="0">
                          <a:solidFill>
                            <a:srgbClr val="F6E0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654A79"/>
                      </a:solidFill>
                      <a:prstDash val="solid"/>
                    </a:lnR>
                    <a:lnB w="6668">
                      <a:solidFill>
                        <a:srgbClr val="654A79"/>
                      </a:solidFill>
                      <a:prstDash val="solid"/>
                    </a:lnB>
                    <a:solidFill>
                      <a:srgbClr val="191026"/>
                    </a:solidFill>
                  </a:tcPr>
                </a:tc>
              </a:tr>
            </a:tbl>
          </a:graphicData>
        </a:graphic>
      </p:graphicFrame>
      <p:sp>
        <p:nvSpPr>
          <p:cNvPr id="17" name="內容_14_加工色階0–100%；阻塞色">
            <a:extLst xmlns:a="http://schemas.openxmlformats.org/drawingml/2006/main">
              <a:ext uri="{FF2B5EF4-FFF2-40B4-BE49-F238E27FC236}">
                <a16:creationId xmlns:a16="http://schemas.microsoft.com/office/drawing/2014/main" id="{95111E9A-9291-40D0-B10C-1D84A3BA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524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加工色階0–100%；阻塞色階0–3.5%。</a:t>
            </a:r>
          </a:p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同seed101、同116100秒的累計占比。</a:t>
            </a:r>
          </a:p>
        </p:txBody>
      </p:sp>
      <p:sp>
        <p:nvSpPr>
          <p:cNvPr id="18" name="內容_14_原生WIP／清洗狀態">
            <a:extLst xmlns:a="http://schemas.openxmlformats.org/drawingml/2006/main">
              <a:ext uri="{FF2B5EF4-FFF2-40B4-BE49-F238E27FC236}">
                <a16:creationId xmlns:a16="http://schemas.microsoft.com/office/drawing/2014/main" id="{F88768E1-2B6F-436F-B331-142CD8E9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095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原生WIP／清洗狀態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A6412-B0A0-48F9-A9D2-39E67B04A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34b6ed9154941"/>
          <a:srcRect xmlns:a="http://schemas.openxmlformats.org/drawingml/2006/main" l="0" t="53500" r="10000" b="7000"/>
          <a:stretch xmlns:a="http://schemas.openxmlformats.org/drawingml/2006/main"/>
        </p:blipFill>
        <p:spPr>
          <a:xfrm xmlns:a="http://schemas.openxmlformats.org/drawingml/2006/main">
            <a:off x="11430000" y="4572000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20" name="內容_14_3D圖改稱設備績效著色截圖。">
            <a:extLst xmlns:a="http://schemas.openxmlformats.org/drawingml/2006/main">
              <a:ext uri="{FF2B5EF4-FFF2-40B4-BE49-F238E27FC236}">
                <a16:creationId xmlns:a16="http://schemas.microsoft.com/office/drawing/2014/main" id="{156E2E9F-59DE-4083-9C64-A6CFCE29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92A6DD"/>
                </a:solidFill>
                <a:latin typeface="Microsoft JhengHei"/>
                <a:ea typeface="Microsoft JhengHei"/>
                <a:cs typeface="Microsoft JhengHei"/>
              </a:rPr>
              <a:t>3D圖改稱設備績效著色截圖。「循環箱出庫占比100%」由模型結構保證，不列為改善成果。</a:t>
            </a:r>
          </a:p>
        </p:txBody>
      </p:sp>
    </p:spTree>
    <p:extLst>
      <p:ext uri="{BB962C8B-B14F-4D97-AF65-F5344CB8AC3E}">
        <p14:creationId xmlns:p14="http://schemas.microsoft.com/office/powerpoint/2010/main" val="12804949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A844A29-D955-40AD-B71F-FE7C2F8F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a8eff4e05b4003"/>
            <a:stretch>
              <a:fillRect l="-4156" t="0" r="-2479" b="-18484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63A7370-06C3-46D7-84F3-3A2C370E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74" y="830098"/>
            <a:ext cx="1628775" cy="1628775"/>
          </a:xfrm>
          <a:custGeom xmlns:a="http://schemas.openxmlformats.org/drawingml/2006/main"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c8dcafdd244e8a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0512939-0966-4AB4-A0A4-ACB6A06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3346" y="1320942"/>
            <a:ext cx="2410884" cy="608841"/>
          </a:xfrm>
          <a:custGeom xmlns:a="http://schemas.openxmlformats.org/drawingml/2006/main">
            <a:rect l="l" t="t" r="r" b="b"/>
            <a:pathLst>
              <a:path w="1609259" h="406400">
                <a:moveTo>
                  <a:pt x="1406059" y="0"/>
                </a:moveTo>
                <a:cubicBezTo>
                  <a:pt x="1518283" y="0"/>
                  <a:pt x="1609259" y="90976"/>
                  <a:pt x="1609259" y="203200"/>
                </a:cubicBezTo>
                <a:cubicBezTo>
                  <a:pt x="1609259" y="315424"/>
                  <a:pt x="1518283" y="406400"/>
                  <a:pt x="140605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ln xmlns:a="http://schemas.openxmlformats.org/drawingml/2006/main" w="19050" cap="sq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76C60C3-9CE9-4ADE-B523-556D5B43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3346" y="1392290"/>
            <a:ext cx="2410884" cy="537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425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357378-30BA-42F2-9E80-85B9DB3F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0" y="0"/>
                </a:moveTo>
                <a:lnTo>
                  <a:pt x="4240472" y="0"/>
                </a:lnTo>
                <a:lnTo>
                  <a:pt x="4240472" y="4240472"/>
                </a:lnTo>
                <a:lnTo>
                  <a:pt x="0" y="42404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036746B-AFD6-4AE3-B95A-91108428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13351" y="5492193"/>
            <a:ext cx="1281112" cy="257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9"/>
              </a:lnSpc>
              <a:spcBef>
                <a:spcPct val="0"/>
              </a:spcBef>
              <a:buNone/>
            </a:pPr>
            <a:r>
              <a:rPr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</a:rPr>
              <a:t>page 15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DAA9227-9D69-4ABB-B98D-A93B8281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9650" y="3188938"/>
            <a:ext cx="13102912" cy="252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9900"/>
              </a:lnSpc>
              <a:spcBef>
                <a:spcPct val="0"/>
              </a:spcBef>
              <a:buNone/>
            </a:pPr>
            <a:r>
              <a:rPr sz="14214" b="1">
                <a:solidFill>
                  <a:srgbClr val="F6E0F5"/>
                </a:solidFill>
                <a:latin typeface="Garet Bold"/>
                <a:ea typeface="Garet Bold"/>
                <a:cs typeface="Garet Bold"/>
              </a:rPr>
              <a:t/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621708-ADB0-490A-90A6-AAD8E84A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827" y="1507692"/>
            <a:ext cx="2386403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defPPr>
            <a:lvl1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1pPr>
            <a:lvl2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2pPr>
            <a:lvl3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3pPr>
            <a:lvl4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4pPr>
            <a:lvl5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5pPr>
            <a:lvl6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6pPr>
            <a:lvl7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7pPr>
            <a:lvl8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8pPr>
            <a:lvl9pPr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lvl9pPr>
          </a:lstStyle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  <a:defRPr sz="1800">
                <a:solidFill>
                  <a:srgbClr val="F6E0F5"/>
                </a:solidFill>
                <a:latin typeface="Garet"/>
                <a:ea typeface="Garet"/>
                <a:cs typeface="Garet"/>
              </a:defRPr>
            </a:pPr>
            <a:r>
              <a:rPr sz="1800">
                <a:solidFill>
                  <a:srgbClr val="F6E0F5"/>
                </a:solidFill>
                <a:latin typeface="Garet"/>
                <a:ea typeface="Garet"/>
                <a:cs typeface="Garet"/>
              </a:rPr>
              <a:t>FLEXSIM 2027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5BEBFF7-684C-4322-867D-43EC92D0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7040" y="5601985"/>
            <a:ext cx="7601340" cy="285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245"/>
              </a:lnSpc>
              <a:spcBef>
                <a:spcPct val="0"/>
              </a:spcBef>
              <a:buNone/>
            </a:pPr>
            <a:r>
              <a:rPr sz="1603" spc="266">
                <a:solidFill>
                  <a:srgbClr val="F6E0F5"/>
                </a:solidFill>
                <a:latin typeface="Garet"/>
                <a:ea typeface="Garet"/>
                <a:cs typeface="Garet"/>
              </a:rPr>
              <a:t/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CFD8879-E331-4C79-BFA3-9A18C94C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40473" h="4240473">
                <a:moveTo>
                  <a:pt x="0" y="0"/>
                </a:moveTo>
                <a:lnTo>
                  <a:pt x="4240472" y="0"/>
                </a:lnTo>
                <a:lnTo>
                  <a:pt x="4240472" y="4240473"/>
                </a:lnTo>
                <a:lnTo>
                  <a:pt x="0" y="42404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16827-B8B5-4BF1-893F-9FE94B2D4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b50d5cb2d4f85"/>
          <a:srcRect xmlns:a="http://schemas.openxmlformats.org/drawingml/2006/main" l="21025" t="21025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348895" cy="3348895"/>
          </a:xfrm>
          <a:prstGeom xmlns:a="http://schemas.openxmlformats.org/drawingml/2006/main" prst="rect">
            <a:avLst/>
          </a:prstGeom>
        </p:spPr>
      </p:pic>
      <p:sp>
        <p:nvSpPr>
          <p:cNvPr id="14" name="內容_15_主推P4 12m聯合控制">
            <a:extLst xmlns:a="http://schemas.openxmlformats.org/drawingml/2006/main">
              <a:ext uri="{FF2B5EF4-FFF2-40B4-BE49-F238E27FC236}">
                <a16:creationId xmlns:a16="http://schemas.microsoft.com/office/drawing/2014/main" id="{4B72766E-8679-4B77-9398-222D4F40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90875"/>
            <a:ext cx="1409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400" b="1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主推P4 12m聯合控制</a:t>
            </a:r>
          </a:p>
        </p:txBody>
      </p:sp>
      <p:sp>
        <p:nvSpPr>
          <p:cNvPr id="15" name="內容_15_S1有強制服務要求才採用；直">
            <a:extLst xmlns:a="http://schemas.openxmlformats.org/drawingml/2006/main">
              <a:ext uri="{FF2B5EF4-FFF2-40B4-BE49-F238E27FC236}">
                <a16:creationId xmlns:a16="http://schemas.microsoft.com/office/drawing/2014/main" id="{BB2CF7CB-5E62-43CC-B35A-F94A5AA9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DF96DA"/>
                </a:solidFill>
                <a:latin typeface="Microsoft JhengHei"/>
                <a:ea typeface="Microsoft JhengHei"/>
                <a:cs typeface="Microsoft JhengHei"/>
              </a:rPr>
              <a:t>S1有強制服務要求才採用；直接ROI仍為負</a:t>
            </a:r>
          </a:p>
        </p:txBody>
      </p:sp>
      <p:sp>
        <p:nvSpPr>
          <p:cNvPr id="16" name="內容_15_P2單獨8m不足；原均值最低">
            <a:extLst xmlns:a="http://schemas.openxmlformats.org/drawingml/2006/main">
              <a:ext uri="{FF2B5EF4-FFF2-40B4-BE49-F238E27FC236}">
                <a16:creationId xmlns:a16="http://schemas.microsoft.com/office/drawing/2014/main" id="{B977135F-2521-43DF-9214-75EB62DE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05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P2單獨8m不足；原均值最低8m留作低預算備選</a:t>
            </a:r>
          </a:p>
        </p:txBody>
      </p:sp>
      <p:sp>
        <p:nvSpPr>
          <p:cNvPr id="17" name="內容_15_Q&amp;A　原生模型、資料庫、逐">
            <a:extLst xmlns:a="http://schemas.openxmlformats.org/drawingml/2006/main">
              <a:ext uri="{FF2B5EF4-FFF2-40B4-BE49-F238E27FC236}">
                <a16:creationId xmlns:a16="http://schemas.microsoft.com/office/drawing/2014/main" id="{5B25850E-18DB-47C6-AEFC-4DAEEA07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096375"/>
            <a:ext cx="1600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F6E0F5"/>
                </a:solidFill>
                <a:latin typeface="Microsoft JhengHei"/>
                <a:ea typeface="Microsoft JhengHei"/>
                <a:cs typeface="Microsoft JhengHei"/>
              </a:rPr>
              <a:t>Q&amp;A　原生模型、資料庫、逐次原始數據與展示素材隨附</a:t>
            </a:r>
          </a:p>
        </p:txBody>
      </p:sp>
    </p:spTree>
    <p:extLst>
      <p:ext uri="{BB962C8B-B14F-4D97-AF65-F5344CB8AC3E}">
        <p14:creationId xmlns:p14="http://schemas.microsoft.com/office/powerpoint/2010/main" val="1653096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Project contributors</dc:creator>
  <lastModifiedBy>Walnut Exporter</lastModifiedBy>
  <dc:title>Presentation</dc:title>
  <dcterms:created xsi:type="dcterms:W3CDTF">2026-10-29T11:30:57.6570000Z</dcterms:created>
  <dcterms:modified xsi:type="dcterms:W3CDTF">2026-10-29T11:30:57.6570000Z</dcterms:modified>
</coreProperties>
</file>