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79f2c4117f482e" /><Relationship Type="http://schemas.openxmlformats.org/officeDocument/2006/relationships/extended-properties" Target="/docProps/app.xml" Id="Rf952ee5ee2634027" /><Relationship Type="http://schemas.openxmlformats.org/officeDocument/2006/relationships/officeDocument" Target="/ppt/presentation.xml" Id="Rc11aca8a9896406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9466a364e2241c0"/>
  </p:sldMasterIdLst>
  <p:notesMasterIdLst>
    <p:notesMasterId xmlns:r="http://schemas.openxmlformats.org/officeDocument/2006/relationships" r:id="Rf4265d04dab044d6"/>
  </p:notesMasterIdLst>
  <p:sldIdLst>
    <p:sldId xmlns:r="http://schemas.openxmlformats.org/officeDocument/2006/relationships" id="256" r:id="Ra5d15f12bc764879"/>
    <p:sldId xmlns:r="http://schemas.openxmlformats.org/officeDocument/2006/relationships" id="257" r:id="R2bf88ce343974dd8"/>
    <p:sldId xmlns:r="http://schemas.openxmlformats.org/officeDocument/2006/relationships" id="258" r:id="R7d84c26fb1f74264"/>
    <p:sldId xmlns:r="http://schemas.openxmlformats.org/officeDocument/2006/relationships" id="259" r:id="Rac728c145ccf4d00"/>
    <p:sldId xmlns:r="http://schemas.openxmlformats.org/officeDocument/2006/relationships" id="260" r:id="R1961106f9d7a4833"/>
    <p:sldId xmlns:r="http://schemas.openxmlformats.org/officeDocument/2006/relationships" id="261" r:id="R7d3bbcf8be934662"/>
    <p:sldId xmlns:r="http://schemas.openxmlformats.org/officeDocument/2006/relationships" id="262" r:id="R72c92b90a15e4af6"/>
    <p:sldId xmlns:r="http://schemas.openxmlformats.org/officeDocument/2006/relationships" id="263" r:id="R01550a5a325b42bd"/>
    <p:sldId xmlns:r="http://schemas.openxmlformats.org/officeDocument/2006/relationships" id="264" r:id="Rccdb96417d78444d"/>
    <p:sldId xmlns:r="http://schemas.openxmlformats.org/officeDocument/2006/relationships" id="265" r:id="R3af02bac0db2426f"/>
    <p:sldId xmlns:r="http://schemas.openxmlformats.org/officeDocument/2006/relationships" id="266" r:id="Rba64d249e3fc475e"/>
    <p:sldId xmlns:r="http://schemas.openxmlformats.org/officeDocument/2006/relationships" id="267" r:id="Rffd15032bbbb4377"/>
    <p:sldId xmlns:r="http://schemas.openxmlformats.org/officeDocument/2006/relationships" id="268" r:id="R1120fbce52444545"/>
    <p:sldId xmlns:r="http://schemas.openxmlformats.org/officeDocument/2006/relationships" id="269" r:id="R3d88ad9189b5427f"/>
    <p:sldId xmlns:r="http://schemas.openxmlformats.org/officeDocument/2006/relationships" id="270" r:id="Rb24543f2c7554395"/>
  </p:sldIdLst>
  <p:sldSz cx="18288000" cy="10287000"/>
  <p:notesSz cx="6858000" cy="9144000"/>
  <p:embeddedFontLst>
    <p:embeddedFont>
      <p:font typeface="Garet Bold"/>
      <p:regular xmlns:r="http://schemas.openxmlformats.org/officeDocument/2006/relationships" r:id="Rb51247a9c461443a"/>
    </p:embeddedFont>
    <p:embeddedFont>
      <p:font typeface="Garet"/>
      <p:regular xmlns:r="http://schemas.openxmlformats.org/officeDocument/2006/relationships" r:id="R81cfd1edb4124e5f"/>
    </p:embeddedFont>
    <p:embeddedFont>
      <p:font typeface="Poppins"/>
      <p:regular xmlns:r="http://schemas.openxmlformats.org/officeDocument/2006/relationships" r:id="Rb3aa9e07d41a4753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c46b894aff49b6" /><Relationship Type="http://schemas.openxmlformats.org/officeDocument/2006/relationships/slideMaster" Target="/ppt/slideMasters/slideMaster1.xml" Id="R89466a364e2241c0" /><Relationship Type="http://schemas.openxmlformats.org/officeDocument/2006/relationships/notesMaster" Target="/ppt/notesMasters/notesMaster1.xml" Id="Rf4265d04dab044d6" /><Relationship Type="http://schemas.openxmlformats.org/officeDocument/2006/relationships/presProps" Target="/ppt/presProps.xml" Id="R70f9d27a9e9d4d1a" /><Relationship Type="http://schemas.openxmlformats.org/officeDocument/2006/relationships/viewProps" Target="/ppt/viewProps.xml" Id="R68c6a5a03eda4074" /><Relationship Type="http://schemas.openxmlformats.org/officeDocument/2006/relationships/tableStyles" Target="/ppt/tableStyles.xml" Id="R1caa4edbe3654dba" /><Relationship Type="http://schemas.openxmlformats.org/officeDocument/2006/relationships/font" Target="/ppt/fonts/font.dat" Id="Rb51247a9c461443a" /><Relationship Type="http://schemas.openxmlformats.org/officeDocument/2006/relationships/font" Target="/ppt/fonts/font2.dat" Id="R81cfd1edb4124e5f" /><Relationship Type="http://schemas.openxmlformats.org/officeDocument/2006/relationships/font" Target="/ppt/fonts/font3.dat" Id="Rb3aa9e07d41a4753" /><Relationship Type="http://schemas.openxmlformats.org/officeDocument/2006/relationships/slide" Target="/ppt/slides/slide1.xml" Id="Ra5d15f12bc764879" /><Relationship Type="http://schemas.openxmlformats.org/officeDocument/2006/relationships/slide" Target="/ppt/slides/slide2.xml" Id="R2bf88ce343974dd8" /><Relationship Type="http://schemas.openxmlformats.org/officeDocument/2006/relationships/slide" Target="/ppt/slides/slide3.xml" Id="R7d84c26fb1f74264" /><Relationship Type="http://schemas.openxmlformats.org/officeDocument/2006/relationships/slide" Target="/ppt/slides/slide4.xml" Id="Rac728c145ccf4d00" /><Relationship Type="http://schemas.openxmlformats.org/officeDocument/2006/relationships/slide" Target="/ppt/slides/slide5.xml" Id="R1961106f9d7a4833" /><Relationship Type="http://schemas.openxmlformats.org/officeDocument/2006/relationships/slide" Target="/ppt/slides/slide6.xml" Id="R7d3bbcf8be934662" /><Relationship Type="http://schemas.openxmlformats.org/officeDocument/2006/relationships/slide" Target="/ppt/slides/slide7.xml" Id="R72c92b90a15e4af6" /><Relationship Type="http://schemas.openxmlformats.org/officeDocument/2006/relationships/slide" Target="/ppt/slides/slide8.xml" Id="R01550a5a325b42bd" /><Relationship Type="http://schemas.openxmlformats.org/officeDocument/2006/relationships/slide" Target="/ppt/slides/slide9.xml" Id="Rccdb96417d78444d" /><Relationship Type="http://schemas.openxmlformats.org/officeDocument/2006/relationships/slide" Target="/ppt/slides/slide10.xml" Id="R3af02bac0db2426f" /><Relationship Type="http://schemas.openxmlformats.org/officeDocument/2006/relationships/slide" Target="/ppt/slides/slide11.xml" Id="Rba64d249e3fc475e" /><Relationship Type="http://schemas.openxmlformats.org/officeDocument/2006/relationships/slide" Target="/ppt/slides/slide12.xml" Id="Rffd15032bbbb4377" /><Relationship Type="http://schemas.openxmlformats.org/officeDocument/2006/relationships/slide" Target="/ppt/slides/slide13.xml" Id="R1120fbce52444545" /><Relationship Type="http://schemas.openxmlformats.org/officeDocument/2006/relationships/slide" Target="/ppt/slides/slide14.xml" Id="R3d88ad9189b5427f" /><Relationship Type="http://schemas.openxmlformats.org/officeDocument/2006/relationships/slide" Target="/ppt/slides/slide15.xml" Id="Rb24543f2c75543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752c9c585040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025d697fd043f1" /><Relationship Type="http://schemas.openxmlformats.org/officeDocument/2006/relationships/notesMaster" Target="/ppt/notesMasters/notesMaster1.xml" Id="Rf1893aa943ee4a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ce36bddb764e3e" /><Relationship Type="http://schemas.openxmlformats.org/officeDocument/2006/relationships/notesMaster" Target="/ppt/notesMasters/notesMaster1.xml" Id="R4a08a3a2523044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510eb921be4fc6" /><Relationship Type="http://schemas.openxmlformats.org/officeDocument/2006/relationships/notesMaster" Target="/ppt/notesMasters/notesMaster1.xml" Id="Rbb96fd52ed7e43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22a187af224ff7" /><Relationship Type="http://schemas.openxmlformats.org/officeDocument/2006/relationships/notesMaster" Target="/ppt/notesMasters/notesMaster1.xml" Id="R58c8ae787abf44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3266fbd8044c18" /><Relationship Type="http://schemas.openxmlformats.org/officeDocument/2006/relationships/notesMaster" Target="/ppt/notesMasters/notesMaster1.xml" Id="R3dbdf3f825be4c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483ead3c984e26" /><Relationship Type="http://schemas.openxmlformats.org/officeDocument/2006/relationships/notesMaster" Target="/ppt/notesMasters/notesMaster1.xml" Id="R23fb3ddf561b45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a9006603084ff9" /><Relationship Type="http://schemas.openxmlformats.org/officeDocument/2006/relationships/notesMaster" Target="/ppt/notesMasters/notesMaster1.xml" Id="Rf878a9642eab43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86ad41ffcf4040" /><Relationship Type="http://schemas.openxmlformats.org/officeDocument/2006/relationships/notesMaster" Target="/ppt/notesMasters/notesMaster1.xml" Id="R109c64b16ee743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792ff333764b53" /><Relationship Type="http://schemas.openxmlformats.org/officeDocument/2006/relationships/notesMaster" Target="/ppt/notesMasters/notesMaster1.xml" Id="R627d52ed0e2d43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19c3e18a584f54" /><Relationship Type="http://schemas.openxmlformats.org/officeDocument/2006/relationships/notesMaster" Target="/ppt/notesMasters/notesMaster1.xml" Id="Rd9dff82df6e441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36c45cd1564da2" /><Relationship Type="http://schemas.openxmlformats.org/officeDocument/2006/relationships/notesMaster" Target="/ppt/notesMasters/notesMaster1.xml" Id="R1cb09a20963642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d3abcceec54567" /><Relationship Type="http://schemas.openxmlformats.org/officeDocument/2006/relationships/notesMaster" Target="/ppt/notesMasters/notesMaster1.xml" Id="R125afdd5669b44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801622043545af" /><Relationship Type="http://schemas.openxmlformats.org/officeDocument/2006/relationships/notesMaster" Target="/ppt/notesMasters/notesMaster1.xml" Id="R01004bdc81b647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7dc8b483cb45f8" /><Relationship Type="http://schemas.openxmlformats.org/officeDocument/2006/relationships/notesMaster" Target="/ppt/notesMasters/notesMaster1.xml" Id="R668bc5b7979947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2f057fcdf3433a" /><Relationship Type="http://schemas.openxmlformats.org/officeDocument/2006/relationships/notesMaster" Target="/ppt/notesMasters/notesMaster1.xml" Id="R776eaadacbf345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逐次實驗結果與方案比較資料。研究模型採簡化搬運交接假設，實體展示配置的績效須另行驗證。主實驗各配置30次，暖機24小時，觀察六天；95%信賴區間使用t分布。基準配置600樣本與主實驗共用30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逐次實驗結果與方案比較資料。研究模型採簡化搬運交接假設，實體展示配置的績效須另行驗證。主實驗各配置30次，暖機24小時，觀察六天；95%信賴區間使用t分布。基準配置600樣本與主實驗共用30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逐次實驗結果與方案比較資料。研究模型採簡化搬運交接假設，實體展示配置的績效須另行驗證。主實驗各配置30次，暖機24小時，觀察六天；95%信賴區間使用t分布。基準配置600樣本與主實驗共用30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逐次實驗結果與方案比較資料。研究模型採簡化搬運交接假設，實體展示配置的績效須另行驗證。主實驗各配置30次，暖機24小時，觀察六天；95%信賴區間使用t分布。基準配置600樣本與主實驗共用30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逐次實驗結果與方案比較資料。研究模型採簡化搬運交接假設，實體展示配置的績效須另行驗證。主實驗各配置30次，暖機24小時，觀察六天；95%信賴區間使用t分布。基準配置600樣本與主實驗共用30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逐次實驗結果與方案比較資料。研究模型採簡化搬運交接假設，實體展示配置的績效須另行驗證。主實驗各配置30次，暖機24小時，觀察六天；95%信賴區間使用t分布。基準配置600樣本與主實驗共用30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逐次實驗結果與方案比較資料。研究模型採簡化搬運交接假設，實體展示配置的績效須另行驗證。主實驗各配置30次，暖機24小時，觀察六天；95%信賴區間使用t分布。基準配置600樣本與主實驗共用30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逐次實驗結果與方案比較資料。研究模型採簡化搬運交接假設，實體展示配置的績效須另行驗證。主實驗各配置30次，暖機24小時，觀察六天；95%信賴區間使用t分布。基準配置600樣本與主實驗共用30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逐次實驗結果與方案比較資料。研究模型採簡化搬運交接假設，實體展示配置的績效須另行驗證。主實驗各配置30次，暖機24小時，觀察六天；95%信賴區間使用t分布。基準配置600樣本與主實驗共用30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逐次實驗結果與方案比較資料。研究模型採簡化搬運交接假設，實體展示配置的績效須另行驗證。主實驗各配置30次，暖機24小時，觀察六天；95%信賴區間使用t分布。基準配置600樣本與主實驗共用30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逐次實驗結果與方案比較資料。研究模型採簡化搬運交接假設，實體展示配置的績效須另行驗證。主實驗各配置30次，暖機24小時，觀察六天；95%信賴區間使用t分布。基準配置600樣本與主實驗共用30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逐次實驗結果與方案比較資料。研究模型採簡化搬運交接假設，實體展示配置的績效須另行驗證。主實驗各配置30次，暖機24小時，觀察六天；95%信賴區間使用t分布。基準配置600樣本與主實驗共用30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逐次實驗結果與方案比較資料。研究模型採簡化搬運交接假設，實體展示配置的績效須另行驗證。主實驗各配置30次，暖機24小時，觀察六天；95%信賴區間使用t分布。基準配置600樣本與主實驗共用30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逐次實驗結果與方案比較資料。研究模型採簡化搬運交接假設，實體展示配置的績效須另行驗證。主實驗各配置30次，暖機24小時，觀察六天；95%信賴區間使用t分布。基準配置600樣本與主實驗共用30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逐次實驗結果與方案比較資料。研究模型採簡化搬運交接假設，實體展示配置的績效須另行驗證。主實驗各配置30次，暖機24小時，觀察六天；95%信賴區間使用t分布。基準配置600樣本與主實驗共用30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cc52c0217c4c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3e76cc9c649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ce13a2f1448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25787685a04f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a888a62a44c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efc83d98ba420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d247a476ea41e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45b82fec448f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ca8d96cc24a6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4614fea4f488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b04d35fb04b1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6297F2-787B-4DFD-B3F5-FDD7E5F08F6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9766A26-3A1B-4E91-9E9E-CDEB5AF4AE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A7B2D6F-1457-4645-91E3-DE7D4771E6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0E7684-511A-43D6-8A7F-69B89187E1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B586E6-28F8-44C1-8603-39DDF0691E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911327-DBFC-48BF-A9D0-61AC696C3D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CD6F9C-E8CF-4E9C-A52C-DAAE522F17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48A2A47-7657-4F4E-B008-F25334920A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34B57D-CF1E-4AA4-BA4A-F4D9D2996A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E55C00-700F-4BF5-A246-F3B7C546E8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9FD879-943A-4770-A40E-9945714336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FDB6643-2166-4CDA-A214-6F7875B4EB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5485FD-0F5E-4967-992C-B6BC445964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96DCB2-800F-40CD-8529-0DE1744826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C7B012-BE5E-43E7-BFC4-B1530186F1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A8DAB0-F659-4855-9A6A-A0C7AC861B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1EF86CA-CA58-4E61-899D-144C89142FA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16C503C-23D9-4B6D-8FDD-D1AA8EC0E0D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A13E1B2-34A5-4BE6-A02E-7F199602CA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4B1F663-636D-4BE1-A2E0-213E4BD7F3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94F1CA8-E778-4D82-A9DB-826BAD0942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B25011-9AC0-4F43-A30B-2C1F87F965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A8EAF9-3841-4404-BAB7-65E0E7BCBC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4194282-5C7D-4A8F-8735-812222698A3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211EA29-C941-4FE7-AEE5-7D316F51144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BF01906-4D7C-43AB-A4BE-7674FD759DF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D4E3C57-AADD-4944-B1EC-C71233B22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91E457B-48AB-4F50-ADDB-D09D9321CB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507D3ED-7A18-43B7-8DFA-6083BDBAD3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B35259-7091-45E5-B9F6-0318AFC199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F9C0E34-EC47-4EA0-BC5D-BE45035B96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5C43880-A712-44E9-BE9E-1096A13F78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FD81B08-3D80-44FE-AAC1-8DA859F606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8D155D4-BC25-4372-9E61-1F0F5EB84D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C671C8E-1EEE-4316-93B7-398420C058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DA8DA3A-ED65-4007-B16C-4B1C5FC34A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233CB5-8236-4FD0-AED8-D501E46EE9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8F502C4-40B2-44D8-A22C-5F6A7DF6C2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F606183-9DB8-4BD3-BB0E-46D432682C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E5F4AFE-46DE-425F-A712-1473748B6E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AFE1418-1277-4701-8DD6-C545E23D22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9B963B0-4F56-42C4-AA15-B18041920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AFA6EF-3850-42B1-8E78-A1A82CFF12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FE7A207-DEDA-4F50-BA0F-7831695F19D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F770BDC-4FE6-4D83-958E-2D146A2AD7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3C4E14E-7D69-49EB-BF43-0D1971A786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9468A57-FD1B-4777-86C6-9F263D7275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8FEC88F-C0F1-413C-9526-15BECA771F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F55991-A616-4E10-A4AE-CD5B2F718D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D8F522-E817-4D9F-8590-A859E24B59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1745F8-009D-476A-833B-93E3E586B2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446514-B66D-4A23-B668-9FB764D1A5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18273B-68E8-4346-A77B-24FA02344C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B602C77-9629-4390-9F5D-8A07EE16AB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A302EDC-8667-43BD-8D28-AB22C54E73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8A8B6AB-DFE6-4CDA-BB5F-E5E2A7A063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58DD3F-D6FB-4564-B0D8-F1919AF7D3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136F20F-EEE5-4402-82D5-0316C6B24A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5c439f89664043" /><Relationship Type="http://schemas.openxmlformats.org/officeDocument/2006/relationships/slideLayout" Target="/ppt/slideLayouts/slideLayout1.xml" Id="Rf23d0b7b2e924a5a" /><Relationship Type="http://schemas.openxmlformats.org/officeDocument/2006/relationships/slideLayout" Target="/ppt/slideLayouts/slideLayout2.xml" Id="R76e870486f3e4a81" /><Relationship Type="http://schemas.openxmlformats.org/officeDocument/2006/relationships/slideLayout" Target="/ppt/slideLayouts/slideLayout3.xml" Id="R33a3343f0bd44e08" /><Relationship Type="http://schemas.openxmlformats.org/officeDocument/2006/relationships/slideLayout" Target="/ppt/slideLayouts/slideLayout4.xml" Id="Rd044541aaba74fc0" /><Relationship Type="http://schemas.openxmlformats.org/officeDocument/2006/relationships/slideLayout" Target="/ppt/slideLayouts/slideLayout5.xml" Id="Rca0192d15f7f4010" /><Relationship Type="http://schemas.openxmlformats.org/officeDocument/2006/relationships/slideLayout" Target="/ppt/slideLayouts/slideLayout6.xml" Id="R975730dc451147b6" /><Relationship Type="http://schemas.openxmlformats.org/officeDocument/2006/relationships/slideLayout" Target="/ppt/slideLayouts/slideLayout7.xml" Id="Rd2e76d5aeaa24636" /><Relationship Type="http://schemas.openxmlformats.org/officeDocument/2006/relationships/slideLayout" Target="/ppt/slideLayouts/slideLayout8.xml" Id="R032cff0a2e7640fe" /><Relationship Type="http://schemas.openxmlformats.org/officeDocument/2006/relationships/slideLayout" Target="/ppt/slideLayouts/slideLayout9.xml" Id="R0f3e5c068591498e" /><Relationship Type="http://schemas.openxmlformats.org/officeDocument/2006/relationships/slideLayout" Target="/ppt/slideLayouts/slideLayout10.xml" Id="Ra01c465dd95a4128" /><Relationship Type="http://schemas.openxmlformats.org/officeDocument/2006/relationships/slideLayout" Target="/ppt/slideLayouts/slideLayout11.xml" Id="R17240e930a4c44c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67CA204-7FCD-41BF-AE71-2DE28C1646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F818EF8-E684-4631-AF18-D1AB821CA3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0ABCB5-C99D-4E5B-873D-57FA17279AC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B6ECCE-6169-40C5-BC70-FF0E8794502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85C23D-02A4-4040-9CB6-18AF5C10EF5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3d0b7b2e924a5a"/>
    <p:sldLayoutId xmlns:r="http://schemas.openxmlformats.org/officeDocument/2006/relationships" id="2147483650" r:id="R76e870486f3e4a81"/>
    <p:sldLayoutId xmlns:r="http://schemas.openxmlformats.org/officeDocument/2006/relationships" id="2147483651" r:id="R33a3343f0bd44e08"/>
    <p:sldLayoutId xmlns:r="http://schemas.openxmlformats.org/officeDocument/2006/relationships" id="2147483652" r:id="Rd044541aaba74fc0"/>
    <p:sldLayoutId xmlns:r="http://schemas.openxmlformats.org/officeDocument/2006/relationships" id="2147483653" r:id="Rca0192d15f7f4010"/>
    <p:sldLayoutId xmlns:r="http://schemas.openxmlformats.org/officeDocument/2006/relationships" id="2147483654" r:id="R975730dc451147b6"/>
    <p:sldLayoutId xmlns:r="http://schemas.openxmlformats.org/officeDocument/2006/relationships" id="2147483655" r:id="Rd2e76d5aeaa24636"/>
    <p:sldLayoutId xmlns:r="http://schemas.openxmlformats.org/officeDocument/2006/relationships" id="2147483656" r:id="R032cff0a2e7640fe"/>
    <p:sldLayoutId xmlns:r="http://schemas.openxmlformats.org/officeDocument/2006/relationships" id="2147483657" r:id="R0f3e5c068591498e"/>
    <p:sldLayoutId xmlns:r="http://schemas.openxmlformats.org/officeDocument/2006/relationships" id="2147483658" r:id="Ra01c465dd95a4128"/>
    <p:sldLayoutId xmlns:r="http://schemas.openxmlformats.org/officeDocument/2006/relationships" id="2147483659" r:id="R17240e930a4c44cf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c49f78ee2f48af" /><Relationship Type="http://schemas.openxmlformats.org/officeDocument/2006/relationships/image" Target="/ppt/media/image.jpeg" Id="R098fa4b66ded4e24" /><Relationship Type="http://schemas.openxmlformats.org/officeDocument/2006/relationships/image" Target="/ppt/media/image.png" Id="Ra227ba93288546be" /><Relationship Type="http://schemas.openxmlformats.org/officeDocument/2006/relationships/image" Target="/ppt/media/image.svg" Id="Rf6516c483848436c" /><Relationship Type="http://schemas.openxmlformats.org/officeDocument/2006/relationships/image" Target="/ppt/media/image2.png" Id="Rffd3658c7bf44182" /><Relationship Type="http://schemas.openxmlformats.org/officeDocument/2006/relationships/image" Target="/ppt/media/image3.png" Id="Rae11753f5bfb45fb" /><Relationship Type="http://schemas.openxmlformats.org/officeDocument/2006/relationships/notesSlide" Target="/ppt/notesSlides/notesSlide1.xml" Id="R0f6b8adc71a04c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14754c7d554a2f" /><Relationship Type="http://schemas.openxmlformats.org/officeDocument/2006/relationships/image" Target="/ppt/media/image.jpeg" Id="Reb7c144af4c44811" /><Relationship Type="http://schemas.openxmlformats.org/officeDocument/2006/relationships/image" Target="/ppt/media/image.png" Id="Raf7ba16b81fd4fb5" /><Relationship Type="http://schemas.openxmlformats.org/officeDocument/2006/relationships/image" Target="/ppt/media/image.svg" Id="Rd49e76ca0c374728" /><Relationship Type="http://schemas.openxmlformats.org/officeDocument/2006/relationships/image" Target="/ppt/media/image4.png" Id="Rf53ad521cf254985" /><Relationship Type="http://schemas.openxmlformats.org/officeDocument/2006/relationships/notesSlide" Target="/ppt/notesSlides/notesSlide2.xml" Id="R3b387063405d40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fb9b7b27754760" /><Relationship Type="http://schemas.openxmlformats.org/officeDocument/2006/relationships/image" Target="/ppt/media/image.jpeg" Id="R0b59b61706574f45" /><Relationship Type="http://schemas.openxmlformats.org/officeDocument/2006/relationships/image" Target="/ppt/media/image.png" Id="R904a3b8a94984182" /><Relationship Type="http://schemas.openxmlformats.org/officeDocument/2006/relationships/image" Target="/ppt/media/image.svg" Id="R91a6aa1471ff4ae8" /><Relationship Type="http://schemas.openxmlformats.org/officeDocument/2006/relationships/image" Target="/ppt/media/image4.png" Id="Re28824f226c54a6f" /><Relationship Type="http://schemas.openxmlformats.org/officeDocument/2006/relationships/notesSlide" Target="/ppt/notesSlides/notesSlide3.xml" Id="R66eac9f511d04f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ea73de8faa47ec" /><Relationship Type="http://schemas.openxmlformats.org/officeDocument/2006/relationships/image" Target="/ppt/media/image.jpeg" Id="Rf029e15906d14ebf" /><Relationship Type="http://schemas.openxmlformats.org/officeDocument/2006/relationships/image" Target="/ppt/media/image4.png" Id="R638ad06ba02a426f" /><Relationship Type="http://schemas.openxmlformats.org/officeDocument/2006/relationships/image" Target="/ppt/media/image.png" Id="R40b6b33758d14481" /><Relationship Type="http://schemas.openxmlformats.org/officeDocument/2006/relationships/image" Target="/ppt/media/image.svg" Id="Rf0689a65f8ed4950" /><Relationship Type="http://schemas.openxmlformats.org/officeDocument/2006/relationships/image" Target="/ppt/media/image5.png" Id="Rcfe09daf5a7a4262" /><Relationship Type="http://schemas.openxmlformats.org/officeDocument/2006/relationships/notesSlide" Target="/ppt/notesSlides/notesSlide4.xml" Id="R60f807fa44f84b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51bd41b9bc4fa4" /><Relationship Type="http://schemas.openxmlformats.org/officeDocument/2006/relationships/image" Target="/ppt/media/image.jpeg" Id="Rb64f002569ed4f81" /><Relationship Type="http://schemas.openxmlformats.org/officeDocument/2006/relationships/image" Target="/ppt/media/image4.png" Id="R6bd2e4f1aa8c4fdd" /><Relationship Type="http://schemas.openxmlformats.org/officeDocument/2006/relationships/image" Target="/ppt/media/image.png" Id="R3ecd18d84e484753" /><Relationship Type="http://schemas.openxmlformats.org/officeDocument/2006/relationships/image" Target="/ppt/media/image.svg" Id="Rab704849aeba4efd" /><Relationship Type="http://schemas.openxmlformats.org/officeDocument/2006/relationships/image" Target="/ppt/media/image6.png" Id="R3baf247158844bef" /><Relationship Type="http://schemas.openxmlformats.org/officeDocument/2006/relationships/notesSlide" Target="/ppt/notesSlides/notesSlide5.xml" Id="R39e3d753ff0e4d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71dfc799ba4462" /><Relationship Type="http://schemas.openxmlformats.org/officeDocument/2006/relationships/image" Target="/ppt/media/image.jpeg" Id="R41417e7969b44139" /><Relationship Type="http://schemas.openxmlformats.org/officeDocument/2006/relationships/image" Target="/ppt/media/image4.png" Id="R2ad80ca2e3b24b5c" /><Relationship Type="http://schemas.openxmlformats.org/officeDocument/2006/relationships/image" Target="/ppt/media/image.png" Id="Re2c78c9587884469" /><Relationship Type="http://schemas.openxmlformats.org/officeDocument/2006/relationships/image" Target="/ppt/media/image.svg" Id="Rce5e678d9df14b81" /><Relationship Type="http://schemas.openxmlformats.org/officeDocument/2006/relationships/notesSlide" Target="/ppt/notesSlides/notesSlide6.xml" Id="R9afd87490c4141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c64e04d096441a" /><Relationship Type="http://schemas.openxmlformats.org/officeDocument/2006/relationships/image" Target="/ppt/media/image.jpeg" Id="Rcfdb08e741a14d0d" /><Relationship Type="http://schemas.openxmlformats.org/officeDocument/2006/relationships/image" Target="/ppt/media/image4.png" Id="R38fb020dd91843a9" /><Relationship Type="http://schemas.openxmlformats.org/officeDocument/2006/relationships/image" Target="/ppt/media/image.png" Id="R3c2ce8dc78e44d83" /><Relationship Type="http://schemas.openxmlformats.org/officeDocument/2006/relationships/image" Target="/ppt/media/image.svg" Id="R1d4f773be3d247c8" /><Relationship Type="http://schemas.openxmlformats.org/officeDocument/2006/relationships/notesSlide" Target="/ppt/notesSlides/notesSlide7.xml" Id="R0332a784cb114d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3301061e864525" /><Relationship Type="http://schemas.openxmlformats.org/officeDocument/2006/relationships/image" Target="/ppt/media/image.jpeg" Id="R8e485226cdea4d66" /><Relationship Type="http://schemas.openxmlformats.org/officeDocument/2006/relationships/image" Target="/ppt/media/image4.png" Id="R4a0c996d4dc44460" /><Relationship Type="http://schemas.openxmlformats.org/officeDocument/2006/relationships/image" Target="/ppt/media/image.png" Id="Rd7a07202a8314439" /><Relationship Type="http://schemas.openxmlformats.org/officeDocument/2006/relationships/image" Target="/ppt/media/image.svg" Id="Rbb974f1250ba4521" /><Relationship Type="http://schemas.openxmlformats.org/officeDocument/2006/relationships/notesSlide" Target="/ppt/notesSlides/notesSlide8.xml" Id="R7188b9e2aee742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def26e28744d5c" /><Relationship Type="http://schemas.openxmlformats.org/officeDocument/2006/relationships/image" Target="/ppt/media/image.jpeg" Id="R28cecad4f834451d" /><Relationship Type="http://schemas.openxmlformats.org/officeDocument/2006/relationships/image" Target="/ppt/media/image4.png" Id="R3089311cb83f4a93" /><Relationship Type="http://schemas.openxmlformats.org/officeDocument/2006/relationships/image" Target="/ppt/media/image.png" Id="R33a7a04a67464f27" /><Relationship Type="http://schemas.openxmlformats.org/officeDocument/2006/relationships/image" Target="/ppt/media/image.svg" Id="R631ab9e38cb84d4f" /><Relationship Type="http://schemas.openxmlformats.org/officeDocument/2006/relationships/notesSlide" Target="/ppt/notesSlides/notesSlide9.xml" Id="R9d9c012c82a546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340d9e4ed344bb" /><Relationship Type="http://schemas.openxmlformats.org/officeDocument/2006/relationships/image" Target="/ppt/media/image.jpeg" Id="R0f92ffea268d440f" /><Relationship Type="http://schemas.openxmlformats.org/officeDocument/2006/relationships/image" Target="/ppt/media/image4.png" Id="R68abd77f52cd4827" /><Relationship Type="http://schemas.openxmlformats.org/officeDocument/2006/relationships/image" Target="/ppt/media/image.png" Id="R2dff940bafef48ce" /><Relationship Type="http://schemas.openxmlformats.org/officeDocument/2006/relationships/image" Target="/ppt/media/image.svg" Id="R4d74a3a29e0b4ca8" /><Relationship Type="http://schemas.openxmlformats.org/officeDocument/2006/relationships/chart" Target="/ppt/slides/charts/chart1.xml" Id="R44f75f58bab94e86" /><Relationship Type="http://schemas.openxmlformats.org/officeDocument/2006/relationships/chart" Target="/ppt/slides/charts/chart2.xml" Id="R1e59efc580524297" /><Relationship Type="http://schemas.openxmlformats.org/officeDocument/2006/relationships/notesSlide" Target="/ppt/notesSlides/notesSlide10.xml" Id="R73ac4df7ae674b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ade9ad43c842c1" /><Relationship Type="http://schemas.openxmlformats.org/officeDocument/2006/relationships/image" Target="/ppt/media/image.jpeg" Id="Rd4de4015aeb04241" /><Relationship Type="http://schemas.openxmlformats.org/officeDocument/2006/relationships/image" Target="/ppt/media/image4.png" Id="Rb3b3e5cfd6244c15" /><Relationship Type="http://schemas.openxmlformats.org/officeDocument/2006/relationships/image" Target="/ppt/media/image.png" Id="Rff42234279694d76" /><Relationship Type="http://schemas.openxmlformats.org/officeDocument/2006/relationships/image" Target="/ppt/media/image.svg" Id="Rf7ae56687c594cf0" /><Relationship Type="http://schemas.openxmlformats.org/officeDocument/2006/relationships/chart" Target="/ppt/slides/charts/chart3.xml" Id="Rc5707c510ecc404a" /><Relationship Type="http://schemas.openxmlformats.org/officeDocument/2006/relationships/notesSlide" Target="/ppt/notesSlides/notesSlide11.xml" Id="R16c03cdc47284a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8ecae92bce42e6" /><Relationship Type="http://schemas.openxmlformats.org/officeDocument/2006/relationships/image" Target="/ppt/media/image.jpeg" Id="R297a5ed1fd6945ff" /><Relationship Type="http://schemas.openxmlformats.org/officeDocument/2006/relationships/image" Target="/ppt/media/image4.png" Id="R422dcb631fb84c3f" /><Relationship Type="http://schemas.openxmlformats.org/officeDocument/2006/relationships/notesSlide" Target="/ppt/notesSlides/notesSlide12.xml" Id="R300c77f3b1524b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8759273aac4209" /><Relationship Type="http://schemas.openxmlformats.org/officeDocument/2006/relationships/image" Target="/ppt/media/image.jpeg" Id="Ra11e67ed1a7f4592" /><Relationship Type="http://schemas.openxmlformats.org/officeDocument/2006/relationships/image" Target="/ppt/media/image4.png" Id="R78bad84e5a86482e" /><Relationship Type="http://schemas.openxmlformats.org/officeDocument/2006/relationships/notesSlide" Target="/ppt/notesSlides/notesSlide13.xml" Id="R0c73660242c144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ada18e24fe476c" /><Relationship Type="http://schemas.openxmlformats.org/officeDocument/2006/relationships/image" Target="/ppt/media/image.jpeg" Id="R21f1b851ff0b4bdf" /><Relationship Type="http://schemas.openxmlformats.org/officeDocument/2006/relationships/image" Target="/ppt/media/image4.png" Id="R3858fed85ffd4764" /><Relationship Type="http://schemas.openxmlformats.org/officeDocument/2006/relationships/chart" Target="/ppt/slides/charts/chart4.xml" Id="Rfe07eca4dae847c8" /><Relationship Type="http://schemas.openxmlformats.org/officeDocument/2006/relationships/notesSlide" Target="/ppt/notesSlides/notesSlide14.xml" Id="R6dcf280772f449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1c32303e7e42bd" /><Relationship Type="http://schemas.openxmlformats.org/officeDocument/2006/relationships/image" Target="/ppt/media/image.jpeg" Id="Rf1930f494eb54dce" /><Relationship Type="http://schemas.openxmlformats.org/officeDocument/2006/relationships/image" Target="/ppt/media/image4.png" Id="R594d2b9bf2f74d71" /><Relationship Type="http://schemas.openxmlformats.org/officeDocument/2006/relationships/image" Target="/ppt/media/image7.png" Id="Rd562e8a3dd104bdc" /><Relationship Type="http://schemas.openxmlformats.org/officeDocument/2006/relationships/notesSlide" Target="/ppt/notesSlides/notesSlide15.xml" Id="Ra2c69e5cfb264d4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阻塞占比（%）</c:v>
          </c:tx>
          <c:spPr>
            <a:solidFill xmlns:a="http://schemas.openxmlformats.org/drawingml/2006/main">
              <a:srgbClr val="A280EC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現況</c:v>
                </c:pt>
                <c:pt idx="1">
                  <c:v>緩衝8公尺</c:v>
                </c:pt>
                <c:pt idx="2">
                  <c:v>聯合8公尺</c:v>
                </c:pt>
                <c:pt idx="3">
                  <c:v>聯合12公尺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12.220632</c:v>
                </c:pt>
                <c:pt idx="1">
                  <c:v>7.60904</c:v>
                </c:pt>
                <c:pt idx="2">
                  <c:v>0.950505</c:v>
                </c:pt>
                <c:pt idx="3">
                  <c:v>0.710506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6E0F5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280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F3B5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>
                    <a:solidFill>
                      <a:srgbClr val="F6E0F5"/>
                    </a:solidFill>
                    <a:latin typeface="Microsoft JhengHei"/>
                    <a:ea typeface="Microsoft JhengHei"/>
                    <a:cs typeface="Microsoft JhengHei"/>
                  </a:rPr>
                  <a:t>阻塞占比（%）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F6E0F5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檢查前等待（分鐘）</c:v>
          </c:tx>
          <c:spPr>
            <a:solidFill xmlns:a="http://schemas.openxmlformats.org/drawingml/2006/main">
              <a:srgbClr val="DF96D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現況</c:v>
                </c:pt>
                <c:pt idx="1">
                  <c:v>緩衝8公尺</c:v>
                </c:pt>
                <c:pt idx="2">
                  <c:v>聯合8公尺</c:v>
                </c:pt>
                <c:pt idx="3">
                  <c:v>聯合12公尺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19.71403</c:v>
                </c:pt>
                <c:pt idx="1">
                  <c:v>18.184648</c:v>
                </c:pt>
                <c:pt idx="2">
                  <c:v>5.515898</c:v>
                </c:pt>
                <c:pt idx="3">
                  <c:v>5.013653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6E0F5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280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F3B5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>
                    <a:solidFill>
                      <a:srgbClr val="F6E0F5"/>
                    </a:solidFill>
                    <a:latin typeface="Microsoft JhengHei"/>
                    <a:ea typeface="Microsoft JhengHei"/>
                    <a:cs typeface="Microsoft JhengHei"/>
                  </a:rPr>
                  <a:t>檢查前等待（分鐘）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F6E0F5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僅加緩衝（P2）</c:v>
          </c:tx>
          <c:spPr>
            <a:ln xmlns:a="http://schemas.openxmlformats.org/drawingml/2006/main" w="38100">
              <a:solidFill>
                <a:srgbClr val="A280EC"/>
              </a:solidFill>
            </a:ln>
          </c:spPr>
          <c:marker>
            <c:symbol val="circle"/>
            <c:size val="10"/>
          </c:marker>
          <c:cat>
            <c:strRef>
              <c:f>'Chart Data'!$A$2:$A$7</c:f>
              <c:strCache>
                <c:ptCount val="6"/>
                <c:pt idx="0">
                  <c:v>0公尺</c:v>
                </c:pt>
                <c:pt idx="1">
                  <c:v>4公尺</c:v>
                </c:pt>
                <c:pt idx="2">
                  <c:v>8公尺</c:v>
                </c:pt>
                <c:pt idx="3">
                  <c:v>12公尺</c:v>
                </c:pt>
                <c:pt idx="4">
                  <c:v>16公尺</c:v>
                </c:pt>
                <c:pt idx="5">
                  <c:v>24公尺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13.226748</c:v>
                </c:pt>
                <c:pt idx="1">
                  <c:v>10.262074</c:v>
                </c:pt>
                <c:pt idx="2">
                  <c:v>7.60904</c:v>
                </c:pt>
                <c:pt idx="3">
                  <c:v>5.3243</c:v>
                </c:pt>
                <c:pt idx="4">
                  <c:v>3.8886</c:v>
                </c:pt>
                <c:pt idx="5">
                  <c:v>1.968272</c:v>
                </c:pt>
              </c:numCache>
            </c:numRef>
          </c:val>
          <c:smooth val="0"/>
        </c:ser>
        <c:ser>
          <c:idx val="1"/>
          <c:order val="1"/>
          <c:tx>
            <c:v>聯合改善（P4）</c:v>
          </c:tx>
          <c:spPr>
            <a:ln xmlns:a="http://schemas.openxmlformats.org/drawingml/2006/main" w="38100">
              <a:solidFill>
                <a:srgbClr val="DF96DA"/>
              </a:solidFill>
            </a:ln>
          </c:spPr>
          <c:marker>
            <c:symbol val="circle"/>
            <c:size val="10"/>
          </c:marker>
          <c:cat>
            <c:strRef>
              <c:f>'Chart Data'!$C$2:$C$7</c:f>
              <c:strCache>
                <c:ptCount val="6"/>
                <c:pt idx="0">
                  <c:v>0公尺</c:v>
                </c:pt>
                <c:pt idx="1">
                  <c:v>4公尺</c:v>
                </c:pt>
                <c:pt idx="2">
                  <c:v>8公尺</c:v>
                </c:pt>
                <c:pt idx="3">
                  <c:v>12公尺</c:v>
                </c:pt>
                <c:pt idx="4">
                  <c:v>16公尺</c:v>
                </c:pt>
                <c:pt idx="5">
                  <c:v>24公尺</c:v>
                </c:pt>
              </c:strCache>
            </c:strRef>
          </c:cat>
          <c:val>
            <c:numRef>
              <c:f>'Chart Data'!$D$2:$D$7</c:f>
              <c:numCache>
                <c:formatCode>0.0</c:formatCode>
                <c:ptCount val="6"/>
                <c:pt idx="0">
                  <c:v>13.226748</c:v>
                </c:pt>
                <c:pt idx="1">
                  <c:v>1.228346</c:v>
                </c:pt>
                <c:pt idx="2">
                  <c:v>0.950505</c:v>
                </c:pt>
                <c:pt idx="3">
                  <c:v>0.710506</c:v>
                </c:pt>
                <c:pt idx="4">
                  <c:v>0.556819</c:v>
                </c:pt>
                <c:pt idx="5">
                  <c:v>0.312099</c:v>
                </c:pt>
              </c:numCache>
            </c:numRef>
          </c:val>
          <c:smooth val="0"/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6E0F5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280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F3B5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>
                    <a:solidFill>
                      <a:srgbClr val="F6E0F5"/>
                    </a:solidFill>
                    <a:latin typeface="Microsoft JhengHei"/>
                    <a:ea typeface="Microsoft JhengHei"/>
                    <a:cs typeface="Microsoft JhengHei"/>
                  </a:rPr>
                  <a:t>阻塞占比（%）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F6E0F5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solidFill>
                <a:srgbClr val="F6E0F5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平均待檢件數</c:v>
          </c:tx>
          <c:spPr>
            <a:solidFill xmlns:a="http://schemas.openxmlformats.org/drawingml/2006/main">
              <a:srgbClr val="DF96DA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現況</c:v>
                </c:pt>
                <c:pt idx="1">
                  <c:v>聯合12公尺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23.933045</c:v>
                </c:pt>
                <c:pt idx="1">
                  <c:v>3.950077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6E0F5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280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F3B5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>
                    <a:solidFill>
                      <a:srgbClr val="F6E0F5"/>
                    </a:solidFill>
                    <a:latin typeface="Microsoft JhengHei"/>
                    <a:ea typeface="Microsoft JhengHei"/>
                    <a:cs typeface="Microsoft JhengHei"/>
                  </a:rPr>
                  <a:t>件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F6E0F5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6ABCD3E-2CB9-4B57-A977-FAE874A5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98fa4b66ded4e24"/>
            <a:stretch>
              <a:fillRect l="-4156" t="0" r="-2479" b="-18484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7C8F7F4-11D3-43FF-ACFD-A40F49AB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404437" h="5655778">
                <a:moveTo>
                  <a:pt x="0" y="0"/>
                </a:moveTo>
                <a:lnTo>
                  <a:pt x="4404437" y="0"/>
                </a:lnTo>
                <a:lnTo>
                  <a:pt x="4404437" y="5655778"/>
                </a:lnTo>
                <a:lnTo>
                  <a:pt x="0" y="565577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461C0C2-83DD-4E1C-9B9C-3B81AD4E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3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01C1A43-01A9-4ABC-9AF8-714D88EC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3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11A7F69B-6692-48EE-ABBB-92CD4008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5998318" y="9036632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227ba93288546be">
              <a:extLst>
                <a:ext uri="{96DAC541-7B7A-43D3-8B79-37D633B846F1}">
                  <asvg:svgBlip xmlns:asvg="http://schemas.microsoft.com/office/drawing/2016/SVG/main" r:embed="Rf6516c483848436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35F2F33C-7D95-427B-935E-764C36BA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1518" y="9036632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227ba93288546be">
              <a:extLst>
                <a:ext uri="{96DAC541-7B7A-43D3-8B79-37D633B846F1}">
                  <asvg:svgBlip xmlns:asvg="http://schemas.microsoft.com/office/drawing/2016/SVG/main" r:embed="Rf6516c483848436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93C14DA-2239-4BC0-B781-2B3B1341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2613" y="3188938"/>
            <a:ext cx="12002775" cy="252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9900"/>
              </a:lnSpc>
              <a:spcBef>
                <a:spcPct val="0"/>
              </a:spcBef>
              <a:buNone/>
            </a:pPr>
            <a:r>
              <a:rPr sz="14214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21E8A09-57C4-47CB-ACBF-82EBA9A4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3898" y="5373864"/>
            <a:ext cx="6648304" cy="473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27"/>
              </a:lnSpc>
              <a:spcBef>
                <a:spcPct val="0"/>
              </a:spcBef>
              <a:buNone/>
            </a:pPr>
            <a:r>
              <a:rPr sz="2662" spc="2130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486703B-F2D1-4327-858A-98D01531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F5052BA-3E5F-492F-9274-56641B69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459" y="9210675"/>
            <a:ext cx="1131703" cy="4079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12"/>
              </a:lnSpc>
              <a:spcBef>
                <a:spcPct val="0"/>
              </a:spcBef>
              <a:buNone/>
            </a:pPr>
            <a:r>
              <a:rPr sz="2294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A0A6417-A267-4F3F-9F92-1DD40B6C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384997" flipH="0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404437" h="5655778">
                <a:moveTo>
                  <a:pt x="0" y="0"/>
                </a:moveTo>
                <a:lnTo>
                  <a:pt x="4404437" y="0"/>
                </a:lnTo>
                <a:lnTo>
                  <a:pt x="4404437" y="5655777"/>
                </a:lnTo>
                <a:lnTo>
                  <a:pt x="0" y="56557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1E31EE1-5AC2-4EB9-B546-E9D966D9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01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B1E82-4B37-44DB-B744-02A84429AB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3658c7bf44182"/>
          <a:srcRect xmlns:a="http://schemas.openxmlformats.org/drawingml/2006/main" l="0" t="15880" r="23187" b="0"/>
          <a:stretch xmlns:a="http://schemas.openxmlformats.org/drawingml/2006/main"/>
        </p:blipFill>
        <p:spPr>
          <a:xfrm xmlns:a="http://schemas.openxmlformats.org/drawingml/2006/main">
            <a:off x="14904815" y="0"/>
            <a:ext cx="3383185" cy="4757642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9F032-9999-446A-83E8-BADE56DAA2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1753f5bfb45fb"/>
          <a:srcRect xmlns:a="http://schemas.openxmlformats.org/drawingml/2006/main" l="13490" t="35208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3810286" cy="3664458"/>
          </a:xfrm>
          <a:prstGeom xmlns:a="http://schemas.openxmlformats.org/drawingml/2006/main" prst="rect">
            <a:avLst/>
          </a:prstGeom>
        </p:spPr>
      </p:pic>
      <p:sp>
        <p:nvSpPr>
          <p:cNvPr id="17" name="內容_1_循環箱逆向物流">
            <a:extLst xmlns:a="http://schemas.openxmlformats.org/drawingml/2006/main">
              <a:ext uri="{FF2B5EF4-FFF2-40B4-BE49-F238E27FC236}">
                <a16:creationId xmlns:a16="http://schemas.microsoft.com/office/drawing/2014/main" id="{3E6F858A-9AD5-4FC4-8AC2-55A20945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95625"/>
            <a:ext cx="1314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循環箱逆向物流</a:t>
            </a:r>
          </a:p>
        </p:txBody>
      </p:sp>
      <p:sp>
        <p:nvSpPr>
          <p:cNvPr id="18" name="內容_1_倉庫模擬與改善方案研究">
            <a:extLst xmlns:a="http://schemas.openxmlformats.org/drawingml/2006/main">
              <a:ext uri="{FF2B5EF4-FFF2-40B4-BE49-F238E27FC236}">
                <a16:creationId xmlns:a16="http://schemas.microsoft.com/office/drawing/2014/main" id="{7971F79A-12A8-4FF0-B62E-61CF94D3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10125"/>
            <a:ext cx="1238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倉庫模擬與改善方案研究</a:t>
            </a:r>
          </a:p>
        </p:txBody>
      </p:sp>
      <p:sp>
        <p:nvSpPr>
          <p:cNvPr id="19" name="內容_1_雙層輸送網・五人作業・500">
            <a:extLst xmlns:a="http://schemas.openxmlformats.org/drawingml/2006/main">
              <a:ext uri="{FF2B5EF4-FFF2-40B4-BE49-F238E27FC236}">
                <a16:creationId xmlns:a16="http://schemas.microsoft.com/office/drawing/2014/main" id="{17197A0D-F54A-4A76-8718-F9EDFBEC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29325"/>
            <a:ext cx="1190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雙層輸送網・五人作業・500 箱資產池</a:t>
            </a:r>
          </a:p>
        </p:txBody>
      </p:sp>
      <p:sp>
        <p:nvSpPr>
          <p:cNvPr id="20" name="內容_1_循環物流數位分身｜研究結果與">
            <a:extLst xmlns:a="http://schemas.openxmlformats.org/drawingml/2006/main">
              <a:ext uri="{FF2B5EF4-FFF2-40B4-BE49-F238E27FC236}">
                <a16:creationId xmlns:a16="http://schemas.microsoft.com/office/drawing/2014/main" id="{7CEB54D1-C7FD-44D8-82ED-5B2B84C4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1440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循環物流數位分身｜研究結果與實體展示</a:t>
            </a:r>
          </a:p>
        </p:txBody>
      </p:sp>
      <p:sp>
        <p:nvSpPr>
          <p:cNvPr id="21" name="內容_1_研究結果採簡化搬運交接假設；">
            <a:extLst xmlns:a="http://schemas.openxmlformats.org/drawingml/2006/main">
              <a:ext uri="{FF2B5EF4-FFF2-40B4-BE49-F238E27FC236}">
                <a16:creationId xmlns:a16="http://schemas.microsoft.com/office/drawing/2014/main" id="{196E914C-3B62-4FD4-BA66-CFEBE774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096125"/>
            <a:ext cx="1190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研究結果採簡化搬運交接假設；實體展示配置須另驗證績效。</a:t>
            </a:r>
          </a:p>
        </p:txBody>
      </p:sp>
    </p:spTree>
    <p:extLst>
      <p:ext uri="{BB962C8B-B14F-4D97-AF65-F5344CB8AC3E}">
        <p14:creationId xmlns:p14="http://schemas.microsoft.com/office/powerpoint/2010/main" val="3226255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AA4AB7C-C139-4403-9062-A4FD5921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b7c144af4c44811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CE839BF-4213-4A96-B310-97D195EB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6668701-3B6C-4B24-960E-3BA03A15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819B07A5-5D52-4A49-A9D5-72B6EB0B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60310ED9-DE76-4E48-A341-786C3C12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f7ba16b81fd4fb5">
              <a:extLst>
                <a:ext uri="{96DAC541-7B7A-43D3-8B79-37D633B846F1}">
                  <asvg:svgBlip xmlns:asvg="http://schemas.microsoft.com/office/drawing/2016/SVG/main" r:embed="Rd49e76ca0c3747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45DAD2C-567F-42CB-8484-56B34F99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f7ba16b81fd4fb5">
              <a:extLst>
                <a:ext uri="{96DAC541-7B7A-43D3-8B79-37D633B846F1}">
                  <asvg:svgBlip xmlns:asvg="http://schemas.microsoft.com/office/drawing/2016/SVG/main" r:embed="Rd49e76ca0c3747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C2AD32A-38E5-40A0-8A3F-1D218BE1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1827" y="3081466"/>
            <a:ext cx="1193201" cy="945883"/>
          </a:xfrm>
          <a:custGeom xmlns:a="http://schemas.openxmlformats.org/drawingml/2006/main">
            <a:rect l="l" t="t" r="r" b="b"/>
            <a:pathLst>
              <a:path w="1193201" h="945883">
                <a:moveTo>
                  <a:pt x="0" y="0"/>
                </a:moveTo>
                <a:lnTo>
                  <a:pt x="1193202" y="0"/>
                </a:lnTo>
                <a:lnTo>
                  <a:pt x="1193202" y="945884"/>
                </a:lnTo>
                <a:lnTo>
                  <a:pt x="0" y="9458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297AE68-B3B3-4418-9761-C1674AB5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3ad521cf254985"/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D84C03D-5023-455D-9DC5-7EF27387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73EB04C-A357-4D6B-AE7C-F48DEB8A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6147" y="2929066"/>
            <a:ext cx="6295768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6036D52A-D1E7-4D6A-8933-7E1F7053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6147" y="4411178"/>
            <a:ext cx="9037377" cy="411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4"/>
              </a:lnSpc>
              <a:spcBef>
                <a:spcPct val="0"/>
              </a:spcBef>
              <a:buNone/>
            </a:pPr>
            <a:r>
              <a:rPr sz="231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87750DB2-2796-4E9E-9EC4-14DD1436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406612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02</a:t>
            </a:r>
          </a:p>
        </p:txBody>
      </p:sp>
      <p:sp>
        <p:nvSpPr>
          <p:cNvPr id="15" name="內容_2_情境與方案設定">
            <a:extLst xmlns:a="http://schemas.openxmlformats.org/drawingml/2006/main">
              <a:ext uri="{FF2B5EF4-FFF2-40B4-BE49-F238E27FC236}">
                <a16:creationId xmlns:a16="http://schemas.microsoft.com/office/drawing/2014/main" id="{0CA75CAB-F57D-4562-B1C1-3C7A9D40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情境與方案設定</a:t>
            </a:r>
          </a:p>
        </p:txBody>
      </p:sp>
      <p:sp>
        <p:nvSpPr>
          <p:cNvPr id="16" name="內容_2_三種需求情境與五種改善方案">
            <a:extLst xmlns:a="http://schemas.openxmlformats.org/drawingml/2006/main">
              <a:ext uri="{FF2B5EF4-FFF2-40B4-BE49-F238E27FC236}">
                <a16:creationId xmlns:a16="http://schemas.microsoft.com/office/drawing/2014/main" id="{49A67067-D8B5-4AEB-AEC1-4622C7FD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三種需求情境與五種改善方案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B8B72E-B493-430D-87FB-916E18922A21}"/>
              </a:ext>
            </a:extLst>
          </p:cNvPr>
          <p:cNvGraphicFramePr/>
          <p:nvPr/>
        </p:nvGraphicFramePr>
        <p:xfrm>
          <a:off xmlns:a="http://schemas.openxmlformats.org/drawingml/2006/main" x="1581150" y="4143375"/>
          <a:ext xmlns:a="http://schemas.openxmlformats.org/drawingml/2006/main" cx="14287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4762500"/>
                <a:gridCol w="4762500"/>
              </a:tblGrid>
              <a:tr h="4286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名稱（代號）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本案設定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</a:tr>
              <a:tr h="4286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平日基準情境（S0）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需求情境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平均每小時60件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4286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短波尖峰情境（S1）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需求情境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波外80件／小時；三波各20分鐘、210件／小時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4286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較高短波尖峰情境（S1_4.5）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需求情境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尖峰270件／小時，是基準的4.5倍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4286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維持現況（P0）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改善方案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改善前的比較基準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4286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增設第二台清洗機（P1）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改善方案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擴充設備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4286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僅加緩衝（P2）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改善方案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改緩衝長度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4286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外包清洗（P3）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改善方案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送出後等待4小時回流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4286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聯合改善（P4）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改善方案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緩衝＋人員支援＋觸發式外包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</a:tbl>
          </a:graphicData>
        </a:graphic>
      </p:graphicFrame>
      <p:sp>
        <p:nvSpPr>
          <p:cNvPr id="18" name="內容_2_需求情境決定到達量，改善方案">
            <a:extLst xmlns:a="http://schemas.openxmlformats.org/drawingml/2006/main">
              <a:ext uri="{FF2B5EF4-FFF2-40B4-BE49-F238E27FC236}">
                <a16:creationId xmlns:a16="http://schemas.microsoft.com/office/drawing/2014/main" id="{302C22B3-CA8E-46EA-A13A-2740F189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需求情境決定到達量，改善方案決定設備與調度。緩衝長度用公尺，等待時間用分鐘。</a:t>
            </a:r>
          </a:p>
        </p:txBody>
      </p:sp>
    </p:spTree>
    <p:extLst>
      <p:ext uri="{BB962C8B-B14F-4D97-AF65-F5344CB8AC3E}">
        <p14:creationId xmlns:p14="http://schemas.microsoft.com/office/powerpoint/2010/main" val="18511735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B50C55E-290D-4DAF-83CD-079A075A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59b61706574f45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49469A7-FEA2-4326-BFD7-05250C1D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0D2484E-567A-45E9-8C1C-30557940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415E4ECD-406F-4126-B123-D53D24F8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29600" h="8229600">
                <a:moveTo>
                  <a:pt x="8229600" y="0"/>
                </a:moveTo>
                <a:lnTo>
                  <a:pt x="0" y="0"/>
                </a:lnTo>
                <a:lnTo>
                  <a:pt x="0" y="8229600"/>
                </a:lnTo>
                <a:lnTo>
                  <a:pt x="8229600" y="8229600"/>
                </a:lnTo>
                <a:lnTo>
                  <a:pt x="822960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4ED4A15-2381-442F-BD11-47D706F5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04a3b8a94984182">
              <a:extLst>
                <a:ext uri="{96DAC541-7B7A-43D3-8B79-37D633B846F1}">
                  <asvg:svgBlip xmlns:asvg="http://schemas.microsoft.com/office/drawing/2016/SVG/main" r:embed="R91a6aa1471ff4ae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EEFCDF4-A790-4401-96A9-1E8A6083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04a3b8a94984182">
              <a:extLst>
                <a:ext uri="{96DAC541-7B7A-43D3-8B79-37D633B846F1}">
                  <asvg:svgBlip xmlns:asvg="http://schemas.microsoft.com/office/drawing/2016/SVG/main" r:embed="R91a6aa1471ff4ae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7C950894-83FD-42C0-9718-B5CB1B37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387C410F-21FA-44E8-9205-48F3884F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6116" y="3171098"/>
            <a:ext cx="6295768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22611B2-2A9E-4DA6-89CA-0AD21A4F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5322" y="4730410"/>
            <a:ext cx="10408977" cy="411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44"/>
              </a:lnSpc>
              <a:spcBef>
                <a:spcPct val="0"/>
              </a:spcBef>
              <a:buNone/>
            </a:pPr>
            <a:r>
              <a:rPr sz="231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783F742-A8DC-424A-A477-8AB0E997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1926" y="2209914"/>
            <a:ext cx="6295768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24E9DDA-5233-49E0-B6C9-292671EB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28824f226c54a6f"/>
            <a:stretch>
              <a:fillRect l="0" t="0" r="0" b="0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B8D7584-8C2A-4BCC-8FDE-9EAC2B53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03</a:t>
            </a:r>
          </a:p>
        </p:txBody>
      </p:sp>
      <p:sp>
        <p:nvSpPr>
          <p:cNvPr id="15" name="內容_3_先讀指標與數字">
            <a:extLst xmlns:a="http://schemas.openxmlformats.org/drawingml/2006/main">
              <a:ext uri="{FF2B5EF4-FFF2-40B4-BE49-F238E27FC236}">
                <a16:creationId xmlns:a16="http://schemas.microsoft.com/office/drawing/2014/main" id="{664FF248-D091-4A10-8265-FC180D73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先讀指標與數字</a:t>
            </a:r>
          </a:p>
        </p:txBody>
      </p:sp>
      <p:sp>
        <p:nvSpPr>
          <p:cNvPr id="16" name="內容_3_表中的方括號是平均估計的範圍">
            <a:extLst xmlns:a="http://schemas.openxmlformats.org/drawingml/2006/main">
              <a:ext uri="{FF2B5EF4-FFF2-40B4-BE49-F238E27FC236}">
                <a16:creationId xmlns:a16="http://schemas.microsoft.com/office/drawing/2014/main" id="{B71229C5-0E58-4483-8A47-BEB69FE3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表中的方括號是平均估計的範圍</a:t>
            </a:r>
          </a:p>
        </p:txBody>
      </p:sp>
      <p:sp>
        <p:nvSpPr>
          <p:cNvPr id="17" name="內容_3_數字格式：平均值 [95%信">
            <a:extLst xmlns:a="http://schemas.openxmlformats.org/drawingml/2006/main">
              <a:ext uri="{FF2B5EF4-FFF2-40B4-BE49-F238E27FC236}">
                <a16:creationId xmlns:a16="http://schemas.microsoft.com/office/drawing/2014/main" id="{8304E8E3-F334-4600-A2F6-0940C6AB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00500"/>
            <a:ext cx="1428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數字格式：平均值 [95%信賴下界, 上界]；不是95%的單次運行結果所在範圍。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8FBB9-0CE7-47A9-9C45-2B6030E71363}"/>
              </a:ext>
            </a:extLst>
          </p:cNvPr>
          <p:cNvGraphicFramePr/>
          <p:nvPr/>
        </p:nvGraphicFramePr>
        <p:xfrm>
          <a:off xmlns:a="http://schemas.openxmlformats.org/drawingml/2006/main" x="1581150" y="4524375"/>
          <a:ext xmlns:a="http://schemas.openxmlformats.org/drawingml/2006/main" cx="142875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4762500"/>
                <a:gridCol w="4762500"/>
              </a:tblGrid>
              <a:tr h="6572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950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績效指標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950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判定門檻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950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本案的計算界線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</a:tr>
              <a:tr h="6572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9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退貨結案率保守下界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9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至少99.5%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9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1－期末未完成退貨商品／觀察期退貨量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572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9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拆包設備阻塞占比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9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低於1%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9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被下游擋住的時間占比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572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9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檢查前等待超過24小時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9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0件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9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外部到達至開始品質檢查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572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9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淨減碳／包材節約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9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42%達標／65%未達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9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12公尺聯合方案：73.995%／39.173%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</a:tbl>
          </a:graphicData>
        </a:graphic>
      </p:graphicFrame>
      <p:sp>
        <p:nvSpPr>
          <p:cNvPr id="19" name="內容_3_每方案重複30次，報平均與9">
            <a:extLst xmlns:a="http://schemas.openxmlformats.org/drawingml/2006/main">
              <a:ext uri="{FF2B5EF4-FFF2-40B4-BE49-F238E27FC236}">
                <a16:creationId xmlns:a16="http://schemas.microsoft.com/office/drawing/2014/main" id="{C83A622B-32CA-47D7-95F4-CCF460A4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每方案重複30次，報平均與95%信賴區間。百分點是兩個百分比相減；金額單位為新臺幣元。</a:t>
            </a:r>
          </a:p>
        </p:txBody>
      </p:sp>
    </p:spTree>
    <p:extLst>
      <p:ext uri="{BB962C8B-B14F-4D97-AF65-F5344CB8AC3E}">
        <p14:creationId xmlns:p14="http://schemas.microsoft.com/office/powerpoint/2010/main" val="18810739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18D904F-2092-4F7B-8290-C44FAD3B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029e15906d14ebf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65DDFD2-31C2-46F4-9488-7199DF45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0C4AC8D-643B-4E09-A13F-411B2D04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28331129-B6B1-48A7-98BC-AC953C0A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38ad06ba02a426f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E5E5930-70D9-40F2-ACE7-E4F465AF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0b6b33758d14481">
              <a:extLst>
                <a:ext uri="{96DAC541-7B7A-43D3-8B79-37D633B846F1}">
                  <asvg:svgBlip xmlns:asvg="http://schemas.microsoft.com/office/drawing/2016/SVG/main" r:embed="Rf0689a65f8ed49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9353FC4-9230-414C-BCC6-63C421D1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0b6b33758d14481">
              <a:extLst>
                <a:ext uri="{96DAC541-7B7A-43D3-8B79-37D633B846F1}">
                  <asvg:svgBlip xmlns:asvg="http://schemas.microsoft.com/office/drawing/2016/SVG/main" r:embed="Rf0689a65f8ed49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2CD4FBB2-07B5-4A3E-B561-C14A117F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91840" h="411480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E53EEBA-D776-4E59-AAC7-A6FB6613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3106500"/>
            <a:ext cx="1152525" cy="1152525"/>
          </a:xfrm>
          <a:custGeom xmlns:a="http://schemas.openxmlformats.org/drawingml/2006/main">
            <a:rect l="l" t="t" r="r" b="b"/>
            <a:pathLst>
              <a:path w="1152525" h="1152525">
                <a:moveTo>
                  <a:pt x="0" y="0"/>
                </a:moveTo>
                <a:lnTo>
                  <a:pt x="1152525" y="0"/>
                </a:lnTo>
                <a:lnTo>
                  <a:pt x="1152525" y="1152525"/>
                </a:lnTo>
                <a:lnTo>
                  <a:pt x="0" y="115252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FACBD9-4E99-41BF-B131-3B06A014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BDE286C4-2ABF-4FB4-89A1-4BA85875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04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8E845EC-8C8A-4E99-B20A-19A46B7D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0577" y="3323498"/>
            <a:ext cx="7038718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DC44AB2A-C730-4AAD-A4B9-C0F1C6F1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0577" y="2438514"/>
            <a:ext cx="6295768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E9CFD0CC-27BF-4C4E-93D8-EDDB8446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0577" y="5143500"/>
            <a:ext cx="3415031" cy="766076"/>
          </a:xfrm>
          <a:custGeom xmlns:a="http://schemas.openxmlformats.org/drawingml/2006/main">
            <a:rect l="l" t="t" r="r" b="b"/>
            <a:pathLst>
              <a:path w="1811659" h="406400">
                <a:moveTo>
                  <a:pt x="1608459" y="0"/>
                </a:moveTo>
                <a:cubicBezTo>
                  <a:pt x="1720683" y="0"/>
                  <a:pt x="1811659" y="90976"/>
                  <a:pt x="1811659" y="203200"/>
                </a:cubicBezTo>
                <a:cubicBezTo>
                  <a:pt x="1811659" y="315424"/>
                  <a:pt x="1720683" y="406400"/>
                  <a:pt x="16084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499274E-1B3D-4DE8-B402-711460D4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0577" y="5233274"/>
            <a:ext cx="3415031" cy="676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74611DD-680E-4FD2-AF97-AAB8A3F7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1758" y="5347142"/>
            <a:ext cx="3123850" cy="432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9"/>
              </a:lnSpc>
              <a:spcBef>
                <a:spcPct val="0"/>
              </a:spcBef>
              <a:buNone/>
            </a:pPr>
            <a:r>
              <a:rPr sz="24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6856ADF-C8B6-4095-85E1-AFC34354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0438" y="5086350"/>
            <a:ext cx="7800718" cy="432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9"/>
              </a:lnSpc>
              <a:spcBef>
                <a:spcPct val="0"/>
              </a:spcBef>
              <a:buNone/>
            </a:pPr>
            <a:r>
              <a:rPr sz="24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B998910B-0636-4AE4-AB81-51E09896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0577" y="6951600"/>
            <a:ext cx="4148386" cy="766076"/>
          </a:xfrm>
          <a:custGeom xmlns:a="http://schemas.openxmlformats.org/drawingml/2006/main">
            <a:rect l="l" t="t" r="r" b="b"/>
            <a:pathLst>
              <a:path w="2200700" h="406400">
                <a:moveTo>
                  <a:pt x="1997500" y="0"/>
                </a:moveTo>
                <a:cubicBezTo>
                  <a:pt x="2109724" y="0"/>
                  <a:pt x="2200700" y="90976"/>
                  <a:pt x="2200700" y="203200"/>
                </a:cubicBezTo>
                <a:cubicBezTo>
                  <a:pt x="2200700" y="315424"/>
                  <a:pt x="2109724" y="406400"/>
                  <a:pt x="19975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13094E7E-079B-46F9-B1C8-AB558CBB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0577" y="7041374"/>
            <a:ext cx="4148385" cy="676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F9541A95-7964-4A22-807F-EF69AAC4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1758" y="7155242"/>
            <a:ext cx="3714400" cy="432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9"/>
              </a:lnSpc>
              <a:spcBef>
                <a:spcPct val="0"/>
              </a:spcBef>
              <a:buNone/>
            </a:pPr>
            <a:r>
              <a:rPr sz="24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C47A5A78-7F0D-4D32-A7F8-CF6B40D9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0438" y="6894450"/>
            <a:ext cx="7800718" cy="432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9"/>
              </a:lnSpc>
              <a:spcBef>
                <a:spcPct val="0"/>
              </a:spcBef>
              <a:buNone/>
            </a:pPr>
            <a:r>
              <a:rPr sz="24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0B0058-5BFE-4A2B-931F-B574B48DE6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09daf5a7a4262"/>
          <a:srcRect xmlns:a="http://schemas.openxmlformats.org/drawingml/2006/main" l="45370" t="1050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798320" cy="3682746"/>
          </a:xfrm>
          <a:prstGeom xmlns:a="http://schemas.openxmlformats.org/drawingml/2006/main" prst="rect">
            <a:avLst/>
          </a:prstGeom>
        </p:spPr>
      </p:pic>
      <p:sp>
        <p:nvSpPr>
          <p:cNvPr id="26" name="內容_4_雙閉環架構">
            <a:extLst xmlns:a="http://schemas.openxmlformats.org/drawingml/2006/main">
              <a:ext uri="{FF2B5EF4-FFF2-40B4-BE49-F238E27FC236}">
                <a16:creationId xmlns:a16="http://schemas.microsoft.com/office/drawing/2014/main" id="{833B603A-C80A-4996-87D7-A8D3B918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雙閉環架構</a:t>
            </a:r>
          </a:p>
        </p:txBody>
      </p:sp>
      <p:sp>
        <p:nvSpPr>
          <p:cNvPr id="27" name="內容_4_商品與循環箱分離後再配對">
            <a:extLst xmlns:a="http://schemas.openxmlformats.org/drawingml/2006/main">
              <a:ext uri="{FF2B5EF4-FFF2-40B4-BE49-F238E27FC236}">
                <a16:creationId xmlns:a16="http://schemas.microsoft.com/office/drawing/2014/main" id="{EE3062F4-1A7B-4839-83E9-8EB8416D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商品與循環箱分離後再配對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924DAA-DA9B-467E-AF50-35F8525B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3400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142F"/>
          </a:solidFill>
          <a:ln xmlns:a="http://schemas.openxmlformats.org/drawingml/2006/main" w="19050">
            <a:solidFill>
              <a:srgbClr val="A280EC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退貨入庫</a:t>
            </a:r>
          </a:p>
          <a:p xmlns:a="http://schemas.openxmlformats.org/drawingml/2006/main">
            <a: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拆包分離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D6A285-BD08-4F8D-9414-FD4203E1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142F"/>
          </a:solidFill>
          <a:ln xmlns:a="http://schemas.openxmlformats.org/drawingml/2006/main" w="19050">
            <a:solidFill>
              <a:srgbClr val="A280EC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商品：品質檢查</a:t>
            </a:r>
          </a:p>
          <a:p xmlns:a="http://schemas.openxmlformats.org/drawingml/2006/main">
            <a: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40秒／支援20秒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EC3309-0F8D-4722-96E9-BDC5E85A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33875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142F"/>
          </a:solidFill>
          <a:ln xmlns:a="http://schemas.openxmlformats.org/drawingml/2006/main" w="19050">
            <a:solidFill>
              <a:srgbClr val="A280EC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A級15秒／B級120秒</a:t>
            </a:r>
          </a:p>
          <a:p xmlns:a="http://schemas.openxmlformats.org/drawingml/2006/main">
            <a: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C級60秒報廢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780B3A-E93A-416E-B5A8-BE2E400C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57225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142F"/>
          </a:solidFill>
          <a:ln xmlns:a="http://schemas.openxmlformats.org/drawingml/2006/main" w="19050">
            <a:solidFill>
              <a:srgbClr val="A280EC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空箱：高架輸送</a:t>
            </a:r>
          </a:p>
          <a:p xmlns:a="http://schemas.openxmlformats.org/drawingml/2006/main">
            <a: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清洗30秒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462D51-749F-458E-981B-5358C360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7225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142F"/>
          </a:solidFill>
          <a:ln xmlns:a="http://schemas.openxmlformats.org/drawingml/2006/main" w="19050">
            <a:solidFill>
              <a:srgbClr val="A280EC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風乾段6公尺</a:t>
            </a:r>
          </a:p>
          <a:p xmlns:a="http://schemas.openxmlformats.org/drawingml/2006/main">
            <a: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檢驗5秒，2%報廢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F4269C-02CA-4EEE-AB95-8DBC73C3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142F"/>
          </a:solidFill>
          <a:ln xmlns:a="http://schemas.openxmlformats.org/drawingml/2006/main" w="19050">
            <a:solidFill>
              <a:srgbClr val="A280EC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商品與箱配對</a:t>
            </a:r>
          </a:p>
          <a:p xmlns:a="http://schemas.openxmlformats.org/drawingml/2006/main">
            <a: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一箱一件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79E538-3D3E-4C2B-BC16-770D35FD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5334000"/>
            <a:ext cx="2143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142F"/>
          </a:solidFill>
          <a:ln xmlns:a="http://schemas.openxmlformats.org/drawingml/2006/main" w="19050">
            <a:solidFill>
              <a:srgbClr val="A280EC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出庫</a:t>
            </a:r>
          </a:p>
          <a:p xmlns:a="http://schemas.openxmlformats.org/drawingml/2006/main">
            <a:pPr algn="ctr"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釋回箱資產</a:t>
            </a:r>
          </a:p>
        </p:txBody>
      </p:sp>
      <p:sp>
        <p:nvSpPr>
          <p:cNvPr id="35" name="內容_4_↗">
            <a:extLst xmlns:a="http://schemas.openxmlformats.org/drawingml/2006/main">
              <a:ext uri="{FF2B5EF4-FFF2-40B4-BE49-F238E27FC236}">
                <a16:creationId xmlns:a16="http://schemas.microsoft.com/office/drawing/2014/main" id="{D32297D6-55FE-46C7-9513-9459383E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↗</a:t>
            </a:r>
          </a:p>
        </p:txBody>
      </p:sp>
      <p:sp>
        <p:nvSpPr>
          <p:cNvPr id="36" name="內容_4_→">
            <a:extLst xmlns:a="http://schemas.openxmlformats.org/drawingml/2006/main">
              <a:ext uri="{FF2B5EF4-FFF2-40B4-BE49-F238E27FC236}">
                <a16:creationId xmlns:a16="http://schemas.microsoft.com/office/drawing/2014/main" id="{071B1A0B-3E42-4534-9E67-9944847F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24375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37" name="內容_4_↘">
            <a:extLst xmlns:a="http://schemas.openxmlformats.org/drawingml/2006/main">
              <a:ext uri="{FF2B5EF4-FFF2-40B4-BE49-F238E27FC236}">
                <a16:creationId xmlns:a16="http://schemas.microsoft.com/office/drawing/2014/main" id="{6158BCD5-BD51-41BA-B421-03B25366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762500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↘</a:t>
            </a:r>
          </a:p>
        </p:txBody>
      </p:sp>
      <p:sp>
        <p:nvSpPr>
          <p:cNvPr id="38" name="內容_4_↘">
            <a:extLst xmlns:a="http://schemas.openxmlformats.org/drawingml/2006/main">
              <a:ext uri="{FF2B5EF4-FFF2-40B4-BE49-F238E27FC236}">
                <a16:creationId xmlns:a16="http://schemas.microsoft.com/office/drawing/2014/main" id="{70F67D59-B4EF-4FB1-AEC3-B7201178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91250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↘</a:t>
            </a:r>
          </a:p>
        </p:txBody>
      </p:sp>
      <p:sp>
        <p:nvSpPr>
          <p:cNvPr id="39" name="內容_4_→">
            <a:extLst xmlns:a="http://schemas.openxmlformats.org/drawingml/2006/main">
              <a:ext uri="{FF2B5EF4-FFF2-40B4-BE49-F238E27FC236}">
                <a16:creationId xmlns:a16="http://schemas.microsoft.com/office/drawing/2014/main" id="{9874DC02-275E-4BD8-9992-87F0C4D9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62750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40" name="內容_4_↗">
            <a:extLst xmlns:a="http://schemas.openxmlformats.org/drawingml/2006/main">
              <a:ext uri="{FF2B5EF4-FFF2-40B4-BE49-F238E27FC236}">
                <a16:creationId xmlns:a16="http://schemas.microsoft.com/office/drawing/2014/main" id="{DDBA2685-8FEB-4124-B030-A4C2EA89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334125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↗</a:t>
            </a:r>
          </a:p>
        </p:txBody>
      </p:sp>
      <p:sp>
        <p:nvSpPr>
          <p:cNvPr id="41" name="內容_4_→">
            <a:extLst xmlns:a="http://schemas.openxmlformats.org/drawingml/2006/main">
              <a:ext uri="{FF2B5EF4-FFF2-40B4-BE49-F238E27FC236}">
                <a16:creationId xmlns:a16="http://schemas.microsoft.com/office/drawing/2014/main" id="{51FF71FE-D20B-4BA3-B74D-CA46E84B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5476875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42" name="內容_4_有限500箱資產池，每箱15">
            <a:extLst xmlns:a="http://schemas.openxmlformats.org/drawingml/2006/main">
              <a:ext uri="{FF2B5EF4-FFF2-40B4-BE49-F238E27FC236}">
                <a16:creationId xmlns:a16="http://schemas.microsoft.com/office/drawing/2014/main" id="{8BCD48CF-086A-4577-8FD3-103C61B7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7715250"/>
            <a:ext cx="1428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有限500箱資產池，每箱150次；外包支線延遲4小時並保留系統在製量</a:t>
            </a:r>
          </a:p>
        </p:txBody>
      </p:sp>
      <p:sp>
        <p:nvSpPr>
          <p:cNvPr id="43" name="內容_4_A級做簡單整理，B級需整新，">
            <a:extLst xmlns:a="http://schemas.openxmlformats.org/drawingml/2006/main">
              <a:ext uri="{FF2B5EF4-FFF2-40B4-BE49-F238E27FC236}">
                <a16:creationId xmlns:a16="http://schemas.microsoft.com/office/drawing/2014/main" id="{7124F507-6A80-4888-BAE6-D4F224E3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A級做簡單整理，B級需整新，C級報廢；合格商品與空箱配成一件一箱。0公尺是實際旁路。</a:t>
            </a:r>
          </a:p>
        </p:txBody>
      </p:sp>
    </p:spTree>
    <p:extLst>
      <p:ext uri="{BB962C8B-B14F-4D97-AF65-F5344CB8AC3E}">
        <p14:creationId xmlns:p14="http://schemas.microsoft.com/office/powerpoint/2010/main" val="18566176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D37D197-720D-4303-802F-47400DCB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4f002569ed4f81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525076D-806E-4D6C-BBDA-08205FD0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591D305-29BB-4ACA-AADF-42434E06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DA2E8030-33C8-4792-9F35-5D750E9F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bd2e4f1aa8c4fdd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73EAD95-4E34-41AE-9F07-70386A6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ecd18d84e484753">
              <a:extLst>
                <a:ext uri="{96DAC541-7B7A-43D3-8B79-37D633B846F1}">
                  <asvg:svgBlip xmlns:asvg="http://schemas.microsoft.com/office/drawing/2016/SVG/main" r:embed="Rab704849aeba4ef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F0823B0-48CD-4247-88AE-704AE94C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ecd18d84e484753">
              <a:extLst>
                <a:ext uri="{96DAC541-7B7A-43D3-8B79-37D633B846F1}">
                  <asvg:svgBlip xmlns:asvg="http://schemas.microsoft.com/office/drawing/2016/SVG/main" r:embed="Rab704849aeba4ef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C70196D-F643-49D4-8761-19CAAE24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2280" y="4093584"/>
            <a:ext cx="3771900" cy="3771900"/>
          </a:xfrm>
          <a:custGeom xmlns:a="http://schemas.openxmlformats.org/drawingml/2006/main">
            <a:rect l="l" t="t" r="r" b="b"/>
            <a:pathLst>
              <a:path w="3771900" h="3771900">
                <a:moveTo>
                  <a:pt x="0" y="0"/>
                </a:moveTo>
                <a:lnTo>
                  <a:pt x="3771900" y="0"/>
                </a:lnTo>
                <a:lnTo>
                  <a:pt x="3771900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9E198C4-8100-4696-AA2B-B4D3B78F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38576B8-E6AE-4D20-8E93-E26059A3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05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DEEF79B-1434-4F13-AB6E-84A0DB06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5016" y="2209914"/>
            <a:ext cx="4143118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049D61-7DEC-435C-B730-F8FD95F5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7176" y="2209914"/>
            <a:ext cx="2307840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615C450-9CC6-43DC-8E82-02D7DC43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58050" y="4093584"/>
            <a:ext cx="3771900" cy="3771900"/>
          </a:xfrm>
          <a:custGeom xmlns:a="http://schemas.openxmlformats.org/drawingml/2006/main">
            <a:rect l="l" t="t" r="r" b="b"/>
            <a:pathLst>
              <a:path w="3771900" h="3771900">
                <a:moveTo>
                  <a:pt x="0" y="0"/>
                </a:moveTo>
                <a:lnTo>
                  <a:pt x="3771900" y="0"/>
                </a:lnTo>
                <a:lnTo>
                  <a:pt x="3771900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60142947-807F-4145-A955-A6789359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1875" y="4093584"/>
            <a:ext cx="3771900" cy="3771900"/>
          </a:xfrm>
          <a:custGeom xmlns:a="http://schemas.openxmlformats.org/drawingml/2006/main">
            <a:rect l="l" t="t" r="r" b="b"/>
            <a:pathLst>
              <a:path w="3771900" h="3771900">
                <a:moveTo>
                  <a:pt x="0" y="0"/>
                </a:moveTo>
                <a:lnTo>
                  <a:pt x="3771900" y="0"/>
                </a:lnTo>
                <a:lnTo>
                  <a:pt x="3771900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1792C09-79D6-421E-AB51-2883AA16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8856" y="4741578"/>
            <a:ext cx="2345448" cy="454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576"/>
              </a:lnSpc>
              <a:buNone/>
            </a:pPr>
            <a:r>
              <a:rPr sz="2751">
                <a:solidFill>
                  <a:srgbClr val="C9BBE8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7504B82C-B51A-4A2B-802F-8B069A41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9506" y="4741578"/>
            <a:ext cx="2345448" cy="454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576"/>
              </a:lnSpc>
              <a:buNone/>
            </a:pPr>
            <a:r>
              <a:rPr sz="2751">
                <a:solidFill>
                  <a:srgbClr val="C9BBE8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076C483-24C4-41E6-B31C-BB911AFE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4398" y="4741578"/>
            <a:ext cx="2345448" cy="454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576"/>
              </a:lnSpc>
              <a:buNone/>
            </a:pPr>
            <a:r>
              <a:rPr sz="2751">
                <a:solidFill>
                  <a:srgbClr val="C9BBE8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A13798D-334E-46F6-8D8B-FCCCFA01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2004" y="5941434"/>
            <a:ext cx="3079151" cy="374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951"/>
              </a:lnSpc>
              <a:spcBef>
                <a:spcPct val="0"/>
              </a:spcBef>
              <a:buNone/>
            </a:pPr>
            <a:r>
              <a:rPr sz="210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B5F5BA4-15B6-4B90-921E-5DDC7413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654" y="5941434"/>
            <a:ext cx="3079151" cy="374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951"/>
              </a:lnSpc>
              <a:spcBef>
                <a:spcPct val="0"/>
              </a:spcBef>
              <a:buNone/>
            </a:pPr>
            <a:r>
              <a:rPr sz="210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B8C06B8-89ED-44AB-9D1B-1C860264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9200" y="5941434"/>
            <a:ext cx="3079151" cy="374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951"/>
              </a:lnSpc>
              <a:spcBef>
                <a:spcPct val="0"/>
              </a:spcBef>
              <a:buNone/>
            </a:pPr>
            <a:r>
              <a:rPr sz="210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2" name="內容_5_三維倉庫佈局">
            <a:extLst xmlns:a="http://schemas.openxmlformats.org/drawingml/2006/main">
              <a:ext uri="{FF2B5EF4-FFF2-40B4-BE49-F238E27FC236}">
                <a16:creationId xmlns:a16="http://schemas.microsoft.com/office/drawing/2014/main" id="{7222DBA5-6694-4C56-956D-C9F02AE2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三維倉庫佈局</a:t>
            </a:r>
          </a:p>
        </p:txBody>
      </p:sp>
      <p:sp>
        <p:nvSpPr>
          <p:cNvPr id="23" name="內容_5_雙層輸送與工位配置">
            <a:extLst xmlns:a="http://schemas.openxmlformats.org/drawingml/2006/main">
              <a:ext uri="{FF2B5EF4-FFF2-40B4-BE49-F238E27FC236}">
                <a16:creationId xmlns:a16="http://schemas.microsoft.com/office/drawing/2014/main" id="{0FA66B49-CA98-4465-9AD2-59D92C5C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雙層輸送與工位配置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8601F-47B6-4906-8A16-810F90098E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f247158844bef"/>
          <a:srcRect xmlns:a="http://schemas.openxmlformats.org/drawingml/2006/main" l="0" t="20000" r="0" b="15000"/>
          <a:stretch xmlns:a="http://schemas.openxmlformats.org/drawingml/2006/main"/>
        </p:blipFill>
        <p:spPr>
          <a:xfrm xmlns:a="http://schemas.openxmlformats.org/drawingml/2006/main">
            <a:off x="1581150" y="4048125"/>
            <a:ext cx="14287500" cy="3810000"/>
          </a:xfrm>
          <a:prstGeom xmlns:a="http://schemas.openxmlformats.org/drawingml/2006/main" prst="rect">
            <a:avLst/>
          </a:prstGeom>
        </p:spPr>
      </p:pic>
      <p:sp>
        <p:nvSpPr>
          <p:cNvPr id="25" name="內容_5_展示配置含27段實體輸送帶。">
            <a:extLst xmlns:a="http://schemas.openxmlformats.org/drawingml/2006/main">
              <a:ext uri="{FF2B5EF4-FFF2-40B4-BE49-F238E27FC236}">
                <a16:creationId xmlns:a16="http://schemas.microsoft.com/office/drawing/2014/main" id="{4D8EE52E-037E-4659-BC0C-A88F79E7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展示配置含27段實體輸送帶。研究數據採簡化交接假設，不能直接視為此配置的績效。</a:t>
            </a:r>
          </a:p>
        </p:txBody>
      </p:sp>
    </p:spTree>
    <p:extLst>
      <p:ext uri="{BB962C8B-B14F-4D97-AF65-F5344CB8AC3E}">
        <p14:creationId xmlns:p14="http://schemas.microsoft.com/office/powerpoint/2010/main" val="14882689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925BA6F-D140-4103-9012-35206B19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417e7969b44139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9C3ECDC9-151B-4F95-8493-3B90E3E6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712371A-EE06-4139-9FAF-8EF20588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FAC889D6-E490-4714-9572-C866C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ad80ca2e3b24b5c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6272E2C-7583-45E2-BF08-E87F7D29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2c78c9587884469">
              <a:extLst>
                <a:ext uri="{96DAC541-7B7A-43D3-8B79-37D633B846F1}">
                  <asvg:svgBlip xmlns:asvg="http://schemas.microsoft.com/office/drawing/2016/SVG/main" r:embed="Rce5e678d9df14b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3C88959-1FC4-4CD6-AD64-25833423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2c78c9587884469">
              <a:extLst>
                <a:ext uri="{96DAC541-7B7A-43D3-8B79-37D633B846F1}">
                  <asvg:svgBlip xmlns:asvg="http://schemas.microsoft.com/office/drawing/2016/SVG/main" r:embed="Rce5e678d9df14b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7DB800F-6081-4EF2-8EBE-05D6F0A0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2086" y="2590914"/>
            <a:ext cx="7038718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1BC73D2-9E3A-4A56-83E6-EC6E0B3F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3774" y="2451591"/>
            <a:ext cx="5057775" cy="5057775"/>
          </a:xfrm>
          <a:custGeom xmlns:a="http://schemas.openxmlformats.org/drawingml/2006/main">
            <a:rect l="l" t="t" r="r" b="b"/>
            <a:pathLst>
              <a:path w="5057775" h="5057775">
                <a:moveTo>
                  <a:pt x="0" y="0"/>
                </a:moveTo>
                <a:lnTo>
                  <a:pt x="5057775" y="0"/>
                </a:lnTo>
                <a:lnTo>
                  <a:pt x="5057775" y="5057775"/>
                </a:lnTo>
                <a:lnTo>
                  <a:pt x="0" y="505777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D6003FF-BF22-4B5B-B2D4-D1C5DF6C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3800" y="3181287"/>
            <a:ext cx="4012721" cy="3598382"/>
          </a:xfrm>
          <a:custGeom xmlns:a="http://schemas.openxmlformats.org/drawingml/2006/main">
            <a:rect l="l" t="t" r="r" b="b"/>
            <a:pathLst>
              <a:path w="812800" h="728874">
                <a:moveTo>
                  <a:pt x="0" y="0"/>
                </a:moveTo>
                <a:lnTo>
                  <a:pt x="812800" y="0"/>
                </a:lnTo>
                <a:lnTo>
                  <a:pt x="812800" y="728874"/>
                </a:lnTo>
                <a:lnTo>
                  <a:pt x="0" y="7288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29F66D2-BE4E-41AA-9780-84D145A1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855E923F-396B-43DE-98D7-7273D884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06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2E8F4BF-030A-42DD-B305-74327943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2590914"/>
            <a:ext cx="3370259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606C0D4-9C3E-4FCB-B154-EC850238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4081222"/>
            <a:ext cx="8494452" cy="411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4"/>
              </a:lnSpc>
              <a:spcBef>
                <a:spcPct val="0"/>
              </a:spcBef>
              <a:buNone/>
            </a:pPr>
            <a:r>
              <a:rPr sz="231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7" name="內容_6_多能工與防呆">
            <a:extLst xmlns:a="http://schemas.openxmlformats.org/drawingml/2006/main">
              <a:ext uri="{FF2B5EF4-FFF2-40B4-BE49-F238E27FC236}">
                <a16:creationId xmlns:a16="http://schemas.microsoft.com/office/drawing/2014/main" id="{CCD8B890-E782-4F9F-A312-77BE7EF0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多能工與防呆</a:t>
            </a:r>
          </a:p>
        </p:txBody>
      </p:sp>
      <p:sp>
        <p:nvSpPr>
          <p:cNvPr id="18" name="內容_6_五位多能工與A星尋路法">
            <a:extLst xmlns:a="http://schemas.openxmlformats.org/drawingml/2006/main">
              <a:ext uri="{FF2B5EF4-FFF2-40B4-BE49-F238E27FC236}">
                <a16:creationId xmlns:a16="http://schemas.microsoft.com/office/drawing/2014/main" id="{A60EF70D-BB93-4413-9C7A-1013DED7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五位多能工與A星尋路法</a:t>
            </a:r>
          </a:p>
        </p:txBody>
      </p:sp>
      <p:sp>
        <p:nvSpPr>
          <p:cNvPr id="19" name="內容_6_品質檢查 隊列 &gt;15 件">
            <a:extLst xmlns:a="http://schemas.openxmlformats.org/drawingml/2006/main">
              <a:ext uri="{FF2B5EF4-FFF2-40B4-BE49-F238E27FC236}">
                <a16:creationId xmlns:a16="http://schemas.microsoft.com/office/drawing/2014/main" id="{ED6D69ED-8629-40E0-B26D-5832D6DF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815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品質檢查 隊列 &gt;15 件</a:t>
            </a:r>
          </a:p>
        </p:txBody>
      </p:sp>
      <p:sp>
        <p:nvSpPr>
          <p:cNvPr id="20" name="內容_6_鎖定支援員，等現有整新任務完">
            <a:extLst xmlns:a="http://schemas.openxmlformats.org/drawingml/2006/main">
              <a:ext uri="{FF2B5EF4-FFF2-40B4-BE49-F238E27FC236}">
                <a16:creationId xmlns:a16="http://schemas.microsoft.com/office/drawing/2014/main" id="{4221B2FC-A755-4608-9F98-DFA84A1E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81625"/>
            <a:ext cx="8191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鎖定支援員，等現有整新任務完成後再移動。</a:t>
            </a:r>
          </a:p>
          <a:p xmlns:a="http://schemas.openxmlformats.org/drawingml/2006/main">
            <a: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抵達 品質檢查 才將工時從40秒降為20秒。</a:t>
            </a:r>
          </a:p>
          <a:p xmlns:a="http://schemas.openxmlformats.org/drawingml/2006/main">
            <a: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品質檢查 隊列 ≤5 件，先完成當前任務再歸建。</a:t>
            </a:r>
          </a:p>
          <a:p xmlns:a="http://schemas.openxmlformats.org/drawingml/2006/main">
            <a: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支援旗標防止重複調派，整新二站暫停接新件。</a:t>
            </a:r>
          </a:p>
        </p:txBody>
      </p:sp>
      <p:sp>
        <p:nvSpPr>
          <p:cNvPr id="21" name="內容_6_5 人">
            <a:extLst xmlns:a="http://schemas.openxmlformats.org/drawingml/2006/main">
              <a:ext uri="{FF2B5EF4-FFF2-40B4-BE49-F238E27FC236}">
                <a16:creationId xmlns:a16="http://schemas.microsoft.com/office/drawing/2014/main" id="{7CC963EB-E594-4F13-A303-D28E9757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2912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5 人</a:t>
            </a:r>
          </a:p>
        </p:txBody>
      </p:sp>
      <p:sp>
        <p:nvSpPr>
          <p:cNvPr id="22" name="內容_6_固定人數&#10;1.4公尺／秒 步">
            <a:extLst xmlns:a="http://schemas.openxmlformats.org/drawingml/2006/main">
              <a:ext uri="{FF2B5EF4-FFF2-40B4-BE49-F238E27FC236}">
                <a16:creationId xmlns:a16="http://schemas.microsoft.com/office/drawing/2014/main" id="{B3C6B2DD-A8AA-4627-BC8D-32221B13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055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固定人數</a:t>
            </a:r>
          </a:p>
          <a:p xmlns:a="http://schemas.openxmlformats.org/drawingml/2006/main">
            <a: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1.4公尺／秒 步速假設</a:t>
            </a:r>
          </a:p>
          <a:p xmlns:a="http://schemas.openxmlformats.org/drawingml/2006/main">
            <a: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A星尋路法規劃實際移動</a:t>
            </a:r>
          </a:p>
        </p:txBody>
      </p:sp>
      <p:sp>
        <p:nvSpPr>
          <p:cNvPr id="23" name="內容_6_A星（A*）是尋路方法；5人">
            <a:extLst xmlns:a="http://schemas.openxmlformats.org/drawingml/2006/main">
              <a:ext uri="{FF2B5EF4-FFF2-40B4-BE49-F238E27FC236}">
                <a16:creationId xmlns:a16="http://schemas.microsoft.com/office/drawing/2014/main" id="{ABF1182C-E1F7-43AF-A7A8-264F972A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A星（A*）是尋路方法；5人各走40段。活動路格與單行檢查無違規，有限測試不等於普遍證明。</a:t>
            </a:r>
          </a:p>
        </p:txBody>
      </p:sp>
    </p:spTree>
    <p:extLst>
      <p:ext uri="{BB962C8B-B14F-4D97-AF65-F5344CB8AC3E}">
        <p14:creationId xmlns:p14="http://schemas.microsoft.com/office/powerpoint/2010/main" val="12353100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B872ABE-AA1B-4E11-A774-9151605C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fdb08e741a14d0d"/>
            <a:stretch>
              <a:fillRect l="-35258" t="-5555" r="-24931" b="-72434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DC9658DE-7540-4CFB-85C6-5E4E5A3B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128" y="2209914"/>
            <a:ext cx="5543293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B3453B2C-632D-42E1-AF11-79725DB3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064" y="2209914"/>
            <a:ext cx="5408227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8F5A6A1-D323-485F-AB4D-FD6A9A96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B431DFB-4B1C-4B77-92E0-B3EDB0F3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C3AFA5C-A987-4725-9B8F-8434EA11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4DA9A54-9182-46E3-8D45-1186FA66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fb020dd91843a9"/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AC1EDC2-13B0-4E6F-AEC8-9D6EE55F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c2ce8dc78e44d83">
              <a:extLst>
                <a:ext uri="{96DAC541-7B7A-43D3-8B79-37D633B846F1}">
                  <asvg:svgBlip xmlns:asvg="http://schemas.microsoft.com/office/drawing/2016/SVG/main" r:embed="R1d4f773be3d247c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593DF17-4BB4-45EF-BD02-4D302D83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c2ce8dc78e44d83">
              <a:extLst>
                <a:ext uri="{96DAC541-7B7A-43D3-8B79-37D633B846F1}">
                  <asvg:svgBlip xmlns:asvg="http://schemas.microsoft.com/office/drawing/2016/SVG/main" r:embed="R1d4f773be3d247c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55A0FA4-3D33-43A6-A910-0769DA91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07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4D13B77-99AD-4D68-A750-2536E3E3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6352" y="4308053"/>
            <a:ext cx="3385513" cy="854973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22229B6-1F9C-43F9-AE4E-2475B86D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6352" y="4408245"/>
            <a:ext cx="3385513" cy="75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09B8F1AA-7789-4B8B-B655-591F9232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8230" y="4510124"/>
            <a:ext cx="2659773" cy="454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576"/>
              </a:lnSpc>
              <a:buNone/>
            </a:pPr>
            <a:r>
              <a:rPr sz="2751" b="1">
                <a:solidFill>
                  <a:srgbClr val="C9BBE8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91B2818B-F341-4D4E-BD69-E7C1F226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6225" y="5418881"/>
            <a:ext cx="6248666" cy="363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2866"/>
              </a:lnSpc>
              <a:spcBef>
                <a:spcPct val="0"/>
              </a:spcBef>
              <a:buNone/>
            </a:pPr>
            <a:r>
              <a:rPr sz="204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BDF5EE2-0B7A-477B-8F25-BBC62B56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4604" y="4308053"/>
            <a:ext cx="3599822" cy="854973"/>
          </a:xfrm>
          <a:custGeom xmlns:a="http://schemas.openxmlformats.org/drawingml/2006/main">
            <a:rect l="l" t="t" r="r" b="b"/>
            <a:pathLst>
              <a:path w="1711129" h="406400">
                <a:moveTo>
                  <a:pt x="1507930" y="0"/>
                </a:moveTo>
                <a:cubicBezTo>
                  <a:pt x="1620154" y="0"/>
                  <a:pt x="1711129" y="90976"/>
                  <a:pt x="1711129" y="203200"/>
                </a:cubicBezTo>
                <a:cubicBezTo>
                  <a:pt x="1711129" y="315424"/>
                  <a:pt x="1620154" y="406400"/>
                  <a:pt x="150793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DE46934-BD46-4FA4-9588-33321F41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4604" y="4408245"/>
            <a:ext cx="3599825" cy="75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01799A3-F872-4185-B310-BE1388AF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9840" y="4510124"/>
            <a:ext cx="3159836" cy="454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576"/>
              </a:lnSpc>
              <a:buNone/>
            </a:pPr>
            <a:r>
              <a:rPr sz="2751" b="1">
                <a:solidFill>
                  <a:srgbClr val="C9BBE8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1033AA06-8787-411A-897C-ADF1FD93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875" y="5418881"/>
            <a:ext cx="6248666" cy="363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2866"/>
              </a:lnSpc>
              <a:spcBef>
                <a:spcPct val="0"/>
              </a:spcBef>
              <a:buNone/>
            </a:pPr>
            <a:r>
              <a:rPr sz="204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8E534A4E-1A7C-4346-B030-FDDB6658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81865" y="4754590"/>
            <a:ext cx="35427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headEnd type="oval" w="lg" len="lg"/>
            <a:tailEnd type="oval" w="lg" len="lg"/>
          </a:ln>
        </p:spPr>
      </p:sp>
      <p:sp>
        <p:nvSpPr>
          <p:cNvPr id="24" name="內容_7_環境指標：門檻與增量">
            <a:extLst xmlns:a="http://schemas.openxmlformats.org/drawingml/2006/main">
              <a:ext uri="{FF2B5EF4-FFF2-40B4-BE49-F238E27FC236}">
                <a16:creationId xmlns:a16="http://schemas.microsoft.com/office/drawing/2014/main" id="{2EA7F969-592D-476F-92D7-E9AD51A6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環境指標：門檻與增量</a:t>
            </a:r>
          </a:p>
        </p:txBody>
      </p:sp>
      <p:sp>
        <p:nvSpPr>
          <p:cNvPr id="25" name="內容_7_74%達標，不等於聯合方案再">
            <a:extLst xmlns:a="http://schemas.openxmlformats.org/drawingml/2006/main">
              <a:ext uri="{FF2B5EF4-FFF2-40B4-BE49-F238E27FC236}">
                <a16:creationId xmlns:a16="http://schemas.microsoft.com/office/drawing/2014/main" id="{38E30E62-C0E7-44AA-AF8B-037074BB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74%達標，不等於聯合方案再省74%</a:t>
            </a:r>
          </a:p>
        </p:txBody>
      </p:sp>
      <p:sp>
        <p:nvSpPr>
          <p:cNvPr id="26" name="內容_7_改善前 73.853%">
            <a:extLst xmlns:a="http://schemas.openxmlformats.org/drawingml/2006/main">
              <a:ext uri="{FF2B5EF4-FFF2-40B4-BE49-F238E27FC236}">
                <a16:creationId xmlns:a16="http://schemas.microsoft.com/office/drawing/2014/main" id="{43EE34EC-8952-43DA-8D6A-79131245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338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改善前 73.853%</a:t>
            </a:r>
          </a:p>
        </p:txBody>
      </p:sp>
      <p:sp>
        <p:nvSpPr>
          <p:cNvPr id="27" name="內容_7_每件0.184875 度電&#10;">
            <a:extLst xmlns:a="http://schemas.openxmlformats.org/drawingml/2006/main">
              <a:ext uri="{FF2B5EF4-FFF2-40B4-BE49-F238E27FC236}">
                <a16:creationId xmlns:a16="http://schemas.microsoft.com/office/drawing/2014/main" id="{377F9C5B-DED5-4099-9310-6EA29BB0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76875"/>
            <a:ext cx="7715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每件0.184875 度電</a:t>
            </a:r>
          </a:p>
          <a:p xmlns:a="http://schemas.openxmlformats.org/drawingml/2006/main">
            <a: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1 − 0.184875 × 0.495 ÷ 0.35</a:t>
            </a:r>
          </a:p>
          <a:p xmlns:a="http://schemas.openxmlformats.org/drawingml/2006/main">
            <a: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＝ 73.853%：改善前已超過42%</a:t>
            </a:r>
          </a:p>
        </p:txBody>
      </p:sp>
      <p:sp>
        <p:nvSpPr>
          <p:cNvPr id="28" name="內容_7_12公尺聯合：73.995%">
            <a:extLst xmlns:a="http://schemas.openxmlformats.org/drawingml/2006/main">
              <a:ext uri="{FF2B5EF4-FFF2-40B4-BE49-F238E27FC236}">
                <a16:creationId xmlns:a16="http://schemas.microsoft.com/office/drawing/2014/main" id="{51AE9D91-846C-47D5-8404-68387FC9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33875"/>
            <a:ext cx="695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12公尺聯合：73.995%</a:t>
            </a:r>
          </a:p>
        </p:txBody>
      </p:sp>
      <p:sp>
        <p:nvSpPr>
          <p:cNvPr id="29" name="內容_7_相較改善前僅 +0.141百">
            <a:extLst xmlns:a="http://schemas.openxmlformats.org/drawingml/2006/main">
              <a:ext uri="{FF2B5EF4-FFF2-40B4-BE49-F238E27FC236}">
                <a16:creationId xmlns:a16="http://schemas.microsoft.com/office/drawing/2014/main" id="{586EB9F1-8EEF-4F6F-A2FE-F6DA13FC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76875"/>
            <a:ext cx="704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相較改善前僅 +0.141百分點</a:t>
            </a:r>
          </a:p>
          <a:p xmlns:a="http://schemas.openxmlformats.org/drawingml/2006/main">
            <a: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聯合方案還須扣外包排放</a:t>
            </a:r>
          </a:p>
          <a:p xmlns:a="http://schemas.openxmlformats.org/drawingml/2006/main">
            <a: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課程口徑；不是完整生命週期盤查</a:t>
            </a:r>
          </a:p>
        </p:txBody>
      </p:sp>
      <p:sp>
        <p:nvSpPr>
          <p:cNvPr id="30" name="內容_7_42%是目標門檻；原始來源未">
            <a:extLst xmlns:a="http://schemas.openxmlformats.org/drawingml/2006/main">
              <a:ext uri="{FF2B5EF4-FFF2-40B4-BE49-F238E27FC236}">
                <a16:creationId xmlns:a16="http://schemas.microsoft.com/office/drawing/2014/main" id="{F7B97180-4C9B-4325-818E-B380FA10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42%是目標門檻；原始來源未提供相同輸入下42%的推導條件。不能為貼近目標反調參數。</a:t>
            </a:r>
          </a:p>
        </p:txBody>
      </p:sp>
    </p:spTree>
    <p:extLst>
      <p:ext uri="{BB962C8B-B14F-4D97-AF65-F5344CB8AC3E}">
        <p14:creationId xmlns:p14="http://schemas.microsoft.com/office/powerpoint/2010/main" val="54177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115128E-4149-4078-93CA-B795BBB7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e485226cdea4d66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E696BD24-EAEE-4DE8-9203-929EBA07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491D4E4-A786-4997-877D-A6397324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1E7B818D-2972-401C-837B-F89CC597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a0c996d4dc44460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D7FB00A-0B17-4C96-860E-7163D1F9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7a07202a8314439">
              <a:extLst>
                <a:ext uri="{96DAC541-7B7A-43D3-8B79-37D633B846F1}">
                  <asvg:svgBlip xmlns:asvg="http://schemas.microsoft.com/office/drawing/2016/SVG/main" r:embed="Rbb974f1250ba45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3DF7F568-CF8D-48FF-86F9-0700C64C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7a07202a8314439">
              <a:extLst>
                <a:ext uri="{96DAC541-7B7A-43D3-8B79-37D633B846F1}">
                  <asvg:svgBlip xmlns:asvg="http://schemas.microsoft.com/office/drawing/2016/SVG/main" r:embed="Rbb974f1250ba45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16326AD7-6FF0-43EF-84F5-363A1E58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31279" h="8229600">
                <a:moveTo>
                  <a:pt x="0" y="0"/>
                </a:moveTo>
                <a:lnTo>
                  <a:pt x="9831280" y="0"/>
                </a:lnTo>
                <a:lnTo>
                  <a:pt x="98312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BF1CE48-6CE1-4F4A-9785-5E53A06D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C5E534E-1A6B-4240-8065-5FC64545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08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892B1D5-B6FD-458D-BBD8-5C1A340A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9622" y="3485662"/>
            <a:ext cx="5543293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D5B6AA6-0641-4E12-A089-28CC5C82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9622" y="2399812"/>
            <a:ext cx="5408227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D23E863-8E39-438C-AB77-C84157CF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9622" y="4998487"/>
            <a:ext cx="7580052" cy="394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spcBef>
                <a:spcPct val="0"/>
              </a:spcBef>
              <a:buNone/>
            </a:pPr>
            <a:r>
              <a:rPr sz="221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B9B893B-B572-4FD6-A352-8C1B4F92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2"/>
                </a:lnTo>
                <a:lnTo>
                  <a:pt x="4240473" y="4240472"/>
                </a:lnTo>
                <a:lnTo>
                  <a:pt x="424047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內容_8_守恆與統計檢查">
            <a:extLst xmlns:a="http://schemas.openxmlformats.org/drawingml/2006/main">
              <a:ext uri="{FF2B5EF4-FFF2-40B4-BE49-F238E27FC236}">
                <a16:creationId xmlns:a16="http://schemas.microsoft.com/office/drawing/2014/main" id="{A888028B-EC35-4064-B146-C61DBD6C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守恆與統計檢查</a:t>
            </a:r>
          </a:p>
        </p:txBody>
      </p:sp>
      <p:sp>
        <p:nvSpPr>
          <p:cNvPr id="17" name="內容_8_驗證必須能攔下錯誤">
            <a:extLst xmlns:a="http://schemas.openxmlformats.org/drawingml/2006/main">
              <a:ext uri="{FF2B5EF4-FFF2-40B4-BE49-F238E27FC236}">
                <a16:creationId xmlns:a16="http://schemas.microsoft.com/office/drawing/2014/main" id="{9CB773AB-EC83-4924-B5C2-F2F9E614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驗證必須能攔下錯誤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0CD7F-F07F-4831-9134-806F5C123AD3}"/>
              </a:ext>
            </a:extLst>
          </p:cNvPr>
          <p:cNvGraphicFramePr/>
          <p:nvPr/>
        </p:nvGraphicFramePr>
        <p:xfrm>
          <a:off xmlns:a="http://schemas.openxmlformats.org/drawingml/2006/main" x="1581150" y="4333875"/>
          <a:ext xmlns:a="http://schemas.openxmlformats.org/drawingml/2006/main" cx="14287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4762500"/>
                <a:gridCol w="4762500"/>
              </a:tblGrid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實測證據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判讀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守恆檢查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1350次；每次17項殘差為0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商品、需求、箱資產分帳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穩定檢查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平日變異係數≤5%；在製漂移-0.21%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基準整體達標；尖峰現況不穩定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同種子檢查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3組×2次，原生完整讀值相等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視窗介面原始結果亦逐項一致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估計精度檢查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30次最差18.07%；600次3.47%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原始30次未達；追加樣本達標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分級比例檢查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平日分類檢定 p=0.1514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未拒絕60／30／10設定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</a:tbl>
          </a:graphicData>
        </a:graphic>
      </p:graphicFrame>
      <p:sp>
        <p:nvSpPr>
          <p:cNvPr id="19" name="內容_8_變異係數（CV）表示相對波動">
            <a:extLst xmlns:a="http://schemas.openxmlformats.org/drawingml/2006/main">
              <a:ext uri="{FF2B5EF4-FFF2-40B4-BE49-F238E27FC236}">
                <a16:creationId xmlns:a16="http://schemas.microsoft.com/office/drawing/2014/main" id="{5ECCDE77-FF14-4855-8253-3EA34A34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71925"/>
            <a:ext cx="1428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變異係數（CV）表示相對波動；p值用來檢查分級比例是否相容。</a:t>
            </a:r>
          </a:p>
        </p:txBody>
      </p:sp>
      <p:sp>
        <p:nvSpPr>
          <p:cNvPr id="20" name="內容_8_基準精度分析使用600個樣本">
            <a:extLst xmlns:a="http://schemas.openxmlformats.org/drawingml/2006/main">
              <a:ext uri="{FF2B5EF4-FFF2-40B4-BE49-F238E27FC236}">
                <a16:creationId xmlns:a16="http://schemas.microsoft.com/office/drawing/2014/main" id="{1A8F65E8-C03F-4F0E-9AB8-C22C87FB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基準精度分析使用600個樣本，其中30個與主實驗共用；主實驗各配置仍為30次。</a:t>
            </a:r>
          </a:p>
        </p:txBody>
      </p:sp>
    </p:spTree>
    <p:extLst>
      <p:ext uri="{BB962C8B-B14F-4D97-AF65-F5344CB8AC3E}">
        <p14:creationId xmlns:p14="http://schemas.microsoft.com/office/powerpoint/2010/main" val="12342891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57AD092-D430-4C3A-8BEC-46E61FD6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8cecad4f834451d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52983A4-2E2E-490B-A53A-63CE8D9F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6A8083F-D54B-40FB-A57A-B21CB87A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AD3C0BB5-5E78-456B-94D6-F7342411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089311cb83f4a93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992EFAA-CEE1-45D1-90D4-F786901D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3a7a04a67464f27">
              <a:extLst>
                <a:ext uri="{96DAC541-7B7A-43D3-8B79-37D633B846F1}">
                  <asvg:svgBlip xmlns:asvg="http://schemas.microsoft.com/office/drawing/2016/SVG/main" r:embed="R631ab9e38cb84d4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340BF97B-2F6D-47F9-877B-E28A4FCF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3a7a04a67464f27">
              <a:extLst>
                <a:ext uri="{96DAC541-7B7A-43D3-8B79-37D633B846F1}">
                  <asvg:svgBlip xmlns:asvg="http://schemas.microsoft.com/office/drawing/2016/SVG/main" r:embed="R631ab9e38cb84d4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F299CD7-0A1D-4C91-8719-6CDB496A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5314037"/>
            <a:ext cx="4796896" cy="608841"/>
          </a:xfrm>
          <a:custGeom xmlns:a="http://schemas.openxmlformats.org/drawingml/2006/main">
            <a:rect l="l" t="t" r="r" b="b"/>
            <a:pathLst>
              <a:path w="3201916" h="406400">
                <a:moveTo>
                  <a:pt x="2998716" y="0"/>
                </a:moveTo>
                <a:cubicBezTo>
                  <a:pt x="3110941" y="0"/>
                  <a:pt x="3201916" y="90976"/>
                  <a:pt x="3201916" y="203200"/>
                </a:cubicBezTo>
                <a:cubicBezTo>
                  <a:pt x="3201916" y="315424"/>
                  <a:pt x="3110941" y="406400"/>
                  <a:pt x="299871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D64C278-DDE8-4BA9-B434-BAC5A3E8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5385385"/>
            <a:ext cx="4796896" cy="53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20EEA1B4-C13D-496E-9A7D-83BFCACE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45901" y="5427472"/>
            <a:ext cx="320992" cy="320992"/>
          </a:xfrm>
          <a:custGeom xmlns:a="http://schemas.openxmlformats.org/drawingml/2006/main">
            <a:rect l="l" t="t" r="r" b="b"/>
            <a:pathLst>
              <a:path w="320992" h="320992">
                <a:moveTo>
                  <a:pt x="0" y="0"/>
                </a:moveTo>
                <a:lnTo>
                  <a:pt x="320992" y="0"/>
                </a:lnTo>
                <a:lnTo>
                  <a:pt x="320992" y="320992"/>
                </a:lnTo>
                <a:lnTo>
                  <a:pt x="0" y="3209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70DF3E4-3828-4FB7-82C1-7778CC98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3495789"/>
            <a:ext cx="8762872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0DED5AD-83BF-4C80-9D8D-0A9A40B6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2467089"/>
            <a:ext cx="5408227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4AB1BBB-CAB9-4E43-9C2D-A043E289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57981BD8-5C9A-4FA5-9FD0-3F38FE0E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09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929D707-7EFD-460E-AA89-A3DD734F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4534" y="5377181"/>
            <a:ext cx="2704114" cy="432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9"/>
              </a:lnSpc>
              <a:spcBef>
                <a:spcPct val="0"/>
              </a:spcBef>
              <a:buNone/>
            </a:pPr>
            <a:r>
              <a:rPr sz="24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DBAC7F5-A71A-4299-988C-EBAFBBDF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4534" y="6208628"/>
            <a:ext cx="6294052" cy="3796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89"/>
              </a:lnSpc>
              <a:spcBef>
                <a:spcPct val="0"/>
              </a:spcBef>
              <a:buNone/>
            </a:pPr>
            <a:r>
              <a:rPr sz="21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727A8ED6-D9F8-484A-9BC3-161620DC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78579" y="5314037"/>
            <a:ext cx="4796896" cy="608841"/>
          </a:xfrm>
          <a:custGeom xmlns:a="http://schemas.openxmlformats.org/drawingml/2006/main">
            <a:rect l="l" t="t" r="r" b="b"/>
            <a:pathLst>
              <a:path w="3201916" h="406400">
                <a:moveTo>
                  <a:pt x="2998716" y="0"/>
                </a:moveTo>
                <a:cubicBezTo>
                  <a:pt x="3110941" y="0"/>
                  <a:pt x="3201916" y="90976"/>
                  <a:pt x="3201916" y="203200"/>
                </a:cubicBezTo>
                <a:cubicBezTo>
                  <a:pt x="3201916" y="315424"/>
                  <a:pt x="3110941" y="406400"/>
                  <a:pt x="299871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DFC2D09-B32C-4A2D-BC23-A024F194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78579" y="5385385"/>
            <a:ext cx="4796896" cy="53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14AF057-27D8-4864-BC09-AF47503F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91615" y="5460539"/>
            <a:ext cx="320993" cy="320992"/>
          </a:xfrm>
          <a:custGeom xmlns:a="http://schemas.openxmlformats.org/drawingml/2006/main">
            <a:rect l="l" t="t" r="r" b="b"/>
            <a:pathLst>
              <a:path w="320993" h="320992">
                <a:moveTo>
                  <a:pt x="0" y="0"/>
                </a:moveTo>
                <a:lnTo>
                  <a:pt x="320993" y="0"/>
                </a:lnTo>
                <a:lnTo>
                  <a:pt x="320993" y="320992"/>
                </a:lnTo>
                <a:lnTo>
                  <a:pt x="0" y="3209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9705455-FB4F-44DB-940D-4B47EED9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5767" y="5377181"/>
            <a:ext cx="2704114" cy="432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9"/>
              </a:lnSpc>
              <a:spcBef>
                <a:spcPct val="0"/>
              </a:spcBef>
              <a:buNone/>
            </a:pPr>
            <a:r>
              <a:rPr sz="24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68A0B88-D7DC-4F9A-99A1-D4C4238F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7179" y="6208628"/>
            <a:ext cx="6479790" cy="3796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89"/>
              </a:lnSpc>
              <a:spcBef>
                <a:spcPct val="0"/>
              </a:spcBef>
              <a:buNone/>
            </a:pPr>
            <a:r>
              <a:rPr sz="21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FDD13262-933B-451E-9C79-B80A11C7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3"/>
                </a:lnTo>
                <a:lnTo>
                  <a:pt x="4240473" y="4240473"/>
                </a:lnTo>
                <a:lnTo>
                  <a:pt x="424047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A9D9167D-4D49-48F2-BC6E-0982D1A7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3"/>
                </a:lnTo>
                <a:lnTo>
                  <a:pt x="4240473" y="4240473"/>
                </a:lnTo>
                <a:lnTo>
                  <a:pt x="424047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內容_9_物理與排隊檢查">
            <a:extLst xmlns:a="http://schemas.openxmlformats.org/drawingml/2006/main">
              <a:ext uri="{FF2B5EF4-FFF2-40B4-BE49-F238E27FC236}">
                <a16:creationId xmlns:a16="http://schemas.microsoft.com/office/drawing/2014/main" id="{EF1B1EA4-EC09-4C44-BFE1-98868A43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物理與排隊檢查</a:t>
            </a:r>
          </a:p>
        </p:txBody>
      </p:sp>
      <p:sp>
        <p:nvSpPr>
          <p:cNvPr id="28" name="內容_9_將模型對回物理與排隊">
            <a:extLst xmlns:a="http://schemas.openxmlformats.org/drawingml/2006/main">
              <a:ext uri="{FF2B5EF4-FFF2-40B4-BE49-F238E27FC236}">
                <a16:creationId xmlns:a16="http://schemas.microsoft.com/office/drawing/2014/main" id="{64B74245-C722-4F42-B938-474448FD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將模型對回物理與排隊</a:t>
            </a:r>
          </a:p>
        </p:txBody>
      </p:sp>
      <p:graphicFrame>
        <p:nvGraphicFrame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54ED4A-4EC2-4915-8E71-E9E1D030ED0E}"/>
              </a:ext>
            </a:extLst>
          </p:cNvPr>
          <p:cNvGraphicFramePr/>
          <p:nvPr/>
        </p:nvGraphicFramePr>
        <p:xfrm>
          <a:off xmlns:a="http://schemas.openxmlformats.org/drawingml/2006/main" x="1581150" y="4333875"/>
          <a:ext xmlns:a="http://schemas.openxmlformats.org/drawingml/2006/main" cx="14287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4762500"/>
                <a:gridCol w="4762500"/>
              </a:tblGrid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標準／實測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判讀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清洗產能檢查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30秒／箱；未超過實現可用產能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加工占比與負載差≤1.37百分點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停機占比檢查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平日基準情境（S0）均值3.80%；理論4%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整體差0.20百分點，個別診斷另列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利特爾定律檢查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90組獨立時間戳；最大誤差2.32%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有限觀察窗修正亦一致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五倍壓力檢查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300件／小時 ×7日；保留外部積壓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品質檢查先超載，清洗近飽和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無長時停滯檢查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1350次最長零出庫1小時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72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未出現連續4小時零出庫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</a:tbl>
          </a:graphicData>
        </a:graphic>
      </p:graphicFrame>
      <p:sp>
        <p:nvSpPr>
          <p:cNvPr id="30" name="內容_9_負載比例＝到達率÷處理能力；">
            <a:extLst xmlns:a="http://schemas.openxmlformats.org/drawingml/2006/main">
              <a:ext uri="{FF2B5EF4-FFF2-40B4-BE49-F238E27FC236}">
                <a16:creationId xmlns:a16="http://schemas.microsoft.com/office/drawing/2014/main" id="{DAF8B233-DC93-4A51-A48B-F7933A74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71925"/>
            <a:ext cx="1428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負載比例＝到達率÷處理能力；利特爾定律用流量與等待時間核對平均在製量。</a:t>
            </a:r>
          </a:p>
        </p:txBody>
      </p:sp>
      <p:sp>
        <p:nvSpPr>
          <p:cNvPr id="31" name="內容_9_1920次不重複原生運行；1">
            <a:extLst xmlns:a="http://schemas.openxmlformats.org/drawingml/2006/main">
              <a:ext uri="{FF2B5EF4-FFF2-40B4-BE49-F238E27FC236}">
                <a16:creationId xmlns:a16="http://schemas.microsoft.com/office/drawing/2014/main" id="{082B4188-C2E0-4EA2-932A-F25B999F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1920次不重複原生運行；15,360筆功能性績效指標響應與原始計數重算差異為0。</a:t>
            </a:r>
          </a:p>
        </p:txBody>
      </p:sp>
    </p:spTree>
    <p:extLst>
      <p:ext uri="{BB962C8B-B14F-4D97-AF65-F5344CB8AC3E}">
        <p14:creationId xmlns:p14="http://schemas.microsoft.com/office/powerpoint/2010/main" val="118893801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A00BC88-8D44-40F6-B7F9-9293DD8F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f92ffea268d440f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B4E06D1-11CA-4DA6-AC4C-231F3597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29BB6200-A6C4-4B80-8F81-80439BA3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BC4CA529-DF9F-402F-9376-79BCC341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abd77f52cd4827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13F1DA1B-4D51-4C69-B4A5-41E159A4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dff940bafef48ce">
              <a:extLst>
                <a:ext uri="{96DAC541-7B7A-43D3-8B79-37D633B846F1}">
                  <asvg:svgBlip xmlns:asvg="http://schemas.microsoft.com/office/drawing/2016/SVG/main" r:embed="R4d74a3a29e0b4ca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274CE53-7137-497D-86D0-A6273CA7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dff940bafef48ce">
              <a:extLst>
                <a:ext uri="{96DAC541-7B7A-43D3-8B79-37D633B846F1}">
                  <asvg:svgBlip xmlns:asvg="http://schemas.microsoft.com/office/drawing/2016/SVG/main" r:embed="R4d74a3a29e0b4ca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B975EE83-C0E0-4C9A-A20E-81B18B3D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2232516"/>
            <a:ext cx="5199669" cy="6244144"/>
          </a:xfrm>
          <a:custGeom xmlns:a="http://schemas.openxmlformats.org/drawingml/2006/main">
            <a:rect l="l" t="t" r="r" b="b"/>
            <a:pathLst>
              <a:path w="5199669" h="6244144">
                <a:moveTo>
                  <a:pt x="0" y="0"/>
                </a:moveTo>
                <a:lnTo>
                  <a:pt x="5199669" y="0"/>
                </a:lnTo>
                <a:lnTo>
                  <a:pt x="5199669" y="6244144"/>
                </a:lnTo>
                <a:lnTo>
                  <a:pt x="0" y="624414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4CDA058-0BE9-40BE-A529-27CD3A03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3026" y="3267189"/>
            <a:ext cx="7580571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C61ABFB-36E8-41AC-B29A-7D9C22CB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3026" y="2209914"/>
            <a:ext cx="5408227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F91D0BD-FEA7-4E07-8815-E226B022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0732F14-FB1B-4C7B-B325-0AD74762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2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10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4233094-D738-4628-B7B1-766DC9AA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1422" y="4811246"/>
            <a:ext cx="7822954" cy="3995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46"/>
              </a:lnSpc>
              <a:spcBef>
                <a:spcPct val="0"/>
              </a:spcBef>
              <a:buNone/>
            </a:pPr>
            <a:r>
              <a:rPr sz="224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E42B92A-3C25-4EF6-8127-A418D51A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2675" y="2949940"/>
            <a:ext cx="4012721" cy="4636258"/>
          </a:xfrm>
          <a:custGeom xmlns:a="http://schemas.openxmlformats.org/drawingml/2006/main">
            <a:rect l="l" t="t" r="r" b="b"/>
            <a:pathLst>
              <a:path w="812800" h="939101">
                <a:moveTo>
                  <a:pt x="0" y="0"/>
                </a:moveTo>
                <a:lnTo>
                  <a:pt x="812800" y="0"/>
                </a:lnTo>
                <a:lnTo>
                  <a:pt x="812800" y="939101"/>
                </a:lnTo>
                <a:lnTo>
                  <a:pt x="0" y="9391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內容_10_關鍵發現">
            <a:extLst xmlns:a="http://schemas.openxmlformats.org/drawingml/2006/main">
              <a:ext uri="{FF2B5EF4-FFF2-40B4-BE49-F238E27FC236}">
                <a16:creationId xmlns:a16="http://schemas.microsoft.com/office/drawing/2014/main" id="{ADC0808E-AD1A-452D-93FD-2088BFE6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關鍵發現</a:t>
            </a:r>
          </a:p>
        </p:txBody>
      </p:sp>
      <p:sp>
        <p:nvSpPr>
          <p:cNvPr id="18" name="內容_10_只加8公尺不夠，聯合控制才有">
            <a:extLst xmlns:a="http://schemas.openxmlformats.org/drawingml/2006/main">
              <a:ext uri="{FF2B5EF4-FFF2-40B4-BE49-F238E27FC236}">
                <a16:creationId xmlns:a16="http://schemas.microsoft.com/office/drawing/2014/main" id="{4C6434D4-6B69-4F10-BDD1-8A2A5B02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只加8公尺不夠，聯合控制才有效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EB507068-31F1-4594-ADAF-580EA5A0991F}"/>
              </a:ext>
            </a:extLst>
          </p:cNvPr>
          <p:cNvGraphicFramePr/>
          <p:nvPr/>
        </p:nvGraphicFramePr>
        <p:xfrm>
          <a:off xmlns:a="http://schemas.openxmlformats.org/drawingml/2006/main" x="1581150" y="4286250"/>
          <a:ext xmlns:a="http://schemas.openxmlformats.org/drawingml/2006/main" cx="6858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f75f58bab94e86"/>
          </a:graphicData>
        </a:graphic>
      </p:graphicFrame>
      <p:graphicFrame>
        <p:nvGraphicFramePr>
          <p:cNvPr id="20" name="Chart">
            <a:extLst xmlns:a="http://schemas.openxmlformats.org/drawingml/2006/main">
              <a:ext uri="{FF2B5EF4-FFF2-40B4-BE49-F238E27FC236}">
                <a16:creationId xmlns:a16="http://schemas.microsoft.com/office/drawing/2014/main" id="{06A2F92D-A6E1-4B4B-B5B9-A28F9C52A89A}"/>
              </a:ext>
            </a:extLst>
          </p:cNvPr>
          <p:cNvGraphicFramePr/>
          <p:nvPr/>
        </p:nvGraphicFramePr>
        <p:xfrm>
          <a:off xmlns:a="http://schemas.openxmlformats.org/drawingml/2006/main" x="9144000" y="4286250"/>
          <a:ext xmlns:a="http://schemas.openxmlformats.org/drawingml/2006/main" cx="6858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59efc580524297"/>
          </a:graphicData>
        </a:graphic>
      </p:graphicFrame>
      <p:sp>
        <p:nvSpPr>
          <p:cNvPr id="21" name="內容_10_短波尖峰情境（S1）；現況（">
            <a:extLst xmlns:a="http://schemas.openxmlformats.org/drawingml/2006/main">
              <a:ext uri="{FF2B5EF4-FFF2-40B4-BE49-F238E27FC236}">
                <a16:creationId xmlns:a16="http://schemas.microsoft.com/office/drawing/2014/main" id="{57ADBAA2-70C4-4290-A8E5-60BFF0D2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短波尖峰情境（S1）；現況（P0）、僅加緩衝（P2）、聯合改善（P4）。僅加8公尺仍未達標。</a:t>
            </a:r>
          </a:p>
        </p:txBody>
      </p:sp>
    </p:spTree>
    <p:extLst>
      <p:ext uri="{BB962C8B-B14F-4D97-AF65-F5344CB8AC3E}">
        <p14:creationId xmlns:p14="http://schemas.microsoft.com/office/powerpoint/2010/main" val="37267921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76528956-C711-4D79-B5D0-B4FF6995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4de4015aeb04241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F004BE9-237E-415A-B1F3-8665CD23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AA5D220-4426-4454-B350-634B7D3C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36B2849-827A-42A9-92F0-1A8BDC62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3b3e5cfd6244c15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BB7BC94-5EEF-428A-A607-2D0D74FE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42234279694d76">
              <a:extLst>
                <a:ext uri="{96DAC541-7B7A-43D3-8B79-37D633B846F1}">
                  <asvg:svgBlip xmlns:asvg="http://schemas.microsoft.com/office/drawing/2016/SVG/main" r:embed="Rf7ae56687c594cf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96C81D2-EFDF-4B87-86B7-7B07EF7F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42234279694d76">
              <a:extLst>
                <a:ext uri="{96DAC541-7B7A-43D3-8B79-37D633B846F1}">
                  <asvg:svgBlip xmlns:asvg="http://schemas.microsoft.com/office/drawing/2016/SVG/main" r:embed="Rf7ae56687c594cf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9F3E4A6-8AEF-4A00-A6D0-B7AA5CAE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11733" y="4329430"/>
            <a:ext cx="3813204" cy="3796227"/>
          </a:xfrm>
          <a:custGeom xmlns:a="http://schemas.openxmlformats.org/drawingml/2006/main">
            <a:rect l="l" t="t" r="r" b="b"/>
            <a:pathLst>
              <a:path w="14906544" h="14840178">
                <a:moveTo>
                  <a:pt x="7453273" y="75"/>
                </a:moveTo>
                <a:cubicBezTo>
                  <a:pt x="4794451" y="-11816"/>
                  <a:pt x="2332496" y="1399825"/>
                  <a:pt x="999642" y="3700470"/>
                </a:cubicBezTo>
                <a:cubicBezTo>
                  <a:pt x="-333213" y="6001115"/>
                  <a:pt x="-333213" y="8839064"/>
                  <a:pt x="999642" y="11139709"/>
                </a:cubicBezTo>
                <a:cubicBezTo>
                  <a:pt x="2332496" y="13440354"/>
                  <a:pt x="4794451" y="14851995"/>
                  <a:pt x="7453273" y="14840104"/>
                </a:cubicBezTo>
                <a:cubicBezTo>
                  <a:pt x="10112093" y="14851995"/>
                  <a:pt x="12574049" y="13440354"/>
                  <a:pt x="13906904" y="11139709"/>
                </a:cubicBezTo>
                <a:cubicBezTo>
                  <a:pt x="15239758" y="8839064"/>
                  <a:pt x="15239758" y="6001115"/>
                  <a:pt x="13906904" y="3700470"/>
                </a:cubicBezTo>
                <a:cubicBezTo>
                  <a:pt x="12574049" y="1399825"/>
                  <a:pt x="10112093" y="-11816"/>
                  <a:pt x="7453273" y="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994661A-FB9D-472F-B8F1-FB76FAEF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3221" y="4380689"/>
            <a:ext cx="3710226" cy="3693707"/>
          </a:xfrm>
          <a:custGeom xmlns:a="http://schemas.openxmlformats.org/drawingml/2006/main">
            <a:rect l="l" t="t" r="r" b="b"/>
            <a:pathLst>
              <a:path w="14503985" h="14439411">
                <a:moveTo>
                  <a:pt x="7251993" y="73"/>
                </a:moveTo>
                <a:cubicBezTo>
                  <a:pt x="4664974" y="-11497"/>
                  <a:pt x="2269506" y="1362022"/>
                  <a:pt x="972645" y="3600537"/>
                </a:cubicBezTo>
                <a:cubicBezTo>
                  <a:pt x="-324215" y="5839051"/>
                  <a:pt x="-324215" y="8600360"/>
                  <a:pt x="972645" y="10838875"/>
                </a:cubicBezTo>
                <a:cubicBezTo>
                  <a:pt x="2269506" y="13077389"/>
                  <a:pt x="4664974" y="14450908"/>
                  <a:pt x="7251993" y="14439338"/>
                </a:cubicBezTo>
                <a:cubicBezTo>
                  <a:pt x="9839011" y="14450908"/>
                  <a:pt x="12234479" y="13077389"/>
                  <a:pt x="13531340" y="10838875"/>
                </a:cubicBezTo>
                <a:cubicBezTo>
                  <a:pt x="14828201" y="8600360"/>
                  <a:pt x="14828201" y="5839051"/>
                  <a:pt x="13531340" y="3600537"/>
                </a:cubicBezTo>
                <a:cubicBezTo>
                  <a:pt x="12234479" y="1362022"/>
                  <a:pt x="9839011" y="-11497"/>
                  <a:pt x="7251993" y="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AA90114-5E6E-43E4-AEAA-A89D1E56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6144" y="4473198"/>
            <a:ext cx="3524380" cy="3508689"/>
          </a:xfrm>
          <a:custGeom xmlns:a="http://schemas.openxmlformats.org/drawingml/2006/main">
            <a:rect l="l" t="t" r="r" b="b"/>
            <a:pathLst>
              <a:path w="13777477" h="13716137">
                <a:moveTo>
                  <a:pt x="6888739" y="68"/>
                </a:moveTo>
                <a:cubicBezTo>
                  <a:pt x="4431305" y="-10922"/>
                  <a:pt x="2155826" y="1293797"/>
                  <a:pt x="923925" y="3420184"/>
                </a:cubicBezTo>
                <a:cubicBezTo>
                  <a:pt x="-307975" y="5546571"/>
                  <a:pt x="-307975" y="8169565"/>
                  <a:pt x="923925" y="10295952"/>
                </a:cubicBezTo>
                <a:cubicBezTo>
                  <a:pt x="2155826" y="12422339"/>
                  <a:pt x="4431305" y="13727058"/>
                  <a:pt x="6888739" y="13716068"/>
                </a:cubicBezTo>
                <a:cubicBezTo>
                  <a:pt x="9346172" y="13727058"/>
                  <a:pt x="11621651" y="12422339"/>
                  <a:pt x="12853552" y="10295952"/>
                </a:cubicBezTo>
                <a:cubicBezTo>
                  <a:pt x="14085452" y="8169565"/>
                  <a:pt x="14085452" y="5546571"/>
                  <a:pt x="12853552" y="3420184"/>
                </a:cubicBezTo>
                <a:cubicBezTo>
                  <a:pt x="11621651" y="1293797"/>
                  <a:pt x="9346172" y="-10922"/>
                  <a:pt x="6888739" y="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53735CA-5C22-43A0-A8CF-F5205063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40157" y="4329430"/>
            <a:ext cx="3813204" cy="3796227"/>
          </a:xfrm>
          <a:custGeom xmlns:a="http://schemas.openxmlformats.org/drawingml/2006/main">
            <a:rect l="l" t="t" r="r" b="b"/>
            <a:pathLst>
              <a:path w="14906544" h="14840178">
                <a:moveTo>
                  <a:pt x="7453273" y="75"/>
                </a:moveTo>
                <a:cubicBezTo>
                  <a:pt x="4794451" y="-11816"/>
                  <a:pt x="2332496" y="1399825"/>
                  <a:pt x="999642" y="3700470"/>
                </a:cubicBezTo>
                <a:cubicBezTo>
                  <a:pt x="-333213" y="6001115"/>
                  <a:pt x="-333213" y="8839064"/>
                  <a:pt x="999642" y="11139709"/>
                </a:cubicBezTo>
                <a:cubicBezTo>
                  <a:pt x="2332496" y="13440354"/>
                  <a:pt x="4794451" y="14851995"/>
                  <a:pt x="7453273" y="14840104"/>
                </a:cubicBezTo>
                <a:cubicBezTo>
                  <a:pt x="10112093" y="14851995"/>
                  <a:pt x="12574049" y="13440354"/>
                  <a:pt x="13906904" y="11139709"/>
                </a:cubicBezTo>
                <a:cubicBezTo>
                  <a:pt x="15239758" y="8839064"/>
                  <a:pt x="15239758" y="6001115"/>
                  <a:pt x="13906904" y="3700470"/>
                </a:cubicBezTo>
                <a:cubicBezTo>
                  <a:pt x="12574049" y="1399825"/>
                  <a:pt x="10112093" y="-11816"/>
                  <a:pt x="7453273" y="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7EA9BD2-2658-4A52-A073-4C447ECE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91645" y="4380689"/>
            <a:ext cx="3710226" cy="3693707"/>
          </a:xfrm>
          <a:custGeom xmlns:a="http://schemas.openxmlformats.org/drawingml/2006/main">
            <a:rect l="l" t="t" r="r" b="b"/>
            <a:pathLst>
              <a:path w="14503985" h="14439411">
                <a:moveTo>
                  <a:pt x="7251993" y="73"/>
                </a:moveTo>
                <a:cubicBezTo>
                  <a:pt x="4664974" y="-11497"/>
                  <a:pt x="2269506" y="1362022"/>
                  <a:pt x="972645" y="3600537"/>
                </a:cubicBezTo>
                <a:cubicBezTo>
                  <a:pt x="-324215" y="5839051"/>
                  <a:pt x="-324215" y="8600360"/>
                  <a:pt x="972645" y="10838875"/>
                </a:cubicBezTo>
                <a:cubicBezTo>
                  <a:pt x="2269506" y="13077389"/>
                  <a:pt x="4664974" y="14450908"/>
                  <a:pt x="7251993" y="14439338"/>
                </a:cubicBezTo>
                <a:cubicBezTo>
                  <a:pt x="9839011" y="14450908"/>
                  <a:pt x="12234479" y="13077389"/>
                  <a:pt x="13531340" y="10838875"/>
                </a:cubicBezTo>
                <a:cubicBezTo>
                  <a:pt x="14828201" y="8600360"/>
                  <a:pt x="14828201" y="5839051"/>
                  <a:pt x="13531340" y="3600537"/>
                </a:cubicBezTo>
                <a:cubicBezTo>
                  <a:pt x="12234479" y="1362022"/>
                  <a:pt x="9839011" y="-11497"/>
                  <a:pt x="7251993" y="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CB6959C-066C-4C1F-817A-A231249A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84568" y="4473198"/>
            <a:ext cx="3524380" cy="3508689"/>
          </a:xfrm>
          <a:custGeom xmlns:a="http://schemas.openxmlformats.org/drawingml/2006/main">
            <a:rect l="l" t="t" r="r" b="b"/>
            <a:pathLst>
              <a:path w="13777477" h="13716137">
                <a:moveTo>
                  <a:pt x="6888739" y="68"/>
                </a:moveTo>
                <a:cubicBezTo>
                  <a:pt x="4431305" y="-10922"/>
                  <a:pt x="2155826" y="1293797"/>
                  <a:pt x="923925" y="3420184"/>
                </a:cubicBezTo>
                <a:cubicBezTo>
                  <a:pt x="-307975" y="5546571"/>
                  <a:pt x="-307975" y="8169565"/>
                  <a:pt x="923925" y="10295952"/>
                </a:cubicBezTo>
                <a:cubicBezTo>
                  <a:pt x="2155826" y="12422339"/>
                  <a:pt x="4431305" y="13727058"/>
                  <a:pt x="6888739" y="13716068"/>
                </a:cubicBezTo>
                <a:cubicBezTo>
                  <a:pt x="9346172" y="13727058"/>
                  <a:pt x="11621651" y="12422339"/>
                  <a:pt x="12853552" y="10295952"/>
                </a:cubicBezTo>
                <a:cubicBezTo>
                  <a:pt x="14085452" y="8169565"/>
                  <a:pt x="14085452" y="5546571"/>
                  <a:pt x="12853552" y="3420184"/>
                </a:cubicBezTo>
                <a:cubicBezTo>
                  <a:pt x="11621651" y="1293797"/>
                  <a:pt x="9346172" y="-10922"/>
                  <a:pt x="6888739" y="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1EE07CB-7FAC-4BB9-9744-FE43A46D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9914" y="4329449"/>
            <a:ext cx="300038" cy="300038"/>
          </a:xfrm>
          <a:custGeom xmlns:a="http://schemas.openxmlformats.org/drawingml/2006/main">
            <a:rect l="l" t="t" r="r" b="b"/>
            <a:pathLst>
              <a:path w="79022" h="79022">
                <a:moveTo>
                  <a:pt x="0" y="0"/>
                </a:moveTo>
                <a:lnTo>
                  <a:pt x="79022" y="0"/>
                </a:lnTo>
                <a:lnTo>
                  <a:pt x="79022" y="79022"/>
                </a:lnTo>
                <a:lnTo>
                  <a:pt x="0" y="790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CD1ACBB-0643-4A8B-A020-C4CA380D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9914" y="4510275"/>
            <a:ext cx="300038" cy="119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75417065-69EF-4D78-A097-C8EA7ED3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3E4BBB8-B2AE-4D4A-A1BB-06318016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11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35897CEE-9C95-4DD2-8C33-133681CD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6381" y="2306473"/>
            <a:ext cx="3400168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F26714DD-5B79-4563-BBE3-6CD09B23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9979" y="2306473"/>
            <a:ext cx="5922577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B8825C3-CEE9-4A50-9323-AD8329B5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9914" y="4741578"/>
            <a:ext cx="1888248" cy="454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76"/>
              </a:lnSpc>
              <a:buNone/>
            </a:pPr>
            <a:r>
              <a:rPr sz="2751" b="1">
                <a:solidFill>
                  <a:srgbClr val="C9BBE8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1908C4D8-A973-47AF-AA7F-F9199035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9914" y="5899065"/>
            <a:ext cx="2323967" cy="2830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9"/>
              </a:lnSpc>
              <a:spcBef>
                <a:spcPct val="0"/>
              </a:spcBef>
              <a:buNone/>
            </a:pPr>
            <a:r>
              <a:rPr sz="1592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DEEF49D-F311-4630-9B15-A7BB2C49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67937" y="4329449"/>
            <a:ext cx="300038" cy="300038"/>
          </a:xfrm>
          <a:custGeom xmlns:a="http://schemas.openxmlformats.org/drawingml/2006/main">
            <a:rect l="l" t="t" r="r" b="b"/>
            <a:pathLst>
              <a:path w="79022" h="79022">
                <a:moveTo>
                  <a:pt x="0" y="0"/>
                </a:moveTo>
                <a:lnTo>
                  <a:pt x="79022" y="0"/>
                </a:lnTo>
                <a:lnTo>
                  <a:pt x="79022" y="79022"/>
                </a:lnTo>
                <a:lnTo>
                  <a:pt x="0" y="790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2DDEC5DB-394A-462F-B68A-86EC4EA9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67937" y="4510275"/>
            <a:ext cx="300038" cy="119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E356BE38-E36E-48F0-9886-A14EDCF6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7937" y="4741578"/>
            <a:ext cx="1888248" cy="454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76"/>
              </a:lnSpc>
              <a:buNone/>
            </a:pPr>
            <a:r>
              <a:rPr sz="2751" b="1">
                <a:solidFill>
                  <a:srgbClr val="C9BBE8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1EE6AFD3-F1CA-4EDE-9D63-3574B621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7937" y="5899065"/>
            <a:ext cx="2323967" cy="2830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9"/>
              </a:lnSpc>
              <a:spcBef>
                <a:spcPct val="0"/>
              </a:spcBef>
              <a:buNone/>
            </a:pPr>
            <a:r>
              <a:rPr sz="1592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31" name="內容_11_改善方案的實驗比較">
            <a:extLst xmlns:a="http://schemas.openxmlformats.org/drawingml/2006/main">
              <a:ext uri="{FF2B5EF4-FFF2-40B4-BE49-F238E27FC236}">
                <a16:creationId xmlns:a16="http://schemas.microsoft.com/office/drawing/2014/main" id="{D4A8DADF-E4FE-4D21-A7A1-49B144CC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改善方案的實驗比較</a:t>
            </a:r>
          </a:p>
        </p:txBody>
      </p:sp>
      <p:sp>
        <p:nvSpPr>
          <p:cNvPr id="32" name="內容_11_緩衝與調派必須一起評估">
            <a:extLst xmlns:a="http://schemas.openxmlformats.org/drawingml/2006/main">
              <a:ext uri="{FF2B5EF4-FFF2-40B4-BE49-F238E27FC236}">
                <a16:creationId xmlns:a16="http://schemas.microsoft.com/office/drawing/2014/main" id="{1F0B8BC6-7551-4C65-867A-A627890E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緩衝與調派必須一起評估</a:t>
            </a:r>
          </a:p>
        </p:txBody>
      </p:sp>
      <p:graphicFrame>
        <p:nvGraphicFramePr>
          <p:cNvPr id="33" name="Chart">
            <a:extLst xmlns:a="http://schemas.openxmlformats.org/drawingml/2006/main">
              <a:ext uri="{FF2B5EF4-FFF2-40B4-BE49-F238E27FC236}">
                <a16:creationId xmlns:a16="http://schemas.microsoft.com/office/drawing/2014/main" id="{078553AF-8813-479F-A285-09CCE0048C86}"/>
              </a:ext>
            </a:extLst>
          </p:cNvPr>
          <p:cNvGraphicFramePr/>
          <p:nvPr/>
        </p:nvGraphicFramePr>
        <p:xfrm>
          <a:off xmlns:a="http://schemas.openxmlformats.org/drawingml/2006/main" x="1581150" y="4238625"/>
          <a:ext xmlns:a="http://schemas.openxmlformats.org/drawingml/2006/main" cx="142875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707c510ecc404a"/>
          </a:graphicData>
        </a:graphic>
      </p:graphicFrame>
      <p:sp>
        <p:nvSpPr>
          <p:cNvPr id="34" name="內容_11_3種情境 × 15種處方／長">
            <a:extLst xmlns:a="http://schemas.openxmlformats.org/drawingml/2006/main">
              <a:ext uri="{FF2B5EF4-FFF2-40B4-BE49-F238E27FC236}">
                <a16:creationId xmlns:a16="http://schemas.microsoft.com/office/drawing/2014/main" id="{3EA2090D-6351-4BAF-8573-AB83D4F7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3種情境 × 15種處方／長度 × 30次；各跑7日、暖機24小時。0公尺採實際旁路，非隱藏容量。</a:t>
            </a:r>
          </a:p>
        </p:txBody>
      </p:sp>
    </p:spTree>
    <p:extLst>
      <p:ext uri="{BB962C8B-B14F-4D97-AF65-F5344CB8AC3E}">
        <p14:creationId xmlns:p14="http://schemas.microsoft.com/office/powerpoint/2010/main" val="180733605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4686474-91D4-4B6C-A21F-ECDFDD8A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7a5ed1fd6945ff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AD8474B-4695-4841-A867-A12AD615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59C3368-4219-48F0-B76F-93D0D26E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000F41D7-FF48-4EDE-A445-F780BF10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22dcb631fb84c3f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D5C8E918-E5A1-4578-A142-EC453C9E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5285" y="2066012"/>
            <a:ext cx="4796896" cy="608841"/>
          </a:xfrm>
          <a:custGeom xmlns:a="http://schemas.openxmlformats.org/drawingml/2006/main">
            <a:rect l="l" t="t" r="r" b="b"/>
            <a:pathLst>
              <a:path w="3201916" h="406400">
                <a:moveTo>
                  <a:pt x="2998716" y="0"/>
                </a:moveTo>
                <a:cubicBezTo>
                  <a:pt x="3110941" y="0"/>
                  <a:pt x="3201916" y="90976"/>
                  <a:pt x="3201916" y="203200"/>
                </a:cubicBezTo>
                <a:cubicBezTo>
                  <a:pt x="3201916" y="315424"/>
                  <a:pt x="3110941" y="406400"/>
                  <a:pt x="299871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6B9819B-1C41-43DF-90C1-848A8754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5285" y="2137360"/>
            <a:ext cx="4796896" cy="53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B1AFB46-B0D2-4B12-9EC8-E1D499B0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33839" y="2179447"/>
            <a:ext cx="320992" cy="320993"/>
          </a:xfrm>
          <a:custGeom xmlns:a="http://schemas.openxmlformats.org/drawingml/2006/main">
            <a:rect l="l" t="t" r="r" b="b"/>
            <a:pathLst>
              <a:path w="320992" h="320993">
                <a:moveTo>
                  <a:pt x="0" y="0"/>
                </a:moveTo>
                <a:lnTo>
                  <a:pt x="320993" y="0"/>
                </a:lnTo>
                <a:lnTo>
                  <a:pt x="320993" y="320992"/>
                </a:lnTo>
                <a:lnTo>
                  <a:pt x="0" y="3209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DEB93FF-7FE9-41BD-B060-79952297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5285" y="5228195"/>
            <a:ext cx="4796896" cy="608841"/>
          </a:xfrm>
          <a:custGeom xmlns:a="http://schemas.openxmlformats.org/drawingml/2006/main">
            <a:rect l="l" t="t" r="r" b="b"/>
            <a:pathLst>
              <a:path w="3201916" h="406400">
                <a:moveTo>
                  <a:pt x="2998716" y="0"/>
                </a:moveTo>
                <a:cubicBezTo>
                  <a:pt x="3110941" y="0"/>
                  <a:pt x="3201916" y="90976"/>
                  <a:pt x="3201916" y="203200"/>
                </a:cubicBezTo>
                <a:cubicBezTo>
                  <a:pt x="3201916" y="315424"/>
                  <a:pt x="3110941" y="406400"/>
                  <a:pt x="299871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90F91DF-5A88-43EB-800E-E30B6865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5285" y="5299543"/>
            <a:ext cx="4796896" cy="53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F813CE1-72D2-43E9-B8E8-6B45255F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33839" y="5384737"/>
            <a:ext cx="320992" cy="320992"/>
          </a:xfrm>
          <a:custGeom xmlns:a="http://schemas.openxmlformats.org/drawingml/2006/main">
            <a:rect l="l" t="t" r="r" b="b"/>
            <a:pathLst>
              <a:path w="320992" h="320992">
                <a:moveTo>
                  <a:pt x="0" y="0"/>
                </a:moveTo>
                <a:lnTo>
                  <a:pt x="320993" y="0"/>
                </a:lnTo>
                <a:lnTo>
                  <a:pt x="320993" y="320993"/>
                </a:lnTo>
                <a:lnTo>
                  <a:pt x="0" y="3209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80C76A06-D852-495B-AB9E-4833E641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8862" y="5143500"/>
            <a:ext cx="4734156" cy="3535291"/>
          </a:xfrm>
          <a:custGeom xmlns:a="http://schemas.openxmlformats.org/drawingml/2006/main">
            <a:rect l="l" t="t" r="r" b="b"/>
            <a:pathLst>
              <a:path w="4734156" h="3535291">
                <a:moveTo>
                  <a:pt x="0" y="0"/>
                </a:moveTo>
                <a:lnTo>
                  <a:pt x="4734157" y="0"/>
                </a:lnTo>
                <a:lnTo>
                  <a:pt x="4734157" y="3535291"/>
                </a:lnTo>
                <a:lnTo>
                  <a:pt x="0" y="35352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31A2069C-7C0A-476E-ACB5-DBE82935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0376" y="3448422"/>
            <a:ext cx="7580571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1332028-5CAE-4F0E-9D74-CFF3E1F3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A2E43547-D447-4890-878B-753BB2F6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12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3D035D7-B0FD-49F2-8354-10E345D0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0376" y="2391147"/>
            <a:ext cx="5408227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26B3AB8-F79A-44CF-9413-299C3E03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2362" y="2911009"/>
            <a:ext cx="7822954" cy="381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06"/>
              </a:lnSpc>
              <a:spcBef>
                <a:spcPct val="0"/>
              </a:spcBef>
              <a:buNone/>
            </a:pPr>
            <a:r>
              <a:rPr sz="214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E696F59-97A7-4F31-8F0D-05879BCE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472" y="2129156"/>
            <a:ext cx="3554290" cy="432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9"/>
              </a:lnSpc>
              <a:spcBef>
                <a:spcPct val="0"/>
              </a:spcBef>
              <a:buNone/>
            </a:pPr>
            <a:r>
              <a:rPr sz="24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A68E9405-6CE5-4572-98F8-25543C20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2362" y="6073192"/>
            <a:ext cx="7822954" cy="381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06"/>
              </a:lnSpc>
              <a:spcBef>
                <a:spcPct val="0"/>
              </a:spcBef>
              <a:buNone/>
            </a:pPr>
            <a:r>
              <a:rPr sz="214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D81E1C72-4465-4BA2-A2CB-C9C80679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472" y="5291339"/>
            <a:ext cx="3554290" cy="432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9"/>
              </a:lnSpc>
              <a:spcBef>
                <a:spcPct val="0"/>
              </a:spcBef>
              <a:buNone/>
            </a:pPr>
            <a:r>
              <a:rPr sz="24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4" name="內容_12_主推：聯合改善＋12公尺緩衝">
            <a:extLst xmlns:a="http://schemas.openxmlformats.org/drawingml/2006/main">
              <a:ext uri="{FF2B5EF4-FFF2-40B4-BE49-F238E27FC236}">
                <a16:creationId xmlns:a16="http://schemas.microsoft.com/office/drawing/2014/main" id="{F38AC9B2-861B-480C-8186-0E8BB253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主推：聯合改善＋12公尺緩衝</a:t>
            </a:r>
          </a:p>
        </p:txBody>
      </p:sp>
      <p:sp>
        <p:nvSpPr>
          <p:cNvPr id="25" name="內容_12_有服務要求才採用，8公尺為備">
            <a:extLst xmlns:a="http://schemas.openxmlformats.org/drawingml/2006/main">
              <a:ext uri="{FF2B5EF4-FFF2-40B4-BE49-F238E27FC236}">
                <a16:creationId xmlns:a16="http://schemas.microsoft.com/office/drawing/2014/main" id="{4973503B-6ACF-4EE6-92CC-4B46CDD9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有服務要求才採用，8公尺為備選</a:t>
            </a:r>
          </a:p>
        </p:txBody>
      </p:sp>
      <p:graphicFrame>
        <p:nvGraphicFrame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B55A6E-505E-48F4-96CC-8E66BD772D75}"/>
              </a:ext>
            </a:extLst>
          </p:cNvPr>
          <p:cNvGraphicFramePr/>
          <p:nvPr/>
        </p:nvGraphicFramePr>
        <p:xfrm>
          <a:off xmlns:a="http://schemas.openxmlformats.org/drawingml/2006/main" x="1581150" y="4333875"/>
          <a:ext xmlns:a="http://schemas.openxmlformats.org/drawingml/2006/main" cx="142875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71875"/>
                <a:gridCol w="3571875"/>
                <a:gridCol w="3571875"/>
                <a:gridCol w="3571875"/>
              </a:tblGrid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短波尖峰指標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改善前：現況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備選：聯合8公尺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主推：聯合12公尺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</a:tr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阻塞占比（%）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12.22 [11.37, 13.07]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0.95 [0.78, 1.12]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0.71 [0.57, 0.86]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平均檢查前等待（分鐘）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19.71 [17.79, 21.63]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5.52 [5.25, 5.78]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5.01 [4.77, 5.26]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結案率下界 %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99.82 [99.76, 99.88]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99.94 [99.93, 99.95]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99.94 [99.93, 99.95]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初始投資（新臺幣元）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80,000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120,000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</a:tbl>
          </a:graphicData>
        </a:graphic>
      </p:graphicFrame>
      <p:sp>
        <p:nvSpPr>
          <p:cNvPr id="27" name="內容_12_本表是短波尖峰情境；各方案3">
            <a:extLst xmlns:a="http://schemas.openxmlformats.org/drawingml/2006/main">
              <a:ext uri="{FF2B5EF4-FFF2-40B4-BE49-F238E27FC236}">
                <a16:creationId xmlns:a16="http://schemas.microsoft.com/office/drawing/2014/main" id="{FDCEB9FC-2D1F-4DD8-ABDF-88E34A65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71925"/>
            <a:ext cx="1428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本表是短波尖峰情境；各方案30次平均 [95%信賴下界, 上界]。</a:t>
            </a:r>
          </a:p>
        </p:txBody>
      </p:sp>
      <p:sp>
        <p:nvSpPr>
          <p:cNvPr id="28" name="內容_12_主推12公尺採額外信賴區間上">
            <a:extLst xmlns:a="http://schemas.openxmlformats.org/drawingml/2006/main">
              <a:ext uri="{FF2B5EF4-FFF2-40B4-BE49-F238E27FC236}">
                <a16:creationId xmlns:a16="http://schemas.microsoft.com/office/drawing/2014/main" id="{1458D7BF-B567-4B64-8C08-1AC97194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主推12公尺採額外信賴區間上界&lt;1%的服務風險限制；8公尺僅符合原均值規則。兩者直接投資報酬率均為負。</a:t>
            </a:r>
          </a:p>
        </p:txBody>
      </p:sp>
    </p:spTree>
    <p:extLst>
      <p:ext uri="{BB962C8B-B14F-4D97-AF65-F5344CB8AC3E}">
        <p14:creationId xmlns:p14="http://schemas.microsoft.com/office/powerpoint/2010/main" val="182450972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CDECD1C-1FE4-4371-9700-2DE1FA1B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11e67ed1a7f4592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134597D8-D654-4025-A1D7-EAA3CDC0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2FB8C7F-AB93-40AE-BB3A-0581287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0F358AE-403F-4F21-A0B7-67B1061A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bad84e5a86482e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354A540-21B5-48E3-B7EB-6740F933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AE3B2DD-D0BE-4773-AA12-BF48B367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13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3D21A65-7AD5-4123-B3DA-3E0DE446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3491085"/>
            <a:ext cx="8762872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291EADD-2D55-4397-B479-9E6F26A1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2462385"/>
            <a:ext cx="4108065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4FD7BD3-4DFF-432E-B80B-E8F5C5FF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7346" y="4932854"/>
            <a:ext cx="8494452" cy="411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4"/>
              </a:lnSpc>
              <a:spcBef>
                <a:spcPct val="0"/>
              </a:spcBef>
              <a:buNone/>
            </a:pPr>
            <a:r>
              <a:rPr sz="231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C837F89-2CA8-4889-B150-D329830A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12502" y="1456474"/>
            <a:ext cx="3246603" cy="3246603"/>
          </a:xfrm>
          <a:custGeom xmlns:a="http://schemas.openxmlformats.org/drawingml/2006/main">
            <a:rect l="l" t="t" r="r" b="b"/>
            <a:pathLst>
              <a:path w="3246603" h="3246603">
                <a:moveTo>
                  <a:pt x="0" y="0"/>
                </a:moveTo>
                <a:lnTo>
                  <a:pt x="3246603" y="0"/>
                </a:lnTo>
                <a:lnTo>
                  <a:pt x="3246603" y="3246602"/>
                </a:lnTo>
                <a:lnTo>
                  <a:pt x="0" y="324660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FBC7436-65C2-430F-83BA-9C3C7E6E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49013" y="1924868"/>
            <a:ext cx="2575779" cy="2309814"/>
          </a:xfrm>
          <a:custGeom xmlns:a="http://schemas.openxmlformats.org/drawingml/2006/main">
            <a:rect l="l" t="t" r="r" b="b"/>
            <a:pathLst>
              <a:path w="812800" h="728874">
                <a:moveTo>
                  <a:pt x="0" y="0"/>
                </a:moveTo>
                <a:lnTo>
                  <a:pt x="812800" y="0"/>
                </a:lnTo>
                <a:lnTo>
                  <a:pt x="812800" y="728874"/>
                </a:lnTo>
                <a:lnTo>
                  <a:pt x="0" y="7288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F42A8691-5878-4F58-8AC4-9A539165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601" y="4934397"/>
            <a:ext cx="3246603" cy="3246603"/>
          </a:xfrm>
          <a:custGeom xmlns:a="http://schemas.openxmlformats.org/drawingml/2006/main">
            <a:rect l="l" t="t" r="r" b="b"/>
            <a:pathLst>
              <a:path w="3246603" h="3246603">
                <a:moveTo>
                  <a:pt x="0" y="0"/>
                </a:moveTo>
                <a:lnTo>
                  <a:pt x="3246602" y="0"/>
                </a:lnTo>
                <a:lnTo>
                  <a:pt x="3246602" y="3246603"/>
                </a:lnTo>
                <a:lnTo>
                  <a:pt x="0" y="32466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1B79BCF-BBA3-4208-811A-3DC53096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50111" y="5402791"/>
            <a:ext cx="2575779" cy="2309814"/>
          </a:xfrm>
          <a:custGeom xmlns:a="http://schemas.openxmlformats.org/drawingml/2006/main">
            <a:rect l="l" t="t" r="r" b="b"/>
            <a:pathLst>
              <a:path w="812800" h="728874">
                <a:moveTo>
                  <a:pt x="0" y="0"/>
                </a:moveTo>
                <a:lnTo>
                  <a:pt x="812800" y="0"/>
                </a:lnTo>
                <a:lnTo>
                  <a:pt x="812800" y="728874"/>
                </a:lnTo>
                <a:lnTo>
                  <a:pt x="0" y="7288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內容_13_財務：投資與營運分開">
            <a:extLst xmlns:a="http://schemas.openxmlformats.org/drawingml/2006/main">
              <a:ext uri="{FF2B5EF4-FFF2-40B4-BE49-F238E27FC236}">
                <a16:creationId xmlns:a16="http://schemas.microsoft.com/office/drawing/2014/main" id="{F06186C8-479D-4E10-954A-C4BAE86A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財務：投資與營運分開</a:t>
            </a:r>
          </a:p>
        </p:txBody>
      </p:sp>
      <p:sp>
        <p:nvSpPr>
          <p:cNvPr id="19" name="內容_13_服務改善，仍無正向回收期">
            <a:extLst xmlns:a="http://schemas.openxmlformats.org/drawingml/2006/main">
              <a:ext uri="{FF2B5EF4-FFF2-40B4-BE49-F238E27FC236}">
                <a16:creationId xmlns:a16="http://schemas.microsoft.com/office/drawing/2014/main" id="{392F6D7B-5762-446B-833C-30147EBB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服務改善，仍無正向回收期</a:t>
            </a:r>
          </a:p>
        </p:txBody>
      </p:sp>
      <p:graphicFrame>
        <p:nvGraphicFrame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46F5F5-B5A6-4E2A-9549-715FFBFD6FF0}"/>
              </a:ext>
            </a:extLst>
          </p:cNvPr>
          <p:cNvGraphicFramePr/>
          <p:nvPr/>
        </p:nvGraphicFramePr>
        <p:xfrm>
          <a:off xmlns:a="http://schemas.openxmlformats.org/drawingml/2006/main" x="1581150" y="4333875"/>
          <a:ext xmlns:a="http://schemas.openxmlformats.org/drawingml/2006/main" cx="142875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4762500"/>
                <a:gridCol w="4762500"/>
              </a:tblGrid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財務指標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備選：聯合8公尺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主推：聯合12公尺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</a:tr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初始投資（元）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80,000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120,000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比第二台洗機少投資（元）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1,420,000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1,380,000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比現況年淨效益（元）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-64,374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-50,937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投資報酬率／回收年限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-80.47%／無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-42.45%／無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</a:tbl>
          </a:graphicData>
        </a:graphic>
      </p:graphicFrame>
      <p:sp>
        <p:nvSpPr>
          <p:cNvPr id="21" name="內容_13_主實驗 1350次的24小時">
            <a:extLst xmlns:a="http://schemas.openxmlformats.org/drawingml/2006/main">
              <a:ext uri="{FF2B5EF4-FFF2-40B4-BE49-F238E27FC236}">
                <a16:creationId xmlns:a16="http://schemas.microsoft.com/office/drawing/2014/main" id="{7983E277-B00D-4FC3-9122-3772A090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主實驗 1350次的24小時損失全為0，沒有這項可省收益；12公尺包材節約39.17%仍未達65%。</a:t>
            </a:r>
          </a:p>
        </p:txBody>
      </p:sp>
    </p:spTree>
    <p:extLst>
      <p:ext uri="{BB962C8B-B14F-4D97-AF65-F5344CB8AC3E}">
        <p14:creationId xmlns:p14="http://schemas.microsoft.com/office/powerpoint/2010/main" val="11801959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319A836-B300-45C3-905C-39AC59F3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1f1b851ff0b4bdf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043A297-B5E5-449A-807D-2E56E300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315D7D4-B013-4A21-93DB-E7452FA4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2819BD1-D606-41C1-8607-5D1B82F9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58fed85ffd4764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BAC74EE-E4EB-4205-B0A2-FEDE1E98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967673" h="8229600">
                <a:moveTo>
                  <a:pt x="0" y="0"/>
                </a:moveTo>
                <a:lnTo>
                  <a:pt x="3967673" y="0"/>
                </a:lnTo>
                <a:lnTo>
                  <a:pt x="39676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F860436-9A05-4167-877B-3AA41DB4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16B37DA-7658-4BA1-84D6-A5745806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14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6D3FB16-7867-4367-AFAA-D9D2BEF3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0897" y="3485662"/>
            <a:ext cx="5543293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3A9411C-0E6A-40E0-9DAB-A97CA696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0897" y="2399812"/>
            <a:ext cx="6951277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65FBBB85-0D6E-4A82-A202-661C0903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0897" y="4932854"/>
            <a:ext cx="8494452" cy="411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4"/>
              </a:lnSpc>
              <a:spcBef>
                <a:spcPct val="0"/>
              </a:spcBef>
              <a:buNone/>
            </a:pPr>
            <a:r>
              <a:rPr sz="231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73D3C14-6207-4A18-8894-3B80EF75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122125" y="2693077"/>
            <a:ext cx="4240473" cy="4240473"/>
          </a:xfrm>
          <a:custGeom xmlns:a="http://schemas.openxmlformats.org/drawingml/2006/main"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3"/>
                </a:lnTo>
                <a:lnTo>
                  <a:pt x="4240473" y="4240473"/>
                </a:lnTo>
                <a:lnTo>
                  <a:pt x="424047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內容_14_展示：指標要可比較">
            <a:extLst xmlns:a="http://schemas.openxmlformats.org/drawingml/2006/main">
              <a:ext uri="{FF2B5EF4-FFF2-40B4-BE49-F238E27FC236}">
                <a16:creationId xmlns:a16="http://schemas.microsoft.com/office/drawing/2014/main" id="{BE7EDA2D-7E21-46E3-AE35-20FC8419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展示：指標要可比較</a:t>
            </a:r>
          </a:p>
        </p:txBody>
      </p:sp>
      <p:sp>
        <p:nvSpPr>
          <p:cNvPr id="15" name="內容_14_設備加工與阻塞比例">
            <a:extLst xmlns:a="http://schemas.openxmlformats.org/drawingml/2006/main">
              <a:ext uri="{FF2B5EF4-FFF2-40B4-BE49-F238E27FC236}">
                <a16:creationId xmlns:a16="http://schemas.microsoft.com/office/drawing/2014/main" id="{3E4C9381-300E-4B19-B2AA-DD759A8E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設備加工與阻塞比例</a:t>
            </a:r>
          </a:p>
        </p:txBody>
      </p:sp>
      <p:sp>
        <p:nvSpPr>
          <p:cNvPr id="16" name="內容_14_前＝改善前現況；後＝12公尺">
            <a:extLst xmlns:a="http://schemas.openxmlformats.org/drawingml/2006/main">
              <a:ext uri="{FF2B5EF4-FFF2-40B4-BE49-F238E27FC236}">
                <a16:creationId xmlns:a16="http://schemas.microsoft.com/office/drawing/2014/main" id="{47565047-1AD4-4CD1-AF30-8F1A9AD1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0050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前＝改善前現況；後＝12公尺聯合改善。加工指工作中，阻塞指下游不接收。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3CCFD-93A6-4218-94F1-F54BACBCC41A}"/>
              </a:ext>
            </a:extLst>
          </p:cNvPr>
          <p:cNvGraphicFramePr/>
          <p:nvPr/>
        </p:nvGraphicFramePr>
        <p:xfrm>
          <a:off xmlns:a="http://schemas.openxmlformats.org/drawingml/2006/main" x="1581150" y="4381500"/>
          <a:ext xmlns:a="http://schemas.openxmlformats.org/drawingml/2006/main" cx="9334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66813"/>
                <a:gridCol w="1166813"/>
                <a:gridCol w="1166813"/>
                <a:gridCol w="1166813"/>
                <a:gridCol w="1166813"/>
                <a:gridCol w="1166813"/>
                <a:gridCol w="1166813"/>
                <a:gridCol w="1166813"/>
              </a:tblGrid>
              <a:tr h="60960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指標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清洗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拆包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品質檢查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整新一站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整新二站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A級整理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報廢站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</a:tr>
              <a:tr h="60960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前加工%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68.57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722468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18.38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11538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91.10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8F2A7D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48.90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591E55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28.01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D1841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20.87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4163A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14.67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2C1434"/>
                    </a:solidFill>
                  </a:tcPr>
                </a:tc>
              </a:tr>
              <a:tr h="60960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後加工%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68.55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722468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20.91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4163A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87.28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8A297A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50.71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5B1F5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26.25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B183F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20.97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4163A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14.68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2C1434"/>
                    </a:solidFill>
                  </a:tcPr>
                </a:tc>
              </a:tr>
              <a:tr h="60960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前阻塞%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882978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0.37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271330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</a:tr>
              <a:tr h="60960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後阻塞%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0.51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2C1434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</a:tr>
            </a:tbl>
          </a:graphicData>
        </a:graphic>
      </p:graphicFrame>
      <p:sp>
        <p:nvSpPr>
          <p:cNvPr id="18" name="內容_14_加工色階0–100%；阻塞色">
            <a:extLst xmlns:a="http://schemas.openxmlformats.org/drawingml/2006/main">
              <a:ext uri="{FF2B5EF4-FFF2-40B4-BE49-F238E27FC236}">
                <a16:creationId xmlns:a16="http://schemas.microsoft.com/office/drawing/2014/main" id="{ADF1A8BB-DA63-421A-B6A3-1365944E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7524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加工色階0–100%；阻塞色階0–3.5%。</a:t>
            </a:r>
          </a:p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同隨機種子101、同116100秒的累計占比。</a:t>
            </a:r>
          </a:p>
        </p:txBody>
      </p:sp>
      <p:sp>
        <p:nvSpPr>
          <p:cNvPr id="19" name="內容_14_平均待檢隊列">
            <a:extLst xmlns:a="http://schemas.openxmlformats.org/drawingml/2006/main">
              <a:ext uri="{FF2B5EF4-FFF2-40B4-BE49-F238E27FC236}">
                <a16:creationId xmlns:a16="http://schemas.microsoft.com/office/drawing/2014/main" id="{B49F9A0A-94DF-4B1B-B3EC-990B8814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0957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平均待檢隊列</a:t>
            </a:r>
          </a:p>
        </p:txBody>
      </p:sp>
      <p:graphicFrame>
        <p:nvGraphicFramePr>
          <p:cNvPr id="20" name="Chart">
            <a:extLst xmlns:a="http://schemas.openxmlformats.org/drawingml/2006/main">
              <a:ext uri="{FF2B5EF4-FFF2-40B4-BE49-F238E27FC236}">
                <a16:creationId xmlns:a16="http://schemas.microsoft.com/office/drawing/2014/main" id="{B765D7D8-E2ED-4FBD-A5CA-1516E114216A}"/>
              </a:ext>
            </a:extLst>
          </p:cNvPr>
          <p:cNvGraphicFramePr/>
          <p:nvPr/>
        </p:nvGraphicFramePr>
        <p:xfrm>
          <a:off xmlns:a="http://schemas.openxmlformats.org/drawingml/2006/main" x="11430000" y="4714875"/>
          <a:ext xmlns:a="http://schemas.openxmlformats.org/drawingml/2006/main" cx="4762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07eca4dae847c8"/>
          </a:graphicData>
        </a:graphic>
      </p:graphicFrame>
      <p:sp>
        <p:nvSpPr>
          <p:cNvPr id="21" name="內容_14_右圖為30次模擬的六日觀察期">
            <a:extLst xmlns:a="http://schemas.openxmlformats.org/drawingml/2006/main">
              <a:ext uri="{FF2B5EF4-FFF2-40B4-BE49-F238E27FC236}">
                <a16:creationId xmlns:a16="http://schemas.microsoft.com/office/drawing/2014/main" id="{2E066258-AE50-4B7C-B07F-E5D69DC3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5247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右圖為30次模擬的六日觀察期平均。</a:t>
            </a:r>
          </a:p>
        </p:txBody>
      </p:sp>
      <p:sp>
        <p:nvSpPr>
          <p:cNvPr id="22" name="內容_14_設備加工與阻塞比例採不同色階">
            <a:extLst xmlns:a="http://schemas.openxmlformats.org/drawingml/2006/main">
              <a:ext uri="{FF2B5EF4-FFF2-40B4-BE49-F238E27FC236}">
                <a16:creationId xmlns:a16="http://schemas.microsoft.com/office/drawing/2014/main" id="{DD65832C-E203-430A-8DDD-B8713713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設備加工與阻塞比例採不同色階；循環箱出庫占比由配對結構決定，不作為改善收益。</a:t>
            </a:r>
          </a:p>
        </p:txBody>
      </p:sp>
    </p:spTree>
    <p:extLst>
      <p:ext uri="{BB962C8B-B14F-4D97-AF65-F5344CB8AC3E}">
        <p14:creationId xmlns:p14="http://schemas.microsoft.com/office/powerpoint/2010/main" val="67149773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160BC9B-4EFB-4C29-9C31-33BABE60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1930f494eb54dce"/>
            <a:stretch>
              <a:fillRect l="-4156" t="0" r="-2479" b="-18484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ABACCD7-0DAB-46D7-8638-6BA79F2D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4d2b9bf2f74d71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7852F0E-76A7-45AF-B175-58CA6735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3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CD0B315-6532-4961-A087-13993AA0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3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F652460-20F2-44A3-8924-F8E2C4CF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40473" h="4240473">
                <a:moveTo>
                  <a:pt x="0" y="0"/>
                </a:moveTo>
                <a:lnTo>
                  <a:pt x="4240472" y="0"/>
                </a:lnTo>
                <a:lnTo>
                  <a:pt x="4240472" y="4240472"/>
                </a:lnTo>
                <a:lnTo>
                  <a:pt x="0" y="42404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F5BF6567-F1D8-4561-9179-E9B00EEB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15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593E612-786A-42CD-A0EF-B11E612E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9650" y="3188938"/>
            <a:ext cx="13102912" cy="252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9900"/>
              </a:lnSpc>
              <a:spcBef>
                <a:spcPct val="0"/>
              </a:spcBef>
              <a:buNone/>
            </a:pPr>
            <a:r>
              <a:rPr sz="14214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EEE5549-E151-4AAB-83AC-DE67E564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9832A21-2B90-4B86-8717-A7583A13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7040" y="5601985"/>
            <a:ext cx="7601340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</a:pPr>
            <a:r>
              <a:rPr sz="1603" spc="266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CDEF9EE-2DAF-41F9-91C9-149A756B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40473" h="4240473">
                <a:moveTo>
                  <a:pt x="0" y="0"/>
                </a:moveTo>
                <a:lnTo>
                  <a:pt x="4240472" y="0"/>
                </a:lnTo>
                <a:lnTo>
                  <a:pt x="4240472" y="4240473"/>
                </a:lnTo>
                <a:lnTo>
                  <a:pt x="0" y="42404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720F1-C1E0-4A22-89CE-136D75562D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2e8a3dd104bdc"/>
          <a:srcRect xmlns:a="http://schemas.openxmlformats.org/drawingml/2006/main" l="21025" t="21025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3348895" cy="3348895"/>
          </a:xfrm>
          <a:prstGeom xmlns:a="http://schemas.openxmlformats.org/drawingml/2006/main" prst="rect">
            <a:avLst/>
          </a:prstGeom>
        </p:spPr>
      </p:pic>
      <p:sp>
        <p:nvSpPr>
          <p:cNvPr id="14" name="內容_15_主推聯合改善＋12公尺緩衝">
            <a:extLst xmlns:a="http://schemas.openxmlformats.org/drawingml/2006/main">
              <a:ext uri="{FF2B5EF4-FFF2-40B4-BE49-F238E27FC236}">
                <a16:creationId xmlns:a16="http://schemas.microsoft.com/office/drawing/2014/main" id="{BABCBE7C-BF7B-4A01-89F4-A9506D93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90875"/>
            <a:ext cx="14097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6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66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66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66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66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66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66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66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66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66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6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主推聯合改善＋12公尺緩衝</a:t>
            </a:r>
          </a:p>
        </p:txBody>
      </p:sp>
      <p:sp>
        <p:nvSpPr>
          <p:cNvPr id="15" name="內容_15_短波尖峰有服務要求才採用；投">
            <a:extLst xmlns:a="http://schemas.openxmlformats.org/drawingml/2006/main">
              <a:ext uri="{FF2B5EF4-FFF2-40B4-BE49-F238E27FC236}">
                <a16:creationId xmlns:a16="http://schemas.microsoft.com/office/drawing/2014/main" id="{33B4A1DA-0C59-4D49-ABF8-860C9EA2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短波尖峰有服務要求才採用；投資報酬仍為負</a:t>
            </a:r>
          </a:p>
        </p:txBody>
      </p:sp>
      <p:sp>
        <p:nvSpPr>
          <p:cNvPr id="16" name="內容_15_只加緩衝不足；8公尺聯合方案">
            <a:extLst xmlns:a="http://schemas.openxmlformats.org/drawingml/2006/main">
              <a:ext uri="{FF2B5EF4-FFF2-40B4-BE49-F238E27FC236}">
                <a16:creationId xmlns:a16="http://schemas.microsoft.com/office/drawing/2014/main" id="{BC7C6B22-43B1-4F53-921D-701FAC18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0550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只加緩衝不足；8公尺聯合方案留作低預算備選</a:t>
            </a:r>
          </a:p>
        </p:txBody>
      </p:sp>
      <p:sp>
        <p:nvSpPr>
          <p:cNvPr id="17" name="內容_15_模型操作　研究數據　統計判讀">
            <a:extLst xmlns:a="http://schemas.openxmlformats.org/drawingml/2006/main">
              <a:ext uri="{FF2B5EF4-FFF2-40B4-BE49-F238E27FC236}">
                <a16:creationId xmlns:a16="http://schemas.microsoft.com/office/drawing/2014/main" id="{E94E293B-F1B0-468E-A095-7F0BE0FC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096375"/>
            <a:ext cx="1600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模型操作　研究數據　統計判讀　投資評估</a:t>
            </a:r>
          </a:p>
        </p:txBody>
      </p:sp>
    </p:spTree>
    <p:extLst>
      <p:ext uri="{BB962C8B-B14F-4D97-AF65-F5344CB8AC3E}">
        <p14:creationId xmlns:p14="http://schemas.microsoft.com/office/powerpoint/2010/main" val="13623993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2026-10-30T00:52:46.9820000Z</dcterms:created>
  <dcterms:modified xsi:type="dcterms:W3CDTF">2026-10-30T00:52:46.9820000Z</dcterms:modified>
</coreProperties>
</file>